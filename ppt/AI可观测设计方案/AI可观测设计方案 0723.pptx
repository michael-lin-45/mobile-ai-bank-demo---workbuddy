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63" r:id="rId4"/>
    <p:sldMasterId id="2147483665" r:id="rId5"/>
    <p:sldMasterId id="2147483677" r:id="rId6"/>
  </p:sldMasterIdLst>
  <p:notesMasterIdLst>
    <p:notesMasterId r:id="rId8"/>
  </p:notesMasterIdLst>
  <p:sldIdLst>
    <p:sldId id="256" r:id="rId7"/>
    <p:sldId id="288" r:id="rId9"/>
    <p:sldId id="303" r:id="rId10"/>
    <p:sldId id="318" r:id="rId11"/>
    <p:sldId id="319" r:id="rId12"/>
    <p:sldId id="320" r:id="rId13"/>
    <p:sldId id="313" r:id="rId14"/>
    <p:sldId id="312" r:id="rId15"/>
    <p:sldId id="301" r:id="rId16"/>
    <p:sldId id="308" r:id="rId17"/>
    <p:sldId id="310" r:id="rId18"/>
    <p:sldId id="305" r:id="rId19"/>
    <p:sldId id="314" r:id="rId20"/>
    <p:sldId id="315" r:id="rId21"/>
    <p:sldId id="316" r:id="rId22"/>
    <p:sldId id="317" r:id="rId23"/>
    <p:sldId id="321" r:id="rId24"/>
    <p:sldId id="322" r:id="rId25"/>
    <p:sldId id="323" r:id="rId26"/>
    <p:sldId id="324" r:id="rId27"/>
    <p:sldId id="302" r:id="rId28"/>
    <p:sldId id="304" r:id="rId29"/>
    <p:sldId id="306" r:id="rId30"/>
    <p:sldId id="309" r:id="rId31"/>
    <p:sldId id="307" r:id="rId32"/>
    <p:sldId id="311" r:id="rId33"/>
    <p:sldId id="289" r:id="rId34"/>
    <p:sldId id="257" r:id="rId35"/>
    <p:sldId id="265" r:id="rId36"/>
    <p:sldId id="264" r:id="rId37"/>
    <p:sldId id="297" r:id="rId38"/>
    <p:sldId id="266" r:id="rId39"/>
    <p:sldId id="268" r:id="rId40"/>
    <p:sldId id="258" r:id="rId41"/>
    <p:sldId id="296" r:id="rId42"/>
    <p:sldId id="274" r:id="rId43"/>
    <p:sldId id="298" r:id="rId44"/>
    <p:sldId id="291" r:id="rId45"/>
    <p:sldId id="299" r:id="rId46"/>
    <p:sldId id="300" r:id="rId47"/>
    <p:sldId id="275" r:id="rId48"/>
    <p:sldId id="292" r:id="rId49"/>
    <p:sldId id="295" r:id="rId50"/>
    <p:sldId id="278" r:id="rId51"/>
    <p:sldId id="259" r:id="rId52"/>
    <p:sldId id="269" r:id="rId53"/>
    <p:sldId id="293" r:id="rId54"/>
    <p:sldId id="294" r:id="rId55"/>
    <p:sldId id="286" r:id="rId56"/>
    <p:sldId id="287" r:id="rId57"/>
    <p:sldId id="270" r:id="rId58"/>
    <p:sldId id="260" r:id="rId59"/>
    <p:sldId id="271" r:id="rId60"/>
    <p:sldId id="261" r:id="rId61"/>
    <p:sldId id="272" r:id="rId62"/>
    <p:sldId id="262" r:id="rId63"/>
    <p:sldId id="279" r:id="rId64"/>
    <p:sldId id="280" r:id="rId65"/>
    <p:sldId id="281" r:id="rId66"/>
    <p:sldId id="273" r:id="rId67"/>
    <p:sldId id="263" r:id="rId68"/>
    <p:sldId id="282" r:id="rId69"/>
    <p:sldId id="283" r:id="rId70"/>
    <p:sldId id="284" r:id="rId71"/>
    <p:sldId id="285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slide" Target="slides/slide5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2.xml"/><Relationship Id="rId58" Type="http://schemas.openxmlformats.org/officeDocument/2006/relationships/slide" Target="slides/slide51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精简 </a:t>
            </a:r>
            <a:r>
              <a:rPr lang="en-US" altLang="zh-CN"/>
              <a:t>PoC </a:t>
            </a:r>
            <a:r>
              <a:rPr lang="zh-CN" altLang="en-US"/>
              <a:t>入围短名单（可直接用于招标文件候选库）</a:t>
            </a:r>
            <a:endParaRPr lang="zh-CN" altLang="en-US"/>
          </a:p>
          <a:p>
            <a:r>
              <a:rPr lang="zh-CN" altLang="en-US"/>
              <a:t>【核心交易候选】达梦 </a:t>
            </a:r>
            <a:r>
              <a:rPr lang="en-US" altLang="zh-CN"/>
              <a:t>DM9、GoldenDB、OceanBase、SUNDB</a:t>
            </a:r>
            <a:endParaRPr lang="en-US" altLang="zh-CN"/>
          </a:p>
          <a:p>
            <a:r>
              <a:rPr lang="zh-CN" altLang="en-US"/>
              <a:t>【准核心 &amp; 渠道候选】</a:t>
            </a:r>
            <a:r>
              <a:rPr lang="en-US" altLang="zh-CN"/>
              <a:t>KingbaseES、Vastbase、TDSQL、GaussDB</a:t>
            </a:r>
            <a:endParaRPr lang="en-US" altLang="zh-CN"/>
          </a:p>
          <a:p>
            <a:r>
              <a:rPr lang="zh-CN" altLang="en-US"/>
              <a:t>【数仓候选】</a:t>
            </a:r>
            <a:r>
              <a:rPr lang="en-US" altLang="zh-CN"/>
              <a:t>GBase8a、SelectDB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精简 </a:t>
            </a:r>
            <a:r>
              <a:rPr lang="en-US" altLang="zh-CN"/>
              <a:t>PoC </a:t>
            </a:r>
            <a:r>
              <a:rPr lang="zh-CN" altLang="en-US"/>
              <a:t>入围短名单（可直接用于招标文件候选库）</a:t>
            </a:r>
            <a:endParaRPr lang="zh-CN" altLang="en-US"/>
          </a:p>
          <a:p>
            <a:r>
              <a:rPr lang="zh-CN" altLang="en-US"/>
              <a:t>【核心交易候选】达梦 </a:t>
            </a:r>
            <a:r>
              <a:rPr lang="en-US" altLang="zh-CN"/>
              <a:t>DM9、GoldenDB、OceanBase、SUNDB</a:t>
            </a:r>
            <a:endParaRPr lang="en-US" altLang="zh-CN"/>
          </a:p>
          <a:p>
            <a:r>
              <a:rPr lang="zh-CN" altLang="en-US"/>
              <a:t>【准核心 &amp; 渠道候选】</a:t>
            </a:r>
            <a:r>
              <a:rPr lang="en-US" altLang="zh-CN"/>
              <a:t>KingbaseES、Vastbase、TDSQL、GaussDB</a:t>
            </a:r>
            <a:endParaRPr lang="en-US" altLang="zh-CN"/>
          </a:p>
          <a:p>
            <a:r>
              <a:rPr lang="zh-CN" altLang="en-US"/>
              <a:t>【数仓候选】</a:t>
            </a:r>
            <a:r>
              <a:rPr lang="en-US" altLang="zh-CN"/>
              <a:t>GBase8a、SelectDB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精简 </a:t>
            </a:r>
            <a:r>
              <a:rPr lang="en-US" altLang="zh-CN"/>
              <a:t>PoC </a:t>
            </a:r>
            <a:r>
              <a:rPr lang="zh-CN" altLang="en-US"/>
              <a:t>入围短名单（可直接用于招标文件候选库）</a:t>
            </a:r>
            <a:endParaRPr lang="zh-CN" altLang="en-US"/>
          </a:p>
          <a:p>
            <a:r>
              <a:rPr lang="zh-CN" altLang="en-US"/>
              <a:t>【核心交易候选】达梦 </a:t>
            </a:r>
            <a:r>
              <a:rPr lang="en-US" altLang="zh-CN"/>
              <a:t>DM9、GoldenDB、OceanBase、SUNDB</a:t>
            </a:r>
            <a:endParaRPr lang="en-US" altLang="zh-CN"/>
          </a:p>
          <a:p>
            <a:r>
              <a:rPr lang="zh-CN" altLang="en-US"/>
              <a:t>【准核心 &amp; 渠道候选】</a:t>
            </a:r>
            <a:r>
              <a:rPr lang="en-US" altLang="zh-CN"/>
              <a:t>KingbaseES、Vastbase、TDSQL、GaussDB</a:t>
            </a:r>
            <a:endParaRPr lang="en-US" altLang="zh-CN"/>
          </a:p>
          <a:p>
            <a:r>
              <a:rPr lang="zh-CN" altLang="en-US"/>
              <a:t>【数仓候选】</a:t>
            </a:r>
            <a:r>
              <a:rPr lang="en-US" altLang="zh-CN"/>
              <a:t>GBase8a、SelectDB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精简 </a:t>
            </a:r>
            <a:r>
              <a:rPr lang="en-US" altLang="zh-CN"/>
              <a:t>PoC </a:t>
            </a:r>
            <a:r>
              <a:rPr lang="zh-CN" altLang="en-US"/>
              <a:t>入围短名单（可直接用于招标文件候选库）</a:t>
            </a:r>
            <a:endParaRPr lang="zh-CN" altLang="en-US"/>
          </a:p>
          <a:p>
            <a:r>
              <a:rPr lang="zh-CN" altLang="en-US"/>
              <a:t>【核心交易候选】达梦 </a:t>
            </a:r>
            <a:r>
              <a:rPr lang="en-US" altLang="zh-CN"/>
              <a:t>DM9、GoldenDB、OceanBase、SUNDB</a:t>
            </a:r>
            <a:endParaRPr lang="en-US" altLang="zh-CN"/>
          </a:p>
          <a:p>
            <a:r>
              <a:rPr lang="zh-CN" altLang="en-US"/>
              <a:t>【准核心 &amp; 渠道候选】</a:t>
            </a:r>
            <a:r>
              <a:rPr lang="en-US" altLang="zh-CN"/>
              <a:t>KingbaseES、Vastbase、TDSQL、GaussDB</a:t>
            </a:r>
            <a:endParaRPr lang="en-US" altLang="zh-CN"/>
          </a:p>
          <a:p>
            <a:r>
              <a:rPr lang="zh-CN" altLang="en-US"/>
              <a:t>【数仓候选】</a:t>
            </a:r>
            <a:r>
              <a:rPr lang="en-US" altLang="zh-CN"/>
              <a:t>GBase8a、SelectDB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OpenTelemetry </a:t>
            </a:r>
            <a:r>
              <a:rPr lang="zh-CN" altLang="en-US">
                <a:sym typeface="+mn-ea"/>
              </a:rPr>
              <a:t>负责标准化 </a:t>
            </a:r>
            <a:r>
              <a:rPr lang="en-US" altLang="zh-CN">
                <a:sym typeface="+mn-ea"/>
              </a:rPr>
              <a:t>Trace </a:t>
            </a:r>
            <a:r>
              <a:rPr lang="zh-CN" altLang="en-US">
                <a:sym typeface="+mn-ea"/>
              </a:rPr>
              <a:t>传播与导出；</a:t>
            </a:r>
            <a:endParaRPr lang="zh-CN" altLang="en-US"/>
          </a:p>
          <a:p>
            <a:r>
              <a:rPr lang="en-US" altLang="zh-CN"/>
              <a:t>Span </a:t>
            </a:r>
            <a:r>
              <a:rPr lang="zh-CN" altLang="en-US"/>
              <a:t>是 </a:t>
            </a:r>
            <a:r>
              <a:rPr lang="en-US" altLang="zh-CN"/>
              <a:t>OpenTelemetry Trace </a:t>
            </a:r>
            <a:r>
              <a:rPr lang="zh-CN" altLang="en-US"/>
              <a:t>模型；</a:t>
            </a:r>
            <a:endParaRPr lang="zh-CN" altLang="en-US"/>
          </a:p>
          <a:p>
            <a:r>
              <a:rPr lang="zh-CN" altLang="en-US"/>
              <a:t>无 </a:t>
            </a:r>
            <a:r>
              <a:rPr lang="en-US" altLang="zh-CN"/>
              <a:t>OTel </a:t>
            </a:r>
            <a:r>
              <a:rPr lang="zh-CN" altLang="en-US"/>
              <a:t>时，不能直接宣称 </a:t>
            </a:r>
            <a:r>
              <a:rPr lang="en-US" altLang="zh-CN"/>
              <a:t>Observation </a:t>
            </a:r>
            <a:r>
              <a:rPr lang="zh-CN" altLang="en-US"/>
              <a:t>自动产生 </a:t>
            </a:r>
            <a:r>
              <a:rPr lang="en-US" altLang="zh-CN"/>
              <a:t>W3C trace_id/span_id。</a:t>
            </a:r>
            <a:endParaRPr lang="en-US" altLang="zh-CN"/>
          </a:p>
          <a:p>
            <a:r>
              <a:rPr lang="en-US" altLang="zh-CN"/>
              <a:t>Observation ≠ Trace</a:t>
            </a:r>
            <a:endParaRPr lang="en-US" altLang="zh-CN"/>
          </a:p>
          <a:p>
            <a:r>
              <a:rPr lang="en-US" altLang="zh-CN"/>
              <a:t>Observation </a:t>
            </a:r>
            <a:r>
              <a:rPr lang="zh-CN" altLang="en-US"/>
              <a:t>是观测生命周期抽象；</a:t>
            </a:r>
            <a:endParaRPr lang="zh-CN" altLang="en-US"/>
          </a:p>
          <a:p>
            <a:r>
              <a:rPr lang="en-US" altLang="zh-CN"/>
              <a:t>Span </a:t>
            </a:r>
            <a:r>
              <a:rPr lang="zh-CN" altLang="en-US"/>
              <a:t>是 </a:t>
            </a:r>
            <a:r>
              <a:rPr lang="en-US" altLang="zh-CN"/>
              <a:t>OpenTelemetry Trace </a:t>
            </a:r>
            <a:r>
              <a:rPr lang="zh-CN" altLang="en-US"/>
              <a:t>模型；</a:t>
            </a:r>
            <a:endParaRPr lang="zh-CN" altLang="en-US"/>
          </a:p>
          <a:p>
            <a:r>
              <a:rPr lang="zh-CN" altLang="en-US"/>
              <a:t>无 </a:t>
            </a:r>
            <a:r>
              <a:rPr lang="en-US" altLang="zh-CN"/>
              <a:t>OTel </a:t>
            </a:r>
            <a:r>
              <a:rPr lang="zh-CN" altLang="en-US"/>
              <a:t>时，不能直接宣称 </a:t>
            </a:r>
            <a:r>
              <a:rPr lang="en-US" altLang="zh-CN"/>
              <a:t>Observation </a:t>
            </a:r>
            <a:r>
              <a:rPr lang="zh-CN" altLang="en-US"/>
              <a:t>自动产生 </a:t>
            </a:r>
            <a:r>
              <a:rPr lang="en-US" altLang="zh-CN"/>
              <a:t>W3C</a:t>
            </a:r>
            <a:endParaRPr lang="en-US" altLang="zh-CN"/>
          </a:p>
          <a:p>
            <a:r>
              <a:rPr lang="en-US" altLang="zh-CN"/>
              <a:t>trace_id/span_id。</a:t>
            </a:r>
            <a:endParaRPr lang="en-US" altLang="zh-CN"/>
          </a:p>
          <a:p>
            <a:r>
              <a:rPr lang="en-US" altLang="zh-CN"/>
              <a:t>GraphObservation </a:t>
            </a:r>
            <a:r>
              <a:rPr lang="zh-CN" altLang="en-US"/>
              <a:t>能力需要谨慎描述</a:t>
            </a:r>
            <a:endParaRPr lang="zh-CN" altLang="en-US"/>
          </a:p>
          <a:p>
            <a:r>
              <a:rPr lang="en-US" altLang="zh-CN"/>
              <a:t>Spring AI Alibaba Graph </a:t>
            </a:r>
            <a:r>
              <a:rPr lang="zh-CN" altLang="en-US"/>
              <a:t>是否提供完整 </a:t>
            </a:r>
            <a:r>
              <a:rPr lang="en-US" altLang="zh-CN"/>
              <a:t>Graph</a:t>
            </a:r>
            <a:endParaRPr lang="en-US" altLang="zh-CN"/>
          </a:p>
          <a:p>
            <a:r>
              <a:rPr lang="en-US" altLang="zh-CN"/>
              <a:t>Observation，</a:t>
            </a:r>
            <a:r>
              <a:rPr lang="zh-CN" altLang="en-US"/>
              <a:t>需要以具体版本源码为准；</a:t>
            </a:r>
            <a:endParaRPr lang="zh-CN" altLang="en-US"/>
          </a:p>
          <a:p>
            <a:r>
              <a:rPr lang="zh-CN" altLang="en-US"/>
              <a:t>不应默认所有 </a:t>
            </a:r>
            <a:r>
              <a:rPr lang="en-US" altLang="zh-CN"/>
              <a:t>Graph Node </a:t>
            </a:r>
            <a:r>
              <a:rPr lang="zh-CN" altLang="en-US"/>
              <a:t>都自动产生标准 </a:t>
            </a:r>
            <a:r>
              <a:rPr lang="en-US" altLang="zh-CN"/>
              <a:t>Trace。</a:t>
            </a:r>
            <a:endParaRPr lang="en-US" altLang="zh-CN"/>
          </a:p>
          <a:p>
            <a:r>
              <a:rPr lang="en-US" altLang="zh-CN"/>
              <a:t>OTel Agent </a:t>
            </a:r>
            <a:r>
              <a:rPr lang="zh-CN" altLang="en-US"/>
              <a:t>与 </a:t>
            </a:r>
            <a:r>
              <a:rPr lang="en-US" altLang="zh-CN"/>
              <a:t>Spring AI Observation </a:t>
            </a:r>
            <a:r>
              <a:rPr lang="zh-CN" altLang="en-US"/>
              <a:t>是两条链路</a:t>
            </a:r>
            <a:endParaRPr lang="zh-CN" altLang="en-US"/>
          </a:p>
          <a:p>
            <a:r>
              <a:rPr lang="en-US" altLang="zh-CN"/>
              <a:t>Java Agent</a:t>
            </a:r>
            <a:r>
              <a:rPr lang="zh-CN" altLang="en-US"/>
              <a:t>主要自动采集 </a:t>
            </a:r>
            <a:r>
              <a:rPr lang="en-US" altLang="zh-CN"/>
              <a:t>HTTP、</a:t>
            </a:r>
            <a:r>
              <a:rPr lang="zh-CN" altLang="en-US"/>
              <a:t>数据库、中间件等基础设施调用；</a:t>
            </a:r>
            <a:endParaRPr lang="zh-CN" altLang="en-US"/>
          </a:p>
          <a:p>
            <a:r>
              <a:rPr lang="zh-CN" altLang="en-US"/>
              <a:t>不应默认 </a:t>
            </a:r>
            <a:r>
              <a:rPr lang="en-US" altLang="zh-CN"/>
              <a:t>Agent </a:t>
            </a:r>
            <a:r>
              <a:rPr lang="zh-CN" altLang="en-US"/>
              <a:t>自动理解所有 </a:t>
            </a:r>
            <a:r>
              <a:rPr lang="en-US" altLang="zh-CN"/>
              <a:t>Agent Graph </a:t>
            </a:r>
            <a:r>
              <a:rPr lang="zh-CN" altLang="en-US"/>
              <a:t>语义。</a:t>
            </a:r>
            <a:endParaRPr lang="zh-CN" altLang="en-US"/>
          </a:p>
          <a:p>
            <a:r>
              <a:rPr lang="zh-CN" altLang="en-US"/>
              <a:t>会话不是 </a:t>
            </a:r>
            <a:r>
              <a:rPr lang="en-US" altLang="zh-CN"/>
              <a:t>Trace </a:t>
            </a:r>
            <a:r>
              <a:rPr lang="zh-CN" altLang="en-US"/>
              <a:t>的替代品</a:t>
            </a:r>
            <a:endParaRPr lang="zh-CN" altLang="en-US"/>
          </a:p>
          <a:p>
            <a:r>
              <a:rPr lang="en-US" altLang="zh-CN"/>
              <a:t>Session Replay </a:t>
            </a:r>
            <a:r>
              <a:rPr lang="zh-CN" altLang="en-US"/>
              <a:t>属于业务数据模型；</a:t>
            </a:r>
            <a:endParaRPr lang="zh-CN" altLang="en-US"/>
          </a:p>
          <a:p>
            <a:r>
              <a:rPr lang="zh-CN" altLang="en-US"/>
              <a:t>应保留 </a:t>
            </a:r>
            <a:r>
              <a:rPr lang="en-US" altLang="zh-CN"/>
              <a:t>session_id、conversation_id、message、node step</a:t>
            </a:r>
            <a:endParaRPr lang="en-US" altLang="zh-CN"/>
          </a:p>
          <a:p>
            <a:r>
              <a:rPr lang="zh-CN" altLang="en-US"/>
              <a:t>等业务字段。</a:t>
            </a:r>
            <a:endParaRPr lang="zh-CN" altLang="en-US"/>
          </a:p>
          <a:p>
            <a:r>
              <a:rPr lang="en-US" altLang="zh-CN"/>
              <a:t>Metrics</a:t>
            </a:r>
            <a:r>
              <a:rPr lang="zh-CN" altLang="en-US"/>
              <a:t>采集方式需要修正</a:t>
            </a:r>
            <a:endParaRPr lang="zh-CN" altLang="en-US"/>
          </a:p>
          <a:p>
            <a:r>
              <a:rPr lang="en-US" altLang="zh-CN"/>
              <a:t>MeterRegistry </a:t>
            </a:r>
            <a:r>
              <a:rPr lang="zh-CN" altLang="en-US"/>
              <a:t>可以统一管理指标；</a:t>
            </a:r>
            <a:endParaRPr lang="zh-CN" altLang="en-US"/>
          </a:p>
          <a:p>
            <a:r>
              <a:rPr lang="zh-CN" altLang="en-US"/>
              <a:t>但生产环境不建议频繁遍历 </a:t>
            </a:r>
            <a:r>
              <a:rPr lang="en-US" altLang="zh-CN"/>
              <a:t>MeterRegistry</a:t>
            </a:r>
            <a:endParaRPr lang="en-US" altLang="zh-CN"/>
          </a:p>
          <a:p>
            <a:r>
              <a:rPr lang="zh-CN" altLang="en-US"/>
              <a:t>自行刷指标作为</a:t>
            </a:r>
            <a:r>
              <a:rPr lang="en-US" altLang="zh-CN"/>
              <a:t>Prometheus</a:t>
            </a:r>
            <a:r>
              <a:rPr lang="zh-CN" altLang="en-US"/>
              <a:t>替代方案；</a:t>
            </a:r>
            <a:endParaRPr lang="zh-CN" altLang="en-US"/>
          </a:p>
          <a:p>
            <a:r>
              <a:rPr lang="zh-CN" altLang="en-US"/>
              <a:t>更推荐 </a:t>
            </a:r>
            <a:r>
              <a:rPr lang="en-US" altLang="zh-CN"/>
              <a:t>Micrometer Registry </a:t>
            </a:r>
            <a:r>
              <a:rPr lang="zh-CN" altLang="en-US"/>
              <a:t>标准出口。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77" y="1597819"/>
            <a:ext cx="5829604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54" y="2914650"/>
            <a:ext cx="480085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63" y="3305175"/>
            <a:ext cx="5829604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63" y="2180035"/>
            <a:ext cx="5829604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18" y="1200150"/>
            <a:ext cx="3029108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332" y="1200150"/>
            <a:ext cx="3029108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18" y="1151335"/>
            <a:ext cx="30302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18" y="1631156"/>
            <a:ext cx="3030299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950" y="1151335"/>
            <a:ext cx="303148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950" y="1631156"/>
            <a:ext cx="3031489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18" y="204788"/>
            <a:ext cx="2256352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427" y="204788"/>
            <a:ext cx="3834012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18" y="1076325"/>
            <a:ext cx="2256352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86" y="3600450"/>
            <a:ext cx="4115014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86" y="459581"/>
            <a:ext cx="4115014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86" y="4025504"/>
            <a:ext cx="4115014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309" y="205979"/>
            <a:ext cx="154313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18" y="205979"/>
            <a:ext cx="4515085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18" y="205979"/>
            <a:ext cx="6172521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18" y="1200150"/>
            <a:ext cx="6172521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18" y="4767263"/>
            <a:ext cx="16002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272" y="4767263"/>
            <a:ext cx="217181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5156" y="4767263"/>
            <a:ext cx="16002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15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342900" rtl="0" eaLnBrk="1" latinLnBrk="0" hangingPunct="1">
        <a:spcBef>
          <a:spcPct val="15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15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15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0" Type="http://schemas.openxmlformats.org/officeDocument/2006/relationships/notesSlide" Target="../notesSlides/notesSlide15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27432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457200" y="10058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en-US" sz="3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全链路可观测性平台</a:t>
            </a:r>
            <a:r>
              <a:rPr lang="en-US" sz="3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设计方案</a:t>
            </a:r>
            <a:endParaRPr lang="en-US" sz="3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229600" cy="4572"/>
          </a:xfrm>
          <a:prstGeom prst="rect">
            <a:avLst/>
          </a:prstGeom>
          <a:solidFill>
            <a:srgbClr val="C9A84C">
              <a:alpha val="40000"/>
            </a:srgbClr>
          </a:solidFill>
        </p:spPr>
      </p:sp>
      <p:grpSp>
        <p:nvGrpSpPr>
          <p:cNvPr id="15" name="组合 14"/>
          <p:cNvGrpSpPr/>
          <p:nvPr/>
        </p:nvGrpSpPr>
        <p:grpSpPr>
          <a:xfrm>
            <a:off x="400685" y="3130550"/>
            <a:ext cx="8211185" cy="274320"/>
            <a:chOff x="547" y="5760"/>
            <a:chExt cx="12931" cy="432"/>
          </a:xfrm>
        </p:grpSpPr>
        <p:sp>
          <p:nvSpPr>
            <p:cNvPr id="6" name="Text 4"/>
            <p:cNvSpPr/>
            <p:nvPr/>
          </p:nvSpPr>
          <p:spPr>
            <a:xfrm>
              <a:off x="547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指标监控</a:t>
              </a:r>
              <a:endParaRPr lang="en-US" sz="11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168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会话回放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789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链路追踪</a:t>
              </a: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409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AI洞察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1030" y="5760"/>
              <a:ext cx="244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9A84C"/>
                  </a:solidFill>
                </a:rPr>
                <a:t>● </a:t>
              </a:r>
              <a:r>
                <a:rPr lang="en-US" sz="12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日志告警</a:t>
              </a:r>
              <a:endParaRPr lang="en-US" sz="11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7912735" y="0"/>
            <a:ext cx="1231265" cy="5143500"/>
          </a:xfrm>
          <a:prstGeom prst="rect">
            <a:avLst/>
          </a:prstGeom>
          <a:solidFill>
            <a:srgbClr val="1A2A5E"/>
          </a:solidFill>
        </p:spPr>
      </p:sp>
      <p:sp>
        <p:nvSpPr>
          <p:cNvPr id="13" name="Shape 11"/>
          <p:cNvSpPr/>
          <p:nvPr/>
        </p:nvSpPr>
        <p:spPr>
          <a:xfrm>
            <a:off x="7922895" y="52705"/>
            <a:ext cx="54864" cy="51435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4" name="TextBox 2"/>
          <p:cNvSpPr/>
          <p:nvPr/>
        </p:nvSpPr>
        <p:spPr>
          <a:xfrm>
            <a:off x="457200" y="1911668"/>
            <a:ext cx="6400800" cy="2457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1600" dirty="0">
                <a:solidFill>
                  <a:srgbClr val="E8D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让智能体「看得见、调得动、信得过」</a:t>
            </a:r>
            <a:endParaRPr lang="en-US" sz="1600" dirty="0">
              <a:solidFill>
                <a:srgbClr val="E8D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6" name="TextBox 4"/>
          <p:cNvSpPr txBox="1"/>
          <p:nvPr/>
        </p:nvSpPr>
        <p:spPr>
          <a:xfrm>
            <a:off x="400685" y="3687445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4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从监控大屏到智能诊断 —— 构建生产级 AI 可观测体系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44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AI 可观测方案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0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让智能体「看得见、调得动、信得过」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194560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4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从监控大屏到智能诊断 —— 构建生产级 AI 可观测体系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64B5F6"/>
                </a:solidFill>
                <a:latin typeface="Calibri" panose="020F0502020204030204"/>
              </a:defRPr>
            </a:pPr>
            <a:r>
              <a:t>基于 IMA「AI可观测」知识库及行业实践  |  2026.07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97510" y="43180"/>
            <a:ext cx="759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可观测方案在国内银行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落地的影响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因素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5895" y="429895"/>
            <a:ext cx="811276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可观测建设，到底是“引入一套新的互联网可观测平台”，还是“基于银行已有观测体系，仅补齐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时代新增对象（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Agent/LLM/RAG/Session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）的观测能力”？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7510" y="1345565"/>
            <a:ext cx="69913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界面标准方案：好处、开源、指标统一、适合</a:t>
            </a:r>
            <a:r>
              <a:rPr lang="zh-CN" altLang="en-US"/>
              <a:t>自定义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通信、采集、数据格式：</a:t>
            </a:r>
            <a:r>
              <a:rPr lang="zh-CN" altLang="en-US"/>
              <a:t>标准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快速拓展</a:t>
            </a:r>
            <a:r>
              <a:rPr lang="en-US" altLang="zh-CN"/>
              <a:t>+</a:t>
            </a:r>
            <a:r>
              <a:rPr lang="zh-CN" altLang="en-US"/>
              <a:t>自定义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97510" y="43180"/>
            <a:ext cx="759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可观测方案在国内银行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落地的影响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因素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7510" y="1087120"/>
            <a:ext cx="8197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现状：</a:t>
            </a:r>
            <a:endParaRPr lang="zh-CN" altLang="en-US"/>
          </a:p>
          <a:p>
            <a:r>
              <a:rPr lang="en-US" altLang="zh-CN"/>
              <a:t>trace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473075" y="2165350"/>
            <a:ext cx="8197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GAP</a:t>
            </a:r>
            <a:r>
              <a:rPr lang="zh-CN" altLang="en-US"/>
              <a:t>和</a:t>
            </a:r>
            <a:r>
              <a:rPr lang="zh-CN" altLang="en-US"/>
              <a:t>问题？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97510" y="43180"/>
            <a:ext cx="759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可观测方案在国内银行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落地的影响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因素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7510" y="1087120"/>
            <a:ext cx="8197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建议</a:t>
            </a:r>
            <a:r>
              <a:rPr lang="zh-CN" altLang="en-US"/>
              <a:t>方案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" y="511175"/>
            <a:ext cx="7965440" cy="41217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283210" y="1008380"/>
          <a:ext cx="8577580" cy="4034155"/>
        </p:xfrm>
        <a:graphic>
          <a:graphicData uri="http://schemas.openxmlformats.org/drawingml/2006/table">
            <a:tbl>
              <a:tblPr/>
              <a:tblGrid>
                <a:gridCol w="509905"/>
                <a:gridCol w="1245235"/>
                <a:gridCol w="686435"/>
                <a:gridCol w="6136005"/>
              </a:tblGrid>
              <a:tr h="284480">
                <a:tc>
                  <a:txBody>
                    <a:bodyPr/>
                    <a:p>
                      <a:pPr marL="0" indent="0" 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影响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因素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建议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33120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是否引入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OTel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开源框架</a:t>
                      </a:r>
                      <a:r>
                        <a:rPr lang="zh-CN" altLang="en-US" sz="12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（采集</a:t>
                      </a:r>
                      <a:r>
                        <a:rPr lang="en-US" altLang="zh-CN" sz="12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传输）</a:t>
                      </a:r>
                      <a:endParaRPr lang="zh-CN" altLang="en-US" sz="12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个开源组件（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OTel Java Agent + OTel Collector），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均为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CNCF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毕业项目。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新增组件仅负责采集层，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无状态单实例，零代码侵入。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OTel Java Agent 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的核心作用是：零侵入自动为 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HTTP、JDBC、Redis、Kafka、MVC 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等基础设施生成 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Span，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形成从用户请求到数据库的端到端完整链路树。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统一</a:t>
                      </a: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AI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应用新增观测语义</a:t>
                      </a:r>
                      <a:endParaRPr lang="zh-CN" altLang="en-US" sz="12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0240">
                <a:tc row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marL="0" indent="0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是否引入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LGTM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标准开源可观测组件</a:t>
                      </a:r>
                      <a:r>
                        <a:rPr lang="zh-CN" altLang="en-US" sz="12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（存储</a:t>
                      </a:r>
                      <a:r>
                        <a:rPr lang="en-US" altLang="zh-CN" sz="12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展示）</a:t>
                      </a:r>
                      <a:endParaRPr lang="zh-CN" altLang="en-US" sz="12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LOG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：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LOKI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，标签索引，对象存储，便宜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：前端展示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Trace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 Tempo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，对象存储后端，与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Loki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同源可关联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Metrics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lang="en-US" altLang="zh-CN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Prometheus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；或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VictoriaMetrics/Mimir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PromQL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兼容，压缩率 10×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98880">
                <a:tc vMerge="1"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VM/Tempo/Loki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为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CNCF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生态，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Apache 2.0/AGPLv3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Arial" panose="020B060402020202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技术优势：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Arial" panose="020B0604020202020204" pitchFamily="34" charset="0"/>
                      </a:endParaRPr>
                    </a:p>
                    <a:p>
                      <a:pPr marL="393700" lvl="1" indent="-238760">
                        <a:buFont typeface="Wingdings" panose="05000000000000000000" charset="0"/>
                        <a:buChar char="Ø"/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日均 </a:t>
                      </a:r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Span &gt; 2000 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万的大业务量场景，专用存储更优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Arial" panose="020B0604020202020204" pitchFamily="34" charset="0"/>
                      </a:endParaRPr>
                    </a:p>
                    <a:p>
                      <a:pPr marL="393700" lvl="1" indent="-238760">
                        <a:buFont typeface="Wingdings" panose="05000000000000000000" charset="0"/>
                        <a:buChar char="Ø"/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跨信号关联排查（</a:t>
                      </a:r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trace→log→metric 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下钻）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Arial" panose="020B0604020202020204" pitchFamily="34" charset="0"/>
                      </a:endParaRPr>
                    </a:p>
                    <a:p>
                      <a:pPr marL="393700" lvl="1" indent="-238760">
                        <a:buFont typeface="Wingdings" panose="05000000000000000000" charset="0"/>
                        <a:buChar char="Ø"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可观测系统独立部署，不与核心交易耦合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Arial" panose="020B0604020202020204" pitchFamily="34" charset="0"/>
                      </a:endParaRPr>
                    </a:p>
                    <a:p>
                      <a:pPr marL="393700" lvl="1" indent="-238760">
                        <a:buFont typeface="Wingdings" panose="05000000000000000000" charset="0"/>
                        <a:buChar char="Ø"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Tempo+Loki+Grafana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Arial" panose="020B0604020202020204" pitchFamily="34" charset="0"/>
                        </a:rPr>
                        <a:t>三位一体跨信号关联排查，业界公认标准栈。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675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是否引入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Langfuse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银行信创后无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PostgreSQL，Langfuse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自托管强依赖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PG（Prisma ORM），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不可行。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Langfuse Cloud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数据出国，合规不过。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MySQL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系可以考虑引入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MLflow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：可通过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SQLAlchemy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MySQL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97510" y="43180"/>
            <a:ext cx="759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可观测方案在国内银行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落地的影响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因素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5895" y="429895"/>
            <a:ext cx="811276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可观测建设，到底是“引入一套新的互联网可观测平台”，还是“基于银行已有观测体系，仅补齐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时代新增对象（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Agent/LLM/RAG/Session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）的观测能力”？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60020" y="728980"/>
          <a:ext cx="8759190" cy="4018915"/>
        </p:xfrm>
        <a:graphic>
          <a:graphicData uri="http://schemas.openxmlformats.org/drawingml/2006/table">
            <a:tbl>
              <a:tblPr/>
              <a:tblGrid>
                <a:gridCol w="525780"/>
                <a:gridCol w="1965325"/>
                <a:gridCol w="592455"/>
                <a:gridCol w="1600835"/>
                <a:gridCol w="1565910"/>
                <a:gridCol w="1257300"/>
                <a:gridCol w="1251585"/>
              </a:tblGrid>
              <a:tr h="140335">
                <a:tc>
                  <a:txBody>
                    <a:bodyPr/>
                    <a:p>
                      <a:pPr algn="ctr"/>
                      <a:r>
                        <a:rPr lang="zh-CN" altLang="en-US"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页码</a:t>
                      </a:r>
                      <a:endParaRPr lang="zh-CN" altLang="en-US"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场景名称</a:t>
                      </a:r>
                      <a:endParaRPr lang="zh-CN" altLang="en-US"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9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是否启用 </a:t>
                      </a:r>
                      <a:r>
                        <a:rPr lang="en-US" altLang="zh-CN" sz="9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OTel</a:t>
                      </a:r>
                      <a:endParaRPr lang="en-US" altLang="zh-CN" sz="9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存储组件构成</a:t>
                      </a:r>
                      <a:endParaRPr lang="zh-CN" altLang="en-US"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会话数据源</a:t>
                      </a:r>
                      <a:endParaRPr lang="zh-CN" altLang="en-US"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指标传输通道</a:t>
                      </a:r>
                      <a:endParaRPr lang="zh-CN" altLang="en-US"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前端构成</a:t>
                      </a:r>
                      <a:endParaRPr lang="zh-CN" altLang="en-US"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Prometheus/Grafana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・现状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❌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Prometheus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8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</a:t>
                      </a:r>
                      <a:endParaRPr lang="zh-CN" altLang="en-US" sz="8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Prometheus Pull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抓取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自研会话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日志页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纯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全自建・现状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❌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 + Redis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8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</a:t>
                      </a:r>
                      <a:endParaRPr lang="zh-CN" altLang="en-US" sz="8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定时任务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Push Kafka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全自研前端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P3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OTel + Prometheus/Grafana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・现状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Prometheus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8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</a:t>
                      </a:r>
                      <a:endParaRPr lang="zh-CN" altLang="en-US" sz="8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Collector → Prometheus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抓取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自研会话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日志页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P4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OTel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・无时序组件・现状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 + Redis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80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</a:t>
                      </a:r>
                      <a:endParaRPr lang="zh-CN" altLang="en-US" sz="80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Collector → Kafka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落库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全自研前端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P5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Prometheus/Grafana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・整改后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❌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Prometheus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GraphObservation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统一提取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Prometheus Pull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抓取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自研会话页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P6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纯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全自建・整改后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❌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 + Redis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GraphObservation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统一提取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定时任务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Push Kafka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全自研前端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P7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OTel + Prometheus/Grafana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・整改后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Prometheus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OTel Span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统一提取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Collector → Prometheus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抓取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自研会话页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27965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P8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OTel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・无时序组件・整改后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 + Redis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OTel Span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统一提取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Collector → Kafka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落库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全自研前端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LGTM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・现状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❌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 + TEMPO + LOKI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 Pull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抓取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自研会话页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P10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OTel + LGTM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・现状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 + TEMPO + LOKI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Collector RemoteWrite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自研会话页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733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P11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LGTM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・整改后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❌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 + TEMPO + LOKI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GraphObservation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统一提取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 Pull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抓取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自研会话页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14960"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P12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+ OTel + LGTM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・整改后（终极态）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✅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 + TEMPO + LOKI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信创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OTel Span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统一提取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Collector RemoteWrite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 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VM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Grafana + </a:t>
                      </a:r>
                      <a:r>
                        <a:rPr lang="zh-CN" altLang="en-US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自研会话页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53695" y="172720"/>
            <a:ext cx="759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类落地方案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比对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367665" y="702310"/>
          <a:ext cx="8184515" cy="4266565"/>
        </p:xfrm>
        <a:graphic>
          <a:graphicData uri="http://schemas.openxmlformats.org/drawingml/2006/table">
            <a:tbl>
              <a:tblPr/>
              <a:tblGrid>
                <a:gridCol w="556260"/>
                <a:gridCol w="2644140"/>
                <a:gridCol w="4984115"/>
              </a:tblGrid>
              <a:tr h="193040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共识点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细节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33705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Spring AI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内置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Micrometer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观测应该开起来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Spring AI 1.1.x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ChatModel/ToolCall/Embedding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已经内置了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gen_ai.client.token.usage 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等标准指标，零代码白拿。这是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只是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侧门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705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太胖了，必须拆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现在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同时扛着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Prompt/Memory/Trace/Replay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，再加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Metrics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会变成几千行的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God Advisor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，维护灾难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735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Trace ≠ Metrics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，必须解耦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Trace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是日志（完整上下文、不可聚合），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Metrics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是时序聚合（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Counter/Histogram/Gauge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）。二者揉进同一张表做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聚合，大屏会越来越慢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720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同步入库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异步消息队列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里同步写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会阻塞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主链路，银行时延敏感场景不可接受。应该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快速采集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投递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MQ/Kafka →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异步消费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3720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必须对齐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OpenTelemetry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现在自建的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私有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trace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没有标准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span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树、没有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traceId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透传、无法串联下游服务（查账户、风控、消息），出了性能问题定位不了根因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735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Spring AI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内置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Micrometer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观测应该开起来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Spring AI 1.1.x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ChatModel/ToolCall/Embedding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已经内置了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gen_ai.client.token.usage 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等标准指标，零代码白拿。这是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只是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侧门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"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3055">
                <a:tc>
                  <a:txBody>
                    <a:bodyPr/>
                    <a:p>
                      <a:pPr marL="0" indent="0" 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Memory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功能保留在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记忆（长短期记忆）是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Advisor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的本职，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维持不动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39750" y="165100"/>
            <a:ext cx="7597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为什么不建议用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Advisor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来做观测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79755" y="697230"/>
          <a:ext cx="7716520" cy="2560320"/>
        </p:xfrm>
        <a:graphic>
          <a:graphicData uri="http://schemas.openxmlformats.org/drawingml/2006/table">
            <a:tbl>
              <a:tblPr/>
              <a:tblGrid>
                <a:gridCol w="850265"/>
                <a:gridCol w="2316480"/>
                <a:gridCol w="2620645"/>
                <a:gridCol w="1929130"/>
              </a:tblGrid>
              <a:tr h="380365">
                <a:tc>
                  <a:txBody>
                    <a:bodyPr/>
                    <a:p>
                      <a:pPr algn="ctr"/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分类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举例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采集方式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1089660"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标准指标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SAA/OTel 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协议或接口默认支持，框架自动产出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gen_ai.client.token.usage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gen_ai.client.operation.duration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Graph node 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执行耗时 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次数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SAA 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内置 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Observation / OTel Agent 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自动埋点，零代码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90295"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自定义指标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业务场景特有，框架无法自动推导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TTFT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、场景命中率、转人工率、卡片点击率、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LLM 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拒绝率、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Memory 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命中率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手工埋码：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ChatModel 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装饰器 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 MeterBinder / 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业务代码调 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Counter&amp;Timer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1117" marR="51117" marT="51117" marB="511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79755" y="3455035"/>
            <a:ext cx="789432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多路</a:t>
            </a:r>
            <a:r>
              <a:rPr lang="zh-CN" altLang="en-US" sz="1600" b="1"/>
              <a:t>埋点，一路传输：</a:t>
            </a:r>
            <a:endParaRPr lang="zh-CN" altLang="en-US" sz="1600" b="1"/>
          </a:p>
          <a:p>
            <a:r>
              <a:rPr lang="zh-CN" altLang="en-US" sz="1600"/>
              <a:t>标准指标和自定义指标在 "采集源" 上不同，但进入 </a:t>
            </a:r>
            <a:r>
              <a:rPr lang="en-US" altLang="zh-CN" sz="1600"/>
              <a:t>MeterRegistry </a:t>
            </a:r>
            <a:r>
              <a:rPr lang="zh-CN" altLang="en-US" sz="1600"/>
              <a:t>后走完全相同的传输和存储通道。</a:t>
            </a:r>
            <a:r>
              <a:rPr lang="en-US" altLang="zh-CN" sz="1600"/>
              <a:t>Micrometer </a:t>
            </a:r>
            <a:r>
              <a:rPr lang="zh-CN" altLang="en-US" sz="1600"/>
              <a:t>的 </a:t>
            </a:r>
            <a:r>
              <a:rPr lang="en-US" altLang="zh-CN" sz="1600"/>
              <a:t>MeterRegistry </a:t>
            </a:r>
            <a:r>
              <a:rPr lang="zh-CN" altLang="en-US" sz="1600"/>
              <a:t>统一管理所有 </a:t>
            </a:r>
            <a:r>
              <a:rPr lang="en-US" altLang="zh-CN" sz="1600"/>
              <a:t>Counter/Timer/Histogram，</a:t>
            </a:r>
            <a:r>
              <a:rPr lang="zh-CN" altLang="en-US" sz="1600"/>
              <a:t>无论它们来自 </a:t>
            </a:r>
            <a:r>
              <a:rPr lang="en-US" altLang="zh-CN" sz="1600"/>
              <a:t>SAA Observation </a:t>
            </a:r>
            <a:r>
              <a:rPr lang="zh-CN" altLang="en-US" sz="1600"/>
              <a:t>还是手写代码。</a:t>
            </a:r>
            <a:endParaRPr lang="zh-CN" altLang="en-US" sz="1600"/>
          </a:p>
        </p:txBody>
      </p:sp>
      <p:sp>
        <p:nvSpPr>
          <p:cNvPr id="5" name="Text 0"/>
          <p:cNvSpPr/>
          <p:nvPr/>
        </p:nvSpPr>
        <p:spPr>
          <a:xfrm>
            <a:off x="457414" y="137287"/>
            <a:ext cx="8229172" cy="5028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zh-CN" altLang="en-US" sz="2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指标埋点与</a:t>
            </a:r>
            <a:r>
              <a:rPr lang="zh-CN" altLang="en-US" sz="2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采集</a:t>
            </a:r>
            <a:endParaRPr lang="zh-CN" altLang="en-US" sz="2400" b="1" dirty="0">
              <a:solidFill>
                <a:srgbClr val="0D47A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621030" y="664210"/>
          <a:ext cx="7989570" cy="4251960"/>
        </p:xfrm>
        <a:graphic>
          <a:graphicData uri="http://schemas.openxmlformats.org/drawingml/2006/table">
            <a:tbl>
              <a:tblPr/>
              <a:tblGrid>
                <a:gridCol w="1506855"/>
                <a:gridCol w="4488815"/>
                <a:gridCol w="1993900"/>
              </a:tblGrid>
              <a:tr h="249555">
                <a:tc>
                  <a:txBody>
                    <a:bodyPr/>
                    <a:p>
                      <a:pPr algn="ctr"/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指标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实现方式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代码位置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04825"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TTFT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（首 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token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时延）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装饰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en-US" altLang="zh-CN" sz="1200" b="0" i="0">
                          <a:solidFill>
                            <a:srgbClr val="607CD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ChatModel.stream()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，首个 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chunk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到达时调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en-US" altLang="zh-CN" sz="1200" b="0" i="0">
                          <a:solidFill>
                            <a:srgbClr val="607CD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Timer.Sample.stop(registry.timer(...))</a:t>
                      </a:r>
                      <a:endParaRPr lang="en-US" altLang="zh-CN" sz="1200" b="0" i="0">
                        <a:solidFill>
                          <a:srgbClr val="607CD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ObsChatModel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装饰器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 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QPS</a:t>
                      </a:r>
                      <a:endParaRPr lang="en-US" altLang="zh-CN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607CD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Counter.builder("bank.agent.requests").tag("scene",...).register(registry).increment()</a:t>
                      </a:r>
                      <a:endParaRPr lang="en-US" altLang="zh-CN" sz="1200" b="0" i="0">
                        <a:solidFill>
                          <a:srgbClr val="607CD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Graph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节点业务分支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成功率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607CD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Counter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同上，按 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result=success/fail tag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区分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同上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转人工率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607CD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Counter.builder("bank.agent.transfer").tag("agent",...).increment()</a:t>
                      </a:r>
                      <a:endParaRPr lang="en-US" altLang="zh-CN" sz="1200" b="0" i="0">
                        <a:solidFill>
                          <a:srgbClr val="607CD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转人工业务代码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LLM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安全拒绝率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607CD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Counter.builder("bank.llm.rejected").tag("reason",...).increment()</a:t>
                      </a:r>
                      <a:endParaRPr lang="en-US" altLang="zh-CN" sz="1200" b="0" i="0">
                        <a:solidFill>
                          <a:srgbClr val="607CD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ChatModel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调用后检查 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response</a:t>
                      </a:r>
                      <a:endParaRPr lang="en-US" altLang="zh-CN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Memory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命中率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607CD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Counter.builder("bank.memory.hit/miss").increment()</a:t>
                      </a:r>
                      <a:endParaRPr lang="en-US" altLang="zh-CN" sz="1200" b="0" i="0">
                        <a:solidFill>
                          <a:srgbClr val="607CD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Advisor MemoryService</a:t>
                      </a:r>
                      <a:endParaRPr lang="en-US" altLang="zh-CN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意图识别准确率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200" b="0" i="0">
                          <a:solidFill>
                            <a:srgbClr val="607CD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Counter.builder("bank.intent.correct").tag("intent",...).increment()</a:t>
                      </a:r>
                      <a:endParaRPr lang="en-US" altLang="zh-CN" sz="1200" b="0" i="0">
                        <a:solidFill>
                          <a:srgbClr val="607CD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意图识别节点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190">
                <a:tc>
                  <a:txBody>
                    <a:bodyPr/>
                    <a:p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卡片点击率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不走后端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——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前端埋点 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SDK →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大数据</a:t>
                      </a:r>
                      <a:r>
                        <a:rPr lang="en-US" altLang="zh-CN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/BI </a:t>
                      </a:r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200" b="0" i="0">
                          <a:solidFill>
                            <a:srgbClr val="2B2B2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手机银行前端</a:t>
                      </a:r>
                      <a:endParaRPr lang="zh-CN" altLang="en-US" sz="1200" b="0" i="0">
                        <a:solidFill>
                          <a:srgbClr val="2B2B2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3350" marR="133350" marT="80010" marB="80010" anchor="ctr" anchorCtr="0">
                    <a:lnL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D0D7D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457414" y="137287"/>
            <a:ext cx="8229172" cy="5028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zh-CN" altLang="en-US" sz="2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自定义指标及</a:t>
            </a:r>
            <a:r>
              <a:rPr lang="zh-CN" altLang="en-US" sz="2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实现示例</a:t>
            </a:r>
            <a:endParaRPr lang="zh-CN" altLang="en-US" sz="2400" b="1" dirty="0">
              <a:solidFill>
                <a:srgbClr val="0D47A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285" y="469900"/>
            <a:ext cx="3337560" cy="4673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985" y="472440"/>
            <a:ext cx="4207510" cy="46710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90764" y="21717"/>
            <a:ext cx="8229172" cy="5028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zh-CN" altLang="en-US" sz="2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架构</a:t>
            </a:r>
            <a:r>
              <a:rPr lang="zh-CN" altLang="en-US" sz="2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图</a:t>
            </a:r>
            <a:endParaRPr lang="zh-CN" altLang="en-US" sz="2400" b="1" dirty="0">
              <a:solidFill>
                <a:srgbClr val="0D47A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3566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 01 · 整改后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77190" y="494030"/>
            <a:ext cx="5574665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0A0A0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SAA + PG · 会话回放走 SAA 标准方法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78240" y="246888"/>
            <a:ext cx="4800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002FA7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05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377190" y="1220724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Shape 4"/>
          <p:cNvSpPr/>
          <p:nvPr/>
        </p:nvSpPr>
        <p:spPr>
          <a:xfrm>
            <a:off x="377190" y="1220724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7" name="Text 5"/>
          <p:cNvSpPr/>
          <p:nvPr/>
        </p:nvSpPr>
        <p:spPr>
          <a:xfrm>
            <a:off x="528066" y="1309878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指标：标准 vs 自定义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28066" y="1549908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标准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：SAA Obs 内置 → Micrometer → Prometheus scrape，零代码。</a:t>
            </a: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自定义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：TTFT 装饰 ChatModel.stream() 打 Timer；业务 Counter 经 AOP/MeterBinder 手写，注册同一 MeterRegistry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77190" y="2336292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0" name="Shape 8"/>
          <p:cNvSpPr/>
          <p:nvPr/>
        </p:nvSpPr>
        <p:spPr>
          <a:xfrm>
            <a:off x="377190" y="2336292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1" name="Text 9"/>
          <p:cNvSpPr/>
          <p:nvPr/>
        </p:nvSpPr>
        <p:spPr>
          <a:xfrm>
            <a:off x="528066" y="2425446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 + 会话（整改）：ObsHandler 统一拦截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8066" y="2665476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ObsHandler 同时监听 ChatObs + GraphObs，onStop 提取 Context：Trace 场景拆出 Span 树 → ai.trace；会话场景拆出 SessionStepEvent（nodeId/state/ts）→ ai.session。不再依赖 Advisor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77190" y="3451860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4" name="Shape 12"/>
          <p:cNvSpPr/>
          <p:nvPr/>
        </p:nvSpPr>
        <p:spPr>
          <a:xfrm>
            <a:off x="377190" y="3451860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5" name="Text 13"/>
          <p:cNvSpPr/>
          <p:nvPr/>
        </p:nvSpPr>
        <p:spPr>
          <a:xfrm>
            <a:off x="528066" y="3541014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+ 展示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8066" y="3781044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日志：KafkaAppender → Kafka → 信创 DB。展示：Grafana 指标大屏；自研回放 UI 从 session_steps 表拉步骤链 → 渲染 Graph 节点时间线 + 对话原文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169664" y="1220724"/>
            <a:ext cx="4594860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2308" y="153587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7781" y="153587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254" y="153587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8727" y="153587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2308" y="178727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AECE7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7781" y="178727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3254" y="178727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58727" y="178727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2308" y="2263624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07781" y="2263624"/>
            <a:ext cx="1918626" cy="158783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7781" y="2462103"/>
            <a:ext cx="873306" cy="145551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3254" y="2462103"/>
            <a:ext cx="893154" cy="145551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8727" y="2263624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3254" y="2263624"/>
            <a:ext cx="893154" cy="158783"/>
          </a:xfrm>
          <a:prstGeom prst="roundRect">
            <a:avLst>
              <a:gd name="adj" fmla="val 12500"/>
            </a:avLst>
          </a:prstGeom>
          <a:solidFill>
            <a:srgbClr val="FAECE7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07781" y="2766437"/>
            <a:ext cx="1918626" cy="330798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25646" y="2766437"/>
            <a:ext cx="926234" cy="330798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2308" y="2766437"/>
            <a:ext cx="893154" cy="330798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2308" y="3216321"/>
            <a:ext cx="893154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7781" y="3216321"/>
            <a:ext cx="1918626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58727" y="3216321"/>
            <a:ext cx="893154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2308" y="3719134"/>
            <a:ext cx="3969572" cy="344030"/>
          </a:xfrm>
          <a:prstGeom prst="roundRect">
            <a:avLst>
              <a:gd name="adj" fmla="val 11538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49989" y="174758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349989" y="2223929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4349989" y="2700277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349989" y="3176626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349989" y="3679438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flipV="1">
            <a:off x="4925577" y="2171001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6467094" y="2184233"/>
            <a:ext cx="0" cy="7939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 flipH="1">
            <a:off x="5951050" y="2184233"/>
            <a:ext cx="516044" cy="0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6976523" y="2171001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8001995" y="2171001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4925577" y="2647349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5944434" y="2647349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6976523" y="2647349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8001995" y="2647349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4925577" y="3110466"/>
            <a:ext cx="0" cy="436653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6467094" y="3110466"/>
            <a:ext cx="0" cy="436653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8001995" y="3110466"/>
            <a:ext cx="0" cy="436653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4925577" y="3613279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6467094" y="3613279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8001995" y="3613279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4664829" y="1567626"/>
            <a:ext cx="52149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 Metrics</a:t>
            </a:r>
            <a:endParaRPr lang="en-US" sz="520" dirty="0"/>
          </a:p>
        </p:txBody>
      </p:sp>
      <p:sp>
        <p:nvSpPr>
          <p:cNvPr id="60" name="Text 58"/>
          <p:cNvSpPr/>
          <p:nvPr/>
        </p:nvSpPr>
        <p:spPr>
          <a:xfrm>
            <a:off x="5837851" y="1567626"/>
            <a:ext cx="2263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</a:t>
            </a:r>
            <a:endParaRPr lang="en-US" sz="520" dirty="0"/>
          </a:p>
        </p:txBody>
      </p:sp>
      <p:sp>
        <p:nvSpPr>
          <p:cNvPr id="61" name="Text 59"/>
          <p:cNvSpPr/>
          <p:nvPr/>
        </p:nvSpPr>
        <p:spPr>
          <a:xfrm>
            <a:off x="6647855" y="1567626"/>
            <a:ext cx="65733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 (GraphObs)</a:t>
            </a:r>
            <a:endParaRPr lang="en-US" sz="520" dirty="0"/>
          </a:p>
        </p:txBody>
      </p:sp>
      <p:sp>
        <p:nvSpPr>
          <p:cNvPr id="62" name="Text 60"/>
          <p:cNvSpPr/>
          <p:nvPr/>
        </p:nvSpPr>
        <p:spPr>
          <a:xfrm>
            <a:off x="7809167" y="1567626"/>
            <a:ext cx="3856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Logs</a:t>
            </a:r>
            <a:endParaRPr lang="en-US" sz="520" dirty="0"/>
          </a:p>
        </p:txBody>
      </p:sp>
      <p:sp>
        <p:nvSpPr>
          <p:cNvPr id="63" name="Text 61"/>
          <p:cNvSpPr/>
          <p:nvPr/>
        </p:nvSpPr>
        <p:spPr>
          <a:xfrm>
            <a:off x="4735403" y="1841262"/>
            <a:ext cx="38034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</a:t>
            </a:r>
            <a:endParaRPr lang="en-US" sz="625" dirty="0"/>
          </a:p>
        </p:txBody>
      </p:sp>
      <p:sp>
        <p:nvSpPr>
          <p:cNvPr id="64" name="Text 62"/>
          <p:cNvSpPr/>
          <p:nvPr/>
        </p:nvSpPr>
        <p:spPr>
          <a:xfrm>
            <a:off x="4649450" y="1963392"/>
            <a:ext cx="5522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指标大屏 + 告警</a:t>
            </a:r>
            <a:endParaRPr lang="en-US" sz="490" dirty="0"/>
          </a:p>
        </p:txBody>
      </p:sp>
      <p:sp>
        <p:nvSpPr>
          <p:cNvPr id="65" name="Text 63"/>
          <p:cNvSpPr/>
          <p:nvPr/>
        </p:nvSpPr>
        <p:spPr>
          <a:xfrm>
            <a:off x="5678435" y="1841262"/>
            <a:ext cx="54522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自研回放 UI</a:t>
            </a:r>
            <a:endParaRPr lang="en-US" sz="625" dirty="0"/>
          </a:p>
        </p:txBody>
      </p:sp>
      <p:sp>
        <p:nvSpPr>
          <p:cNvPr id="66" name="Text 64"/>
          <p:cNvSpPr/>
          <p:nvPr/>
        </p:nvSpPr>
        <p:spPr>
          <a:xfrm>
            <a:off x="5608877" y="1963392"/>
            <a:ext cx="68434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 树 + 对话视图</a:t>
            </a:r>
            <a:endParaRPr lang="en-US" sz="490" dirty="0"/>
          </a:p>
        </p:txBody>
      </p:sp>
      <p:sp>
        <p:nvSpPr>
          <p:cNvPr id="67" name="Text 65"/>
          <p:cNvSpPr/>
          <p:nvPr/>
        </p:nvSpPr>
        <p:spPr>
          <a:xfrm>
            <a:off x="6703908" y="1841262"/>
            <a:ext cx="54522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自研回放 UI</a:t>
            </a:r>
            <a:endParaRPr lang="en-US" sz="625" dirty="0"/>
          </a:p>
        </p:txBody>
      </p:sp>
      <p:sp>
        <p:nvSpPr>
          <p:cNvPr id="68" name="Text 66"/>
          <p:cNvSpPr/>
          <p:nvPr/>
        </p:nvSpPr>
        <p:spPr>
          <a:xfrm>
            <a:off x="6675101" y="1963392"/>
            <a:ext cx="60284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 节点时间线</a:t>
            </a:r>
            <a:endParaRPr lang="en-US" sz="490" dirty="0"/>
          </a:p>
        </p:txBody>
      </p:sp>
      <p:sp>
        <p:nvSpPr>
          <p:cNvPr id="69" name="Text 67"/>
          <p:cNvSpPr/>
          <p:nvPr/>
        </p:nvSpPr>
        <p:spPr>
          <a:xfrm>
            <a:off x="7763106" y="1841262"/>
            <a:ext cx="47777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自研日志页</a:t>
            </a:r>
            <a:endParaRPr lang="en-US" sz="625" dirty="0"/>
          </a:p>
        </p:txBody>
      </p:sp>
      <p:sp>
        <p:nvSpPr>
          <p:cNvPr id="70" name="Text 68"/>
          <p:cNvSpPr/>
          <p:nvPr/>
        </p:nvSpPr>
        <p:spPr>
          <a:xfrm>
            <a:off x="7822829" y="1963392"/>
            <a:ext cx="35833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关键词检索</a:t>
            </a:r>
            <a:endParaRPr lang="en-US" sz="490" dirty="0"/>
          </a:p>
        </p:txBody>
      </p:sp>
      <p:sp>
        <p:nvSpPr>
          <p:cNvPr id="71" name="Text 69"/>
          <p:cNvSpPr/>
          <p:nvPr/>
        </p:nvSpPr>
        <p:spPr>
          <a:xfrm>
            <a:off x="4653899" y="2344074"/>
            <a:ext cx="5433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</a:t>
            </a:r>
            <a:endParaRPr lang="en-US" sz="625" dirty="0"/>
          </a:p>
        </p:txBody>
      </p:sp>
      <p:sp>
        <p:nvSpPr>
          <p:cNvPr id="72" name="Text 70"/>
          <p:cNvSpPr/>
          <p:nvPr/>
        </p:nvSpPr>
        <p:spPr>
          <a:xfrm>
            <a:off x="4710577" y="2479436"/>
            <a:ext cx="43000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指标时序存储</a:t>
            </a:r>
            <a:endParaRPr lang="en-US" sz="490" dirty="0"/>
          </a:p>
        </p:txBody>
      </p:sp>
      <p:sp>
        <p:nvSpPr>
          <p:cNvPr id="73" name="Text 71"/>
          <p:cNvSpPr/>
          <p:nvPr/>
        </p:nvSpPr>
        <p:spPr>
          <a:xfrm>
            <a:off x="5756907" y="2316419"/>
            <a:ext cx="14203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信创 DB (OceanBase / GaussDB)</a:t>
            </a:r>
            <a:endParaRPr lang="en-US" sz="575" dirty="0"/>
          </a:p>
        </p:txBody>
      </p:sp>
      <p:sp>
        <p:nvSpPr>
          <p:cNvPr id="74" name="Text 72"/>
          <p:cNvSpPr/>
          <p:nvPr/>
        </p:nvSpPr>
        <p:spPr>
          <a:xfrm>
            <a:off x="5708980" y="2517941"/>
            <a:ext cx="47090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trace_records</a:t>
            </a:r>
            <a:endParaRPr lang="en-US" sz="490" dirty="0"/>
          </a:p>
        </p:txBody>
      </p:sp>
      <p:sp>
        <p:nvSpPr>
          <p:cNvPr id="75" name="Text 73"/>
          <p:cNvSpPr/>
          <p:nvPr/>
        </p:nvSpPr>
        <p:spPr>
          <a:xfrm>
            <a:off x="6741068" y="2517941"/>
            <a:ext cx="47090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session_steps</a:t>
            </a:r>
            <a:endParaRPr lang="en-US" sz="490" dirty="0"/>
          </a:p>
        </p:txBody>
      </p:sp>
      <p:sp>
        <p:nvSpPr>
          <p:cNvPr id="76" name="Text 74"/>
          <p:cNvSpPr/>
          <p:nvPr/>
        </p:nvSpPr>
        <p:spPr>
          <a:xfrm>
            <a:off x="7777862" y="2426509"/>
            <a:ext cx="44826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log_records</a:t>
            </a:r>
            <a:endParaRPr lang="en-US" sz="490" dirty="0"/>
          </a:p>
        </p:txBody>
      </p:sp>
      <p:sp>
        <p:nvSpPr>
          <p:cNvPr id="77" name="Text 75"/>
          <p:cNvSpPr/>
          <p:nvPr/>
        </p:nvSpPr>
        <p:spPr>
          <a:xfrm>
            <a:off x="6680722" y="2327270"/>
            <a:ext cx="59160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Redis（Memory）</a:t>
            </a:r>
            <a:endParaRPr lang="en-US" sz="490" dirty="0"/>
          </a:p>
        </p:txBody>
      </p:sp>
      <p:sp>
        <p:nvSpPr>
          <p:cNvPr id="78" name="Text 76"/>
          <p:cNvSpPr/>
          <p:nvPr/>
        </p:nvSpPr>
        <p:spPr>
          <a:xfrm>
            <a:off x="6331256" y="2820423"/>
            <a:ext cx="27167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</a:t>
            </a:r>
            <a:endParaRPr lang="en-US" sz="625" dirty="0"/>
          </a:p>
        </p:txBody>
      </p:sp>
      <p:sp>
        <p:nvSpPr>
          <p:cNvPr id="79" name="Text 77"/>
          <p:cNvSpPr/>
          <p:nvPr/>
        </p:nvSpPr>
        <p:spPr>
          <a:xfrm>
            <a:off x="5835444" y="2955785"/>
            <a:ext cx="126330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ai.trace / ai.session / ai.logs</a:t>
            </a:r>
            <a:endParaRPr lang="en-US" sz="490" dirty="0"/>
          </a:p>
        </p:txBody>
      </p:sp>
      <p:sp>
        <p:nvSpPr>
          <p:cNvPr id="80" name="Text 78"/>
          <p:cNvSpPr/>
          <p:nvPr/>
        </p:nvSpPr>
        <p:spPr>
          <a:xfrm>
            <a:off x="7852925" y="2846887"/>
            <a:ext cx="27167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</a:t>
            </a:r>
            <a:endParaRPr lang="en-US" sz="625" dirty="0"/>
          </a:p>
        </p:txBody>
      </p:sp>
      <p:sp>
        <p:nvSpPr>
          <p:cNvPr id="81" name="Text 79"/>
          <p:cNvSpPr/>
          <p:nvPr/>
        </p:nvSpPr>
        <p:spPr>
          <a:xfrm>
            <a:off x="7846133" y="2995481"/>
            <a:ext cx="285261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ai.logs</a:t>
            </a:r>
            <a:endParaRPr lang="en-US" sz="490" dirty="0"/>
          </a:p>
        </p:txBody>
      </p:sp>
      <p:sp>
        <p:nvSpPr>
          <p:cNvPr id="82" name="Text 80"/>
          <p:cNvSpPr/>
          <p:nvPr/>
        </p:nvSpPr>
        <p:spPr>
          <a:xfrm>
            <a:off x="4540700" y="2870969"/>
            <a:ext cx="76975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 scrape</a:t>
            </a:r>
            <a:endParaRPr lang="en-US" sz="520" dirty="0"/>
          </a:p>
        </p:txBody>
      </p:sp>
      <p:sp>
        <p:nvSpPr>
          <p:cNvPr id="83" name="Text 81"/>
          <p:cNvSpPr/>
          <p:nvPr/>
        </p:nvSpPr>
        <p:spPr>
          <a:xfrm>
            <a:off x="4518061" y="2995481"/>
            <a:ext cx="81503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/actuator/prometheus</a:t>
            </a:r>
            <a:endParaRPr lang="en-US" sz="490" dirty="0"/>
          </a:p>
        </p:txBody>
      </p:sp>
      <p:sp>
        <p:nvSpPr>
          <p:cNvPr id="84" name="Text 82"/>
          <p:cNvSpPr/>
          <p:nvPr/>
        </p:nvSpPr>
        <p:spPr>
          <a:xfrm>
            <a:off x="4676540" y="3275732"/>
            <a:ext cx="49807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Micrometer</a:t>
            </a:r>
            <a:endParaRPr lang="en-US" sz="575" dirty="0"/>
          </a:p>
        </p:txBody>
      </p:sp>
      <p:sp>
        <p:nvSpPr>
          <p:cNvPr id="85" name="Text 83"/>
          <p:cNvSpPr/>
          <p:nvPr/>
        </p:nvSpPr>
        <p:spPr>
          <a:xfrm>
            <a:off x="4640315" y="3405670"/>
            <a:ext cx="57052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reg-prometheus</a:t>
            </a:r>
            <a:endParaRPr lang="en-US" sz="490" dirty="0"/>
          </a:p>
        </p:txBody>
      </p:sp>
      <p:sp>
        <p:nvSpPr>
          <p:cNvPr id="86" name="Text 84"/>
          <p:cNvSpPr/>
          <p:nvPr/>
        </p:nvSpPr>
        <p:spPr>
          <a:xfrm>
            <a:off x="5613496" y="3275732"/>
            <a:ext cx="170719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ObsHandler：拦截 GraphObs + ChatObs</a:t>
            </a:r>
            <a:endParaRPr lang="en-US" sz="575" dirty="0"/>
          </a:p>
        </p:txBody>
      </p:sp>
      <p:sp>
        <p:nvSpPr>
          <p:cNvPr id="87" name="Text 85"/>
          <p:cNvSpPr/>
          <p:nvPr/>
        </p:nvSpPr>
        <p:spPr>
          <a:xfrm>
            <a:off x="5529104" y="3405670"/>
            <a:ext cx="187598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onStop 组装 SessionStepEvent（nodeId+state+ts）</a:t>
            </a:r>
            <a:endParaRPr lang="en-US" sz="490" dirty="0"/>
          </a:p>
        </p:txBody>
      </p:sp>
      <p:sp>
        <p:nvSpPr>
          <p:cNvPr id="88" name="Text 86"/>
          <p:cNvSpPr/>
          <p:nvPr/>
        </p:nvSpPr>
        <p:spPr>
          <a:xfrm>
            <a:off x="7678246" y="3288965"/>
            <a:ext cx="6474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KafkaAppender</a:t>
            </a:r>
            <a:endParaRPr lang="en-US" sz="575" dirty="0"/>
          </a:p>
        </p:txBody>
      </p:sp>
      <p:sp>
        <p:nvSpPr>
          <p:cNvPr id="89" name="Text 87"/>
          <p:cNvSpPr/>
          <p:nvPr/>
        </p:nvSpPr>
        <p:spPr>
          <a:xfrm>
            <a:off x="7696358" y="3418902"/>
            <a:ext cx="6112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Logback → Kafka</a:t>
            </a:r>
            <a:endParaRPr lang="en-US" sz="490" dirty="0"/>
          </a:p>
        </p:txBody>
      </p:sp>
      <p:sp>
        <p:nvSpPr>
          <p:cNvPr id="90" name="Text 88"/>
          <p:cNvSpPr/>
          <p:nvPr/>
        </p:nvSpPr>
        <p:spPr>
          <a:xfrm>
            <a:off x="5378823" y="3783970"/>
            <a:ext cx="217654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[标] ChatModel/GraphObs（SAA内置·零手动）+ Logback</a:t>
            </a:r>
            <a:endParaRPr lang="en-US" sz="520" dirty="0"/>
          </a:p>
        </p:txBody>
      </p:sp>
      <p:sp>
        <p:nvSpPr>
          <p:cNvPr id="91" name="Text 89"/>
          <p:cNvSpPr/>
          <p:nvPr/>
        </p:nvSpPr>
        <p:spPr>
          <a:xfrm>
            <a:off x="5788916" y="3919333"/>
            <a:ext cx="13563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[自] AOP/ObsChatModel→MeterRegistry→同上通道</a:t>
            </a:r>
            <a:endParaRPr lang="en-US" sz="490" dirty="0"/>
          </a:p>
        </p:txBody>
      </p:sp>
      <p:sp>
        <p:nvSpPr>
          <p:cNvPr id="92" name="Shape 90"/>
          <p:cNvSpPr/>
          <p:nvPr/>
        </p:nvSpPr>
        <p:spPr>
          <a:xfrm>
            <a:off x="377190" y="4608576"/>
            <a:ext cx="8389391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7190" y="4704588"/>
            <a:ext cx="513732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会话数据源：</a:t>
            </a:r>
            <a:r>
              <a:rPr lang="en-US" sz="715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 GraphObservation.onNodeStart/onNodeEnd</a:t>
            </a: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外部组件：Prometheus + Grafana</a:t>
            </a:r>
            <a:endParaRPr lang="en-US" sz="715" dirty="0"/>
          </a:p>
        </p:txBody>
      </p:sp>
      <p:sp>
        <p:nvSpPr>
          <p:cNvPr id="94" name="Shape 92"/>
          <p:cNvSpPr/>
          <p:nvPr/>
        </p:nvSpPr>
        <p:spPr>
          <a:xfrm>
            <a:off x="5685968" y="4677156"/>
            <a:ext cx="850392" cy="192024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</p:sp>
      <p:sp>
        <p:nvSpPr>
          <p:cNvPr id="95" name="Text 93"/>
          <p:cNvSpPr/>
          <p:nvPr/>
        </p:nvSpPr>
        <p:spPr>
          <a:xfrm>
            <a:off x="5685968" y="4677156"/>
            <a:ext cx="85039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 标准方法</a:t>
            </a:r>
            <a:endParaRPr lang="en-US" sz="640" dirty="0"/>
          </a:p>
        </p:txBody>
      </p:sp>
      <p:sp>
        <p:nvSpPr>
          <p:cNvPr id="96" name="Shape 94"/>
          <p:cNvSpPr/>
          <p:nvPr/>
        </p:nvSpPr>
        <p:spPr>
          <a:xfrm>
            <a:off x="6536360" y="4677156"/>
            <a:ext cx="1030072" cy="192024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</p:sp>
      <p:sp>
        <p:nvSpPr>
          <p:cNvPr id="97" name="Text 95"/>
          <p:cNvSpPr/>
          <p:nvPr/>
        </p:nvSpPr>
        <p:spPr>
          <a:xfrm>
            <a:off x="6536360" y="4677156"/>
            <a:ext cx="103007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ObsHandler 拦截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7607579" y="4677156"/>
            <a:ext cx="1117854" cy="192024"/>
          </a:xfrm>
          <a:prstGeom prst="roundRect">
            <a:avLst>
              <a:gd name="adj" fmla="val 14286"/>
            </a:avLst>
          </a:prstGeom>
          <a:solidFill>
            <a:srgbClr val="FFF3E0"/>
          </a:solidFill>
        </p:spPr>
      </p:sp>
      <p:sp>
        <p:nvSpPr>
          <p:cNvPr id="99" name="Text 97"/>
          <p:cNvSpPr/>
          <p:nvPr/>
        </p:nvSpPr>
        <p:spPr>
          <a:xfrm>
            <a:off x="7607579" y="4677156"/>
            <a:ext cx="111785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GraphObs 自动埋点</a:t>
            </a:r>
            <a:endParaRPr lang="en-US" sz="6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3566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 02 · 整改后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77190" y="494030"/>
            <a:ext cx="5313045" cy="4241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0A0A0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纯 SAA 全自建 · 会话回放走 SAA 标准方法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78240" y="246888"/>
            <a:ext cx="4800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002FA7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06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377190" y="1220724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Shape 4"/>
          <p:cNvSpPr/>
          <p:nvPr/>
        </p:nvSpPr>
        <p:spPr>
          <a:xfrm>
            <a:off x="377190" y="1220724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7" name="Text 5"/>
          <p:cNvSpPr/>
          <p:nvPr/>
        </p:nvSpPr>
        <p:spPr>
          <a:xfrm>
            <a:off x="528066" y="1309878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指标：标准 vs 自定义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28066" y="1549908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标准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：SAA Obs 内置 → @Scheduled 每 30s 刷 MeterRegistry → Kafka ai.metrics，零代码。</a:t>
            </a: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自定义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：TTFT 装饰 stream()，业务 Counter 手写后注册同一 MeterRegistry，定时任务一并刷出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77190" y="2336292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0" name="Shape 8"/>
          <p:cNvSpPr/>
          <p:nvPr/>
        </p:nvSpPr>
        <p:spPr>
          <a:xfrm>
            <a:off x="377190" y="2336292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1" name="Text 9"/>
          <p:cNvSpPr/>
          <p:nvPr/>
        </p:nvSpPr>
        <p:spPr>
          <a:xfrm>
            <a:off x="528066" y="2425446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 + 会话（整改）：ObsHandler 一管二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8066" y="2665476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ObsHandler 拦截 GraphObs+ChatObs，onStop 同时产出：① Span 树 → ai.trace ② SessionStepEvent（nodeId/state/ts/sessionId）→ ai.session。两个 topic 共享同一份 Observation Context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77190" y="3451860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4" name="Shape 12"/>
          <p:cNvSpPr/>
          <p:nvPr/>
        </p:nvSpPr>
        <p:spPr>
          <a:xfrm>
            <a:off x="377190" y="3451860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5" name="Text 13"/>
          <p:cNvSpPr/>
          <p:nvPr/>
        </p:nvSpPr>
        <p:spPr>
          <a:xfrm>
            <a:off x="528066" y="3541014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+ 展示 + 存储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8066" y="3781044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日志：KafkaAppender → Kafka。存储：Redis（Memory+热指标）+ 信创 DB（metric_aggregates/trace_records/session_steps/log_records）。展示：全自研前端，REST API 统一读 Redis+DB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169664" y="1220724"/>
            <a:ext cx="4594860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2308" y="153587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7781" y="153587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254" y="153587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8727" y="153587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2308" y="1787276"/>
            <a:ext cx="1918626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3254" y="178727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8727" y="178727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2308" y="2263624"/>
            <a:ext cx="1918626" cy="158783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08772" y="2462103"/>
            <a:ext cx="370493" cy="132319"/>
          </a:xfrm>
          <a:prstGeom prst="roundRect">
            <a:avLst>
              <a:gd name="adj" fmla="val 15000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2193" y="2462103"/>
            <a:ext cx="370493" cy="132319"/>
          </a:xfrm>
          <a:prstGeom prst="roundRect">
            <a:avLst>
              <a:gd name="adj" fmla="val 15000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7781" y="2462103"/>
            <a:ext cx="893154" cy="132319"/>
          </a:xfrm>
          <a:prstGeom prst="roundRect">
            <a:avLst>
              <a:gd name="adj" fmla="val 15000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3254" y="2462103"/>
            <a:ext cx="893154" cy="132319"/>
          </a:xfrm>
          <a:prstGeom prst="roundRect">
            <a:avLst>
              <a:gd name="adj" fmla="val 15000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8727" y="2263624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3254" y="2263624"/>
            <a:ext cx="893154" cy="158783"/>
          </a:xfrm>
          <a:prstGeom prst="roundRect">
            <a:avLst>
              <a:gd name="adj" fmla="val 12500"/>
            </a:avLst>
          </a:prstGeom>
          <a:solidFill>
            <a:srgbClr val="FAECE7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2308" y="2739973"/>
            <a:ext cx="3969572" cy="330798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2308" y="3216321"/>
            <a:ext cx="893154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07781" y="3216321"/>
            <a:ext cx="1918626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58727" y="3216321"/>
            <a:ext cx="893154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2308" y="3719134"/>
            <a:ext cx="3969572" cy="344030"/>
          </a:xfrm>
          <a:prstGeom prst="roundRect">
            <a:avLst>
              <a:gd name="adj" fmla="val 11538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9989" y="174758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49989" y="2223929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349989" y="2700277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349989" y="3176626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4349989" y="3679438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flipV="1">
            <a:off x="5441621" y="2171001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6976523" y="2171001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8001995" y="2171001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4918961" y="2620886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5951050" y="2620886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6976523" y="2620886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8001995" y="2620886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4925577" y="3110466"/>
            <a:ext cx="0" cy="436653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6467094" y="3110466"/>
            <a:ext cx="0" cy="436653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8001995" y="3110466"/>
            <a:ext cx="0" cy="436653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4925577" y="3613279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6467094" y="3613279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8001995" y="3613279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4664829" y="1567626"/>
            <a:ext cx="52149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 Metrics</a:t>
            </a:r>
            <a:endParaRPr lang="en-US" sz="520" dirty="0"/>
          </a:p>
        </p:txBody>
      </p:sp>
      <p:sp>
        <p:nvSpPr>
          <p:cNvPr id="56" name="Text 54"/>
          <p:cNvSpPr/>
          <p:nvPr/>
        </p:nvSpPr>
        <p:spPr>
          <a:xfrm>
            <a:off x="5837851" y="1567626"/>
            <a:ext cx="2263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</a:t>
            </a:r>
            <a:endParaRPr lang="en-US" sz="520" dirty="0"/>
          </a:p>
        </p:txBody>
      </p:sp>
      <p:sp>
        <p:nvSpPr>
          <p:cNvPr id="57" name="Text 55"/>
          <p:cNvSpPr/>
          <p:nvPr/>
        </p:nvSpPr>
        <p:spPr>
          <a:xfrm>
            <a:off x="6647855" y="1567626"/>
            <a:ext cx="65733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 (GraphObs)</a:t>
            </a:r>
            <a:endParaRPr lang="en-US" sz="520" dirty="0"/>
          </a:p>
        </p:txBody>
      </p:sp>
      <p:sp>
        <p:nvSpPr>
          <p:cNvPr id="58" name="Text 56"/>
          <p:cNvSpPr/>
          <p:nvPr/>
        </p:nvSpPr>
        <p:spPr>
          <a:xfrm>
            <a:off x="7809167" y="1567626"/>
            <a:ext cx="3856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Logs</a:t>
            </a:r>
            <a:endParaRPr lang="en-US" sz="520" dirty="0"/>
          </a:p>
        </p:txBody>
      </p:sp>
      <p:sp>
        <p:nvSpPr>
          <p:cNvPr id="59" name="Text 57"/>
          <p:cNvSpPr/>
          <p:nvPr/>
        </p:nvSpPr>
        <p:spPr>
          <a:xfrm>
            <a:off x="5250510" y="1841262"/>
            <a:ext cx="38222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自研大屏</a:t>
            </a:r>
            <a:endParaRPr lang="en-US" sz="625" dirty="0"/>
          </a:p>
        </p:txBody>
      </p:sp>
      <p:sp>
        <p:nvSpPr>
          <p:cNvPr id="60" name="Text 58"/>
          <p:cNvSpPr/>
          <p:nvPr/>
        </p:nvSpPr>
        <p:spPr>
          <a:xfrm>
            <a:off x="4910445" y="1963392"/>
            <a:ext cx="106235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指标趋势，读 Redis / 信创 DB</a:t>
            </a:r>
            <a:endParaRPr lang="en-US" sz="490" dirty="0"/>
          </a:p>
        </p:txBody>
      </p:sp>
      <p:sp>
        <p:nvSpPr>
          <p:cNvPr id="61" name="Text 59"/>
          <p:cNvSpPr/>
          <p:nvPr/>
        </p:nvSpPr>
        <p:spPr>
          <a:xfrm>
            <a:off x="6703908" y="1841262"/>
            <a:ext cx="54522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自研回放 UI</a:t>
            </a:r>
            <a:endParaRPr lang="en-US" sz="625" dirty="0"/>
          </a:p>
        </p:txBody>
      </p:sp>
      <p:sp>
        <p:nvSpPr>
          <p:cNvPr id="62" name="Text 60"/>
          <p:cNvSpPr/>
          <p:nvPr/>
        </p:nvSpPr>
        <p:spPr>
          <a:xfrm>
            <a:off x="6675101" y="1963392"/>
            <a:ext cx="60284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 节点时间线</a:t>
            </a:r>
            <a:endParaRPr lang="en-US" sz="490" dirty="0"/>
          </a:p>
        </p:txBody>
      </p:sp>
      <p:sp>
        <p:nvSpPr>
          <p:cNvPr id="63" name="Text 61"/>
          <p:cNvSpPr/>
          <p:nvPr/>
        </p:nvSpPr>
        <p:spPr>
          <a:xfrm>
            <a:off x="7763106" y="1841262"/>
            <a:ext cx="47777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自研日志页</a:t>
            </a:r>
            <a:endParaRPr lang="en-US" sz="625" dirty="0"/>
          </a:p>
        </p:txBody>
      </p:sp>
      <p:sp>
        <p:nvSpPr>
          <p:cNvPr id="64" name="Text 62"/>
          <p:cNvSpPr/>
          <p:nvPr/>
        </p:nvSpPr>
        <p:spPr>
          <a:xfrm>
            <a:off x="7725868" y="1963392"/>
            <a:ext cx="5522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检索 + 错误聚合</a:t>
            </a:r>
            <a:endParaRPr lang="en-US" sz="490" dirty="0"/>
          </a:p>
        </p:txBody>
      </p:sp>
      <p:sp>
        <p:nvSpPr>
          <p:cNvPr id="65" name="Text 63"/>
          <p:cNvSpPr/>
          <p:nvPr/>
        </p:nvSpPr>
        <p:spPr>
          <a:xfrm>
            <a:off x="4731434" y="2316419"/>
            <a:ext cx="14203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信创 DB (OceanBase / GaussDB)</a:t>
            </a:r>
            <a:endParaRPr lang="en-US" sz="575" dirty="0"/>
          </a:p>
        </p:txBody>
      </p:sp>
      <p:sp>
        <p:nvSpPr>
          <p:cNvPr id="66" name="Text 64"/>
          <p:cNvSpPr/>
          <p:nvPr/>
        </p:nvSpPr>
        <p:spPr>
          <a:xfrm>
            <a:off x="4591148" y="2511326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热指标</a:t>
            </a:r>
            <a:endParaRPr lang="en-US" sz="490" dirty="0"/>
          </a:p>
        </p:txBody>
      </p:sp>
      <p:sp>
        <p:nvSpPr>
          <p:cNvPr id="67" name="Text 65"/>
          <p:cNvSpPr/>
          <p:nvPr/>
        </p:nvSpPr>
        <p:spPr>
          <a:xfrm>
            <a:off x="5008769" y="2511326"/>
            <a:ext cx="21734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</a:t>
            </a:r>
            <a:endParaRPr lang="en-US" sz="490" dirty="0"/>
          </a:p>
        </p:txBody>
      </p:sp>
      <p:sp>
        <p:nvSpPr>
          <p:cNvPr id="68" name="Text 66"/>
          <p:cNvSpPr/>
          <p:nvPr/>
        </p:nvSpPr>
        <p:spPr>
          <a:xfrm>
            <a:off x="5715596" y="2511326"/>
            <a:ext cx="47090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trace_records</a:t>
            </a:r>
            <a:endParaRPr lang="en-US" sz="490" dirty="0"/>
          </a:p>
        </p:txBody>
      </p:sp>
      <p:sp>
        <p:nvSpPr>
          <p:cNvPr id="69" name="Text 67"/>
          <p:cNvSpPr/>
          <p:nvPr/>
        </p:nvSpPr>
        <p:spPr>
          <a:xfrm>
            <a:off x="6741068" y="2511326"/>
            <a:ext cx="47090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session_steps</a:t>
            </a:r>
            <a:endParaRPr lang="en-US" sz="490" dirty="0"/>
          </a:p>
        </p:txBody>
      </p:sp>
      <p:sp>
        <p:nvSpPr>
          <p:cNvPr id="70" name="Text 68"/>
          <p:cNvSpPr/>
          <p:nvPr/>
        </p:nvSpPr>
        <p:spPr>
          <a:xfrm>
            <a:off x="7777862" y="2426509"/>
            <a:ext cx="44826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log_records</a:t>
            </a:r>
            <a:endParaRPr lang="en-US" sz="490" dirty="0"/>
          </a:p>
        </p:txBody>
      </p:sp>
      <p:sp>
        <p:nvSpPr>
          <p:cNvPr id="71" name="Text 69"/>
          <p:cNvSpPr/>
          <p:nvPr/>
        </p:nvSpPr>
        <p:spPr>
          <a:xfrm>
            <a:off x="6680722" y="2327270"/>
            <a:ext cx="59160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Redis（Memory）</a:t>
            </a:r>
            <a:endParaRPr lang="en-US" sz="490" dirty="0"/>
          </a:p>
        </p:txBody>
      </p:sp>
      <p:sp>
        <p:nvSpPr>
          <p:cNvPr id="72" name="Text 70"/>
          <p:cNvSpPr/>
          <p:nvPr/>
        </p:nvSpPr>
        <p:spPr>
          <a:xfrm>
            <a:off x="6331256" y="2793959"/>
            <a:ext cx="27167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</a:t>
            </a:r>
            <a:endParaRPr lang="en-US" sz="625" dirty="0"/>
          </a:p>
        </p:txBody>
      </p:sp>
      <p:sp>
        <p:nvSpPr>
          <p:cNvPr id="73" name="Text 71"/>
          <p:cNvSpPr/>
          <p:nvPr/>
        </p:nvSpPr>
        <p:spPr>
          <a:xfrm>
            <a:off x="5570558" y="2929322"/>
            <a:ext cx="179307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ai.metrics / ai.trace / ai.session / ai.logs</a:t>
            </a:r>
            <a:endParaRPr lang="en-US" sz="490" dirty="0"/>
          </a:p>
        </p:txBody>
      </p:sp>
      <p:sp>
        <p:nvSpPr>
          <p:cNvPr id="74" name="Text 72"/>
          <p:cNvSpPr/>
          <p:nvPr/>
        </p:nvSpPr>
        <p:spPr>
          <a:xfrm>
            <a:off x="4676540" y="3275732"/>
            <a:ext cx="49807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@Scheduled</a:t>
            </a:r>
            <a:endParaRPr lang="en-US" sz="575" dirty="0"/>
          </a:p>
        </p:txBody>
      </p:sp>
      <p:sp>
        <p:nvSpPr>
          <p:cNvPr id="75" name="Text 73"/>
          <p:cNvSpPr/>
          <p:nvPr/>
        </p:nvSpPr>
        <p:spPr>
          <a:xfrm>
            <a:off x="4466770" y="3405670"/>
            <a:ext cx="91761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 30s 刷 MeterRegistry</a:t>
            </a:r>
            <a:endParaRPr lang="en-US" sz="490" dirty="0"/>
          </a:p>
        </p:txBody>
      </p:sp>
      <p:sp>
        <p:nvSpPr>
          <p:cNvPr id="76" name="Text 74"/>
          <p:cNvSpPr/>
          <p:nvPr/>
        </p:nvSpPr>
        <p:spPr>
          <a:xfrm>
            <a:off x="5476096" y="3275732"/>
            <a:ext cx="198199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ObsHandler：GraphObs + ChatObs → 三路事件</a:t>
            </a:r>
            <a:endParaRPr lang="en-US" sz="575" dirty="0"/>
          </a:p>
        </p:txBody>
      </p:sp>
      <p:sp>
        <p:nvSpPr>
          <p:cNvPr id="77" name="Text 75"/>
          <p:cNvSpPr/>
          <p:nvPr/>
        </p:nvSpPr>
        <p:spPr>
          <a:xfrm>
            <a:off x="5523483" y="3405670"/>
            <a:ext cx="188722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onStop 拆出 Trace/Session/Metric，各投独立 topic</a:t>
            </a:r>
            <a:endParaRPr lang="en-US" sz="490" dirty="0"/>
          </a:p>
        </p:txBody>
      </p:sp>
      <p:sp>
        <p:nvSpPr>
          <p:cNvPr id="78" name="Text 76"/>
          <p:cNvSpPr/>
          <p:nvPr/>
        </p:nvSpPr>
        <p:spPr>
          <a:xfrm>
            <a:off x="7678246" y="3288965"/>
            <a:ext cx="6474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KafkaAppender</a:t>
            </a:r>
            <a:endParaRPr lang="en-US" sz="575" dirty="0"/>
          </a:p>
        </p:txBody>
      </p:sp>
      <p:sp>
        <p:nvSpPr>
          <p:cNvPr id="79" name="Text 77"/>
          <p:cNvSpPr/>
          <p:nvPr/>
        </p:nvSpPr>
        <p:spPr>
          <a:xfrm>
            <a:off x="7696358" y="3418902"/>
            <a:ext cx="6112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Logback → Kafka</a:t>
            </a:r>
            <a:endParaRPr lang="en-US" sz="490" dirty="0"/>
          </a:p>
        </p:txBody>
      </p:sp>
      <p:sp>
        <p:nvSpPr>
          <p:cNvPr id="80" name="Text 78"/>
          <p:cNvSpPr/>
          <p:nvPr/>
        </p:nvSpPr>
        <p:spPr>
          <a:xfrm>
            <a:off x="5378823" y="3783970"/>
            <a:ext cx="217654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[标] ChatModel/GraphObs（SAA内置·零手动）+ Logback</a:t>
            </a:r>
            <a:endParaRPr lang="en-US" sz="520" dirty="0"/>
          </a:p>
        </p:txBody>
      </p:sp>
      <p:sp>
        <p:nvSpPr>
          <p:cNvPr id="81" name="Text 79"/>
          <p:cNvSpPr/>
          <p:nvPr/>
        </p:nvSpPr>
        <p:spPr>
          <a:xfrm>
            <a:off x="5788916" y="3919333"/>
            <a:ext cx="13563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[自] AOP/ObsChatModel→MeterRegistry→同上通道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377190" y="4608576"/>
            <a:ext cx="8389391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7190" y="4704588"/>
            <a:ext cx="515653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外部组件：</a:t>
            </a:r>
            <a:r>
              <a:rPr lang="en-US" sz="715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</a:t>
            </a: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会话数据源：SAA GraphObservation + ChatObservation · 零手动埋码</a:t>
            </a:r>
            <a:endParaRPr lang="en-US" sz="715" dirty="0"/>
          </a:p>
        </p:txBody>
      </p:sp>
      <p:sp>
        <p:nvSpPr>
          <p:cNvPr id="84" name="Shape 82"/>
          <p:cNvSpPr/>
          <p:nvPr/>
        </p:nvSpPr>
        <p:spPr>
          <a:xfrm>
            <a:off x="5705171" y="4677156"/>
            <a:ext cx="1020470" cy="192024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</p:sp>
      <p:sp>
        <p:nvSpPr>
          <p:cNvPr id="85" name="Text 83"/>
          <p:cNvSpPr/>
          <p:nvPr/>
        </p:nvSpPr>
        <p:spPr>
          <a:xfrm>
            <a:off x="5705171" y="4677156"/>
            <a:ext cx="102047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GraphObs 一管三</a:t>
            </a:r>
            <a:endParaRPr lang="en-US" sz="640" dirty="0"/>
          </a:p>
        </p:txBody>
      </p:sp>
      <p:sp>
        <p:nvSpPr>
          <p:cNvPr id="86" name="Shape 84"/>
          <p:cNvSpPr/>
          <p:nvPr/>
        </p:nvSpPr>
        <p:spPr>
          <a:xfrm>
            <a:off x="6725641" y="4677156"/>
            <a:ext cx="733806" cy="192024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</p:sp>
      <p:sp>
        <p:nvSpPr>
          <p:cNvPr id="87" name="Text 85"/>
          <p:cNvSpPr/>
          <p:nvPr/>
        </p:nvSpPr>
        <p:spPr>
          <a:xfrm>
            <a:off x="6725641" y="4677156"/>
            <a:ext cx="73380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零外部组件</a:t>
            </a:r>
            <a:endParaRPr lang="en-US" sz="640" dirty="0"/>
          </a:p>
        </p:txBody>
      </p:sp>
      <p:sp>
        <p:nvSpPr>
          <p:cNvPr id="88" name="Shape 86"/>
          <p:cNvSpPr/>
          <p:nvPr/>
        </p:nvSpPr>
        <p:spPr>
          <a:xfrm>
            <a:off x="7500595" y="4677156"/>
            <a:ext cx="1224839" cy="192024"/>
          </a:xfrm>
          <a:prstGeom prst="roundRect">
            <a:avLst>
              <a:gd name="adj" fmla="val 14286"/>
            </a:avLst>
          </a:prstGeom>
          <a:solidFill>
            <a:srgbClr val="FFF3E0"/>
          </a:solidFill>
        </p:spPr>
      </p:sp>
      <p:sp>
        <p:nvSpPr>
          <p:cNvPr id="89" name="Text 87"/>
          <p:cNvSpPr/>
          <p:nvPr/>
        </p:nvSpPr>
        <p:spPr>
          <a:xfrm>
            <a:off x="7500595" y="4677156"/>
            <a:ext cx="1224839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ObsHandler 多路分发</a:t>
            </a:r>
            <a:endParaRPr lang="en-US" sz="6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3566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 03 · 整改后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77190" y="494030"/>
            <a:ext cx="5009515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0A0A0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SAA + OTel + PG · 会话回放走 OTel Span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78240" y="246888"/>
            <a:ext cx="4800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002FA7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07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377190" y="1220724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Shape 4"/>
          <p:cNvSpPr/>
          <p:nvPr/>
        </p:nvSpPr>
        <p:spPr>
          <a:xfrm>
            <a:off x="377190" y="1220724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7" name="Text 5"/>
          <p:cNvSpPr/>
          <p:nvPr/>
        </p:nvSpPr>
        <p:spPr>
          <a:xfrm>
            <a:off x="528066" y="1309878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指标：标准 vs 自定义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28066" y="1549908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标准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：OTel Agent + SAA Obs → OTLP → Collector → Prometheus，零代码 + 自动 HTTP/JDBC Span。</a:t>
            </a: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自定义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：TTFT 装饰 stream()，业务 Counter 手写，经 reg-otlp 同通道推送 Collector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77190" y="2336292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0" name="Shape 8"/>
          <p:cNvSpPr/>
          <p:nvPr/>
        </p:nvSpPr>
        <p:spPr>
          <a:xfrm>
            <a:off x="377190" y="2336292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1" name="Text 9"/>
          <p:cNvSpPr/>
          <p:nvPr/>
        </p:nvSpPr>
        <p:spPr>
          <a:xfrm>
            <a:off x="528066" y="2425446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 + 会话（整改）：Span 树 = 会话上下文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8066" y="2665476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写 session_id → OTel Baggage → SpanProcessor.onStart 拷贝到 Span attribute。Agent 自动创建所有 Span，整棵树就是一个完整会话。Collector kafka exporter 按 session_id 分组投 ai.session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77190" y="3451860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4" name="Shape 12"/>
          <p:cNvSpPr/>
          <p:nvPr/>
        </p:nvSpPr>
        <p:spPr>
          <a:xfrm>
            <a:off x="377190" y="3451860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5" name="Text 13"/>
          <p:cNvSpPr/>
          <p:nvPr/>
        </p:nvSpPr>
        <p:spPr>
          <a:xfrm>
            <a:off x="528066" y="3541014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+ 展示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8066" y="3781044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日志：OTel Logback Appender → Collector → Kafka → 信创 DB。展示：Grafana 指标大屏；自研回放 UI 从 session_steps 按 session_id 拉取完整 Span 树 → 渲染 Graph 节点时间线 + 对话原文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169664" y="1220724"/>
            <a:ext cx="4594860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2308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7781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254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8727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2308" y="1621877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AECE7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7781" y="1621877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3254" y="1621877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58727" y="1621877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2308" y="209822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07781" y="2098226"/>
            <a:ext cx="1918626" cy="158783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7781" y="2296704"/>
            <a:ext cx="873306" cy="145551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3254" y="2296704"/>
            <a:ext cx="893154" cy="145551"/>
          </a:xfrm>
          <a:prstGeom prst="roundRect">
            <a:avLst>
              <a:gd name="adj" fmla="val 13636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8727" y="209822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3254" y="2098226"/>
            <a:ext cx="893154" cy="158783"/>
          </a:xfrm>
          <a:prstGeom prst="roundRect">
            <a:avLst>
              <a:gd name="adj" fmla="val 12500"/>
            </a:avLst>
          </a:prstGeom>
          <a:solidFill>
            <a:srgbClr val="FAECE7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2308" y="2587806"/>
            <a:ext cx="3969572" cy="410189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2308" y="3143546"/>
            <a:ext cx="1918626" cy="344030"/>
          </a:xfrm>
          <a:prstGeom prst="roundRect">
            <a:avLst>
              <a:gd name="adj" fmla="val 11538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3254" y="314354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58727" y="314354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2308" y="3672822"/>
            <a:ext cx="3969572" cy="344030"/>
          </a:xfrm>
          <a:prstGeom prst="roundRect">
            <a:avLst>
              <a:gd name="adj" fmla="val 11538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9989" y="1582181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49989" y="205853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349989" y="254811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349989" y="310385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4349989" y="3633126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flipV="1">
            <a:off x="4925577" y="2005602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6467094" y="2018834"/>
            <a:ext cx="0" cy="7939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flipH="1">
            <a:off x="5951050" y="2018834"/>
            <a:ext cx="516044" cy="0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6976523" y="2005602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8001995" y="2005602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4925577" y="2481950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5944434" y="2481950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6976523" y="2481950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8001995" y="2481950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5441621" y="3037691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6976523" y="3037691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8001995" y="3037691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5441621" y="3580199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 flipV="1">
            <a:off x="6976523" y="3580199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8001995" y="3580199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4664829" y="1402227"/>
            <a:ext cx="52149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 Metrics</a:t>
            </a:r>
            <a:endParaRPr lang="en-US" sz="520" dirty="0"/>
          </a:p>
        </p:txBody>
      </p:sp>
      <p:sp>
        <p:nvSpPr>
          <p:cNvPr id="58" name="Text 56"/>
          <p:cNvSpPr/>
          <p:nvPr/>
        </p:nvSpPr>
        <p:spPr>
          <a:xfrm>
            <a:off x="5837851" y="1402227"/>
            <a:ext cx="2263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</a:t>
            </a:r>
            <a:endParaRPr lang="en-US" sz="520" dirty="0"/>
          </a:p>
        </p:txBody>
      </p:sp>
      <p:sp>
        <p:nvSpPr>
          <p:cNvPr id="59" name="Text 57"/>
          <p:cNvSpPr/>
          <p:nvPr/>
        </p:nvSpPr>
        <p:spPr>
          <a:xfrm>
            <a:off x="6625215" y="1402227"/>
            <a:ext cx="70261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 (OTel Span)</a:t>
            </a:r>
            <a:endParaRPr lang="en-US" sz="520" dirty="0"/>
          </a:p>
        </p:txBody>
      </p:sp>
      <p:sp>
        <p:nvSpPr>
          <p:cNvPr id="60" name="Text 58"/>
          <p:cNvSpPr/>
          <p:nvPr/>
        </p:nvSpPr>
        <p:spPr>
          <a:xfrm>
            <a:off x="7809167" y="1402227"/>
            <a:ext cx="3856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Logs</a:t>
            </a:r>
            <a:endParaRPr lang="en-US" sz="520" dirty="0"/>
          </a:p>
        </p:txBody>
      </p:sp>
      <p:sp>
        <p:nvSpPr>
          <p:cNvPr id="61" name="Text 59"/>
          <p:cNvSpPr/>
          <p:nvPr/>
        </p:nvSpPr>
        <p:spPr>
          <a:xfrm>
            <a:off x="4735403" y="1675863"/>
            <a:ext cx="38034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</a:t>
            </a:r>
            <a:endParaRPr lang="en-US" sz="625" dirty="0"/>
          </a:p>
        </p:txBody>
      </p:sp>
      <p:sp>
        <p:nvSpPr>
          <p:cNvPr id="62" name="Text 60"/>
          <p:cNvSpPr/>
          <p:nvPr/>
        </p:nvSpPr>
        <p:spPr>
          <a:xfrm>
            <a:off x="4649450" y="1797993"/>
            <a:ext cx="5522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指标大屏 + 告警</a:t>
            </a:r>
            <a:endParaRPr lang="en-US" sz="490" dirty="0"/>
          </a:p>
        </p:txBody>
      </p:sp>
      <p:sp>
        <p:nvSpPr>
          <p:cNvPr id="63" name="Text 61"/>
          <p:cNvSpPr/>
          <p:nvPr/>
        </p:nvSpPr>
        <p:spPr>
          <a:xfrm>
            <a:off x="5678435" y="1675863"/>
            <a:ext cx="54522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自研回放 UI</a:t>
            </a:r>
            <a:endParaRPr lang="en-US" sz="625" dirty="0"/>
          </a:p>
        </p:txBody>
      </p:sp>
      <p:sp>
        <p:nvSpPr>
          <p:cNvPr id="64" name="Text 62"/>
          <p:cNvSpPr/>
          <p:nvPr/>
        </p:nvSpPr>
        <p:spPr>
          <a:xfrm>
            <a:off x="5517537" y="1797993"/>
            <a:ext cx="86702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 树 + session 视图</a:t>
            </a:r>
            <a:endParaRPr lang="en-US" sz="490" dirty="0"/>
          </a:p>
        </p:txBody>
      </p:sp>
      <p:sp>
        <p:nvSpPr>
          <p:cNvPr id="65" name="Text 63"/>
          <p:cNvSpPr/>
          <p:nvPr/>
        </p:nvSpPr>
        <p:spPr>
          <a:xfrm>
            <a:off x="6703908" y="1675863"/>
            <a:ext cx="54522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自研回放 UI</a:t>
            </a:r>
            <a:endParaRPr lang="en-US" sz="625" dirty="0"/>
          </a:p>
        </p:txBody>
      </p:sp>
      <p:sp>
        <p:nvSpPr>
          <p:cNvPr id="66" name="Text 64"/>
          <p:cNvSpPr/>
          <p:nvPr/>
        </p:nvSpPr>
        <p:spPr>
          <a:xfrm>
            <a:off x="6665264" y="1797993"/>
            <a:ext cx="62251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Span 时间线</a:t>
            </a:r>
            <a:endParaRPr lang="en-US" sz="490" dirty="0"/>
          </a:p>
        </p:txBody>
      </p:sp>
      <p:sp>
        <p:nvSpPr>
          <p:cNvPr id="67" name="Text 65"/>
          <p:cNvSpPr/>
          <p:nvPr/>
        </p:nvSpPr>
        <p:spPr>
          <a:xfrm>
            <a:off x="7763106" y="1675863"/>
            <a:ext cx="47777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自研日志页</a:t>
            </a:r>
            <a:endParaRPr lang="en-US" sz="625" dirty="0"/>
          </a:p>
        </p:txBody>
      </p:sp>
      <p:sp>
        <p:nvSpPr>
          <p:cNvPr id="68" name="Text 66"/>
          <p:cNvSpPr/>
          <p:nvPr/>
        </p:nvSpPr>
        <p:spPr>
          <a:xfrm>
            <a:off x="7899125" y="1797993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检索</a:t>
            </a:r>
            <a:endParaRPr lang="en-US" sz="490" dirty="0"/>
          </a:p>
        </p:txBody>
      </p:sp>
      <p:sp>
        <p:nvSpPr>
          <p:cNvPr id="69" name="Text 67"/>
          <p:cNvSpPr/>
          <p:nvPr/>
        </p:nvSpPr>
        <p:spPr>
          <a:xfrm>
            <a:off x="4653899" y="2178675"/>
            <a:ext cx="5433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</a:t>
            </a:r>
            <a:endParaRPr lang="en-US" sz="625" dirty="0"/>
          </a:p>
        </p:txBody>
      </p:sp>
      <p:sp>
        <p:nvSpPr>
          <p:cNvPr id="70" name="Text 68"/>
          <p:cNvSpPr/>
          <p:nvPr/>
        </p:nvSpPr>
        <p:spPr>
          <a:xfrm>
            <a:off x="4710577" y="2314038"/>
            <a:ext cx="43000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时序指标存储</a:t>
            </a:r>
            <a:endParaRPr lang="en-US" sz="490" dirty="0"/>
          </a:p>
        </p:txBody>
      </p:sp>
      <p:sp>
        <p:nvSpPr>
          <p:cNvPr id="71" name="Text 69"/>
          <p:cNvSpPr/>
          <p:nvPr/>
        </p:nvSpPr>
        <p:spPr>
          <a:xfrm>
            <a:off x="5756907" y="2151020"/>
            <a:ext cx="14203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信创 DB (OceanBase / GaussDB)</a:t>
            </a:r>
            <a:endParaRPr lang="en-US" sz="575" dirty="0"/>
          </a:p>
        </p:txBody>
      </p:sp>
      <p:sp>
        <p:nvSpPr>
          <p:cNvPr id="72" name="Text 70"/>
          <p:cNvSpPr/>
          <p:nvPr/>
        </p:nvSpPr>
        <p:spPr>
          <a:xfrm>
            <a:off x="5745203" y="2352542"/>
            <a:ext cx="39846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trace_spans</a:t>
            </a:r>
            <a:endParaRPr lang="en-US" sz="490" dirty="0"/>
          </a:p>
        </p:txBody>
      </p:sp>
      <p:sp>
        <p:nvSpPr>
          <p:cNvPr id="73" name="Text 71"/>
          <p:cNvSpPr/>
          <p:nvPr/>
        </p:nvSpPr>
        <p:spPr>
          <a:xfrm>
            <a:off x="6741068" y="2352542"/>
            <a:ext cx="47090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session_steps</a:t>
            </a:r>
            <a:endParaRPr lang="en-US" sz="490" dirty="0"/>
          </a:p>
        </p:txBody>
      </p:sp>
      <p:sp>
        <p:nvSpPr>
          <p:cNvPr id="74" name="Text 72"/>
          <p:cNvSpPr/>
          <p:nvPr/>
        </p:nvSpPr>
        <p:spPr>
          <a:xfrm>
            <a:off x="7777862" y="2261110"/>
            <a:ext cx="44826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log_records</a:t>
            </a:r>
            <a:endParaRPr lang="en-US" sz="490" dirty="0"/>
          </a:p>
        </p:txBody>
      </p:sp>
      <p:sp>
        <p:nvSpPr>
          <p:cNvPr id="75" name="Text 73"/>
          <p:cNvSpPr/>
          <p:nvPr/>
        </p:nvSpPr>
        <p:spPr>
          <a:xfrm>
            <a:off x="6680722" y="2161871"/>
            <a:ext cx="59160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Redis（Memory）</a:t>
            </a:r>
            <a:endParaRPr lang="en-US" sz="490" dirty="0"/>
          </a:p>
        </p:txBody>
      </p:sp>
      <p:sp>
        <p:nvSpPr>
          <p:cNvPr id="76" name="Text 74"/>
          <p:cNvSpPr/>
          <p:nvPr/>
        </p:nvSpPr>
        <p:spPr>
          <a:xfrm>
            <a:off x="5527465" y="2641792"/>
            <a:ext cx="187925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Collector（独立部署 · 中枢路由）</a:t>
            </a:r>
            <a:endParaRPr lang="en-US" sz="625" dirty="0"/>
          </a:p>
        </p:txBody>
      </p:sp>
      <p:sp>
        <p:nvSpPr>
          <p:cNvPr id="77" name="Text 75"/>
          <p:cNvSpPr/>
          <p:nvPr/>
        </p:nvSpPr>
        <p:spPr>
          <a:xfrm>
            <a:off x="5456033" y="2777154"/>
            <a:ext cx="202212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接收 OTLP → 采样/过滤/批处理 → 按 session_id 分组路由</a:t>
            </a:r>
            <a:endParaRPr lang="en-US" sz="490" dirty="0"/>
          </a:p>
        </p:txBody>
      </p:sp>
      <p:sp>
        <p:nvSpPr>
          <p:cNvPr id="78" name="Text 76"/>
          <p:cNvSpPr/>
          <p:nvPr/>
        </p:nvSpPr>
        <p:spPr>
          <a:xfrm>
            <a:off x="5094342" y="2888435"/>
            <a:ext cx="274550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 → Prometheus | Span(含session) → Kafka ai.session | 日志 → Kafka ai.logs</a:t>
            </a:r>
            <a:endParaRPr lang="en-US" sz="490" dirty="0"/>
          </a:p>
        </p:txBody>
      </p:sp>
      <p:sp>
        <p:nvSpPr>
          <p:cNvPr id="79" name="Text 77"/>
          <p:cNvSpPr/>
          <p:nvPr/>
        </p:nvSpPr>
        <p:spPr>
          <a:xfrm>
            <a:off x="5068065" y="3202957"/>
            <a:ext cx="74711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Micrometer OTLP</a:t>
            </a:r>
            <a:endParaRPr lang="en-US" sz="575" dirty="0"/>
          </a:p>
        </p:txBody>
      </p:sp>
      <p:sp>
        <p:nvSpPr>
          <p:cNvPr id="80" name="Text 78"/>
          <p:cNvSpPr/>
          <p:nvPr/>
        </p:nvSpPr>
        <p:spPr>
          <a:xfrm>
            <a:off x="4830347" y="3332894"/>
            <a:ext cx="122254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reg-otlp + tracing-bridge-otel</a:t>
            </a:r>
            <a:endParaRPr lang="en-US" sz="490" dirty="0"/>
          </a:p>
        </p:txBody>
      </p:sp>
      <p:sp>
        <p:nvSpPr>
          <p:cNvPr id="81" name="Text 79"/>
          <p:cNvSpPr/>
          <p:nvPr/>
        </p:nvSpPr>
        <p:spPr>
          <a:xfrm>
            <a:off x="6652773" y="3202957"/>
            <a:ext cx="6474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SpanProcessor</a:t>
            </a:r>
            <a:endParaRPr lang="en-US" sz="575" dirty="0"/>
          </a:p>
        </p:txBody>
      </p:sp>
      <p:sp>
        <p:nvSpPr>
          <p:cNvPr id="82" name="Text 80"/>
          <p:cNvSpPr/>
          <p:nvPr/>
        </p:nvSpPr>
        <p:spPr>
          <a:xfrm>
            <a:off x="6732013" y="3332894"/>
            <a:ext cx="48902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Baggage→Attr</a:t>
            </a:r>
            <a:endParaRPr lang="en-US" sz="490" dirty="0"/>
          </a:p>
        </p:txBody>
      </p:sp>
      <p:sp>
        <p:nvSpPr>
          <p:cNvPr id="83" name="Text 81"/>
          <p:cNvSpPr/>
          <p:nvPr/>
        </p:nvSpPr>
        <p:spPr>
          <a:xfrm>
            <a:off x="7703150" y="3216189"/>
            <a:ext cx="597691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Logback</a:t>
            </a:r>
            <a:endParaRPr lang="en-US" sz="575" dirty="0"/>
          </a:p>
        </p:txBody>
      </p:sp>
      <p:sp>
        <p:nvSpPr>
          <p:cNvPr id="84" name="Text 82"/>
          <p:cNvSpPr/>
          <p:nvPr/>
        </p:nvSpPr>
        <p:spPr>
          <a:xfrm>
            <a:off x="7696358" y="3346127"/>
            <a:ext cx="6112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appender → OTLP</a:t>
            </a:r>
            <a:endParaRPr lang="en-US" sz="490" dirty="0"/>
          </a:p>
        </p:txBody>
      </p:sp>
      <p:sp>
        <p:nvSpPr>
          <p:cNvPr id="85" name="Text 83"/>
          <p:cNvSpPr/>
          <p:nvPr/>
        </p:nvSpPr>
        <p:spPr>
          <a:xfrm>
            <a:off x="4921343" y="3724427"/>
            <a:ext cx="309150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[标] ChatModel/GraphObs + OTel Agent（Http/JDBC/Kafka Span）+ Logback</a:t>
            </a:r>
            <a:endParaRPr lang="en-US" sz="520" dirty="0"/>
          </a:p>
        </p:txBody>
      </p:sp>
      <p:sp>
        <p:nvSpPr>
          <p:cNvPr id="86" name="Text 84"/>
          <p:cNvSpPr/>
          <p:nvPr/>
        </p:nvSpPr>
        <p:spPr>
          <a:xfrm>
            <a:off x="5503654" y="3873021"/>
            <a:ext cx="1926881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[自] AOP/ObsChatModel→MeterRegistry→同上（reg-otlp→Collector）</a:t>
            </a:r>
            <a:endParaRPr lang="en-US" sz="490" dirty="0"/>
          </a:p>
        </p:txBody>
      </p:sp>
      <p:sp>
        <p:nvSpPr>
          <p:cNvPr id="87" name="Shape 85"/>
          <p:cNvSpPr/>
          <p:nvPr/>
        </p:nvSpPr>
        <p:spPr>
          <a:xfrm>
            <a:off x="377190" y="4608576"/>
            <a:ext cx="8389391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77190" y="4704588"/>
            <a:ext cx="4661383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 = OTel Span 树 · Filter 注入 session_id 到 Baggage · SpanProcessor 自动拷贝到 Attribute · 外部组件：Collector + PG</a:t>
            </a:r>
            <a:endParaRPr lang="en-US" sz="715" dirty="0"/>
          </a:p>
        </p:txBody>
      </p:sp>
      <p:sp>
        <p:nvSpPr>
          <p:cNvPr id="89" name="Shape 87"/>
          <p:cNvSpPr/>
          <p:nvPr/>
        </p:nvSpPr>
        <p:spPr>
          <a:xfrm>
            <a:off x="5210023" y="4677156"/>
            <a:ext cx="1297534" cy="192024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</p:sp>
      <p:sp>
        <p:nvSpPr>
          <p:cNvPr id="90" name="Text 88"/>
          <p:cNvSpPr/>
          <p:nvPr/>
        </p:nvSpPr>
        <p:spPr>
          <a:xfrm>
            <a:off x="5210023" y="4677156"/>
            <a:ext cx="129753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Agent 自动 Span</a:t>
            </a:r>
            <a:endParaRPr lang="en-US" sz="640" dirty="0"/>
          </a:p>
        </p:txBody>
      </p:sp>
      <p:sp>
        <p:nvSpPr>
          <p:cNvPr id="91" name="Shape 89"/>
          <p:cNvSpPr/>
          <p:nvPr/>
        </p:nvSpPr>
        <p:spPr>
          <a:xfrm>
            <a:off x="6507557" y="4677156"/>
            <a:ext cx="1209752" cy="192024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</p:sp>
      <p:sp>
        <p:nvSpPr>
          <p:cNvPr id="92" name="Text 90"/>
          <p:cNvSpPr/>
          <p:nvPr/>
        </p:nvSpPr>
        <p:spPr>
          <a:xfrm>
            <a:off x="6507557" y="4677156"/>
            <a:ext cx="120975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Baggage session_id</a:t>
            </a:r>
            <a:endParaRPr lang="en-US" sz="640" dirty="0"/>
          </a:p>
        </p:txBody>
      </p:sp>
      <p:sp>
        <p:nvSpPr>
          <p:cNvPr id="93" name="Shape 91"/>
          <p:cNvSpPr/>
          <p:nvPr/>
        </p:nvSpPr>
        <p:spPr>
          <a:xfrm>
            <a:off x="7758455" y="4677156"/>
            <a:ext cx="966978" cy="192024"/>
          </a:xfrm>
          <a:prstGeom prst="roundRect">
            <a:avLst>
              <a:gd name="adj" fmla="val 14286"/>
            </a:avLst>
          </a:prstGeom>
          <a:solidFill>
            <a:srgbClr val="FFF3E0"/>
          </a:solidFill>
        </p:spPr>
      </p:sp>
      <p:sp>
        <p:nvSpPr>
          <p:cNvPr id="94" name="Text 92"/>
          <p:cNvSpPr/>
          <p:nvPr/>
        </p:nvSpPr>
        <p:spPr>
          <a:xfrm>
            <a:off x="7758455" y="4677156"/>
            <a:ext cx="96697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 树 = 会话</a:t>
            </a:r>
            <a:endParaRPr lang="en-US" sz="6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3566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 04 · 整改后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3566160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0A0A0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SAA + OTel · 会话回放走 OTel Span（无需 PG）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78240" y="246888"/>
            <a:ext cx="4800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002FA7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08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377190" y="1220724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Shape 4"/>
          <p:cNvSpPr/>
          <p:nvPr/>
        </p:nvSpPr>
        <p:spPr>
          <a:xfrm>
            <a:off x="377190" y="1220724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7" name="Text 5"/>
          <p:cNvSpPr/>
          <p:nvPr/>
        </p:nvSpPr>
        <p:spPr>
          <a:xfrm>
            <a:off x="528066" y="1309878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指标：标准 vs 自定义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28066" y="1549908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标准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：OTel Agent + SAA Obs → OTLP → Collector → Kafka → 信创 DB+Redis，零代码。</a:t>
            </a: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自定义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：TTFT 装饰 stream()，业务 Counter 手写，经 reg-otlp 同通道推送，Collector kafka exporter 统一投递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77190" y="2336292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0" name="Shape 8"/>
          <p:cNvSpPr/>
          <p:nvPr/>
        </p:nvSpPr>
        <p:spPr>
          <a:xfrm>
            <a:off x="377190" y="2336292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1" name="Text 9"/>
          <p:cNvSpPr/>
          <p:nvPr/>
        </p:nvSpPr>
        <p:spPr>
          <a:xfrm>
            <a:off x="528066" y="2425446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 + 会话（整改）：Span 树直落 DB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8066" y="2665476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→ Baggage session_id → SpanProcessor → Span attribute。Collector tail_sampling（错误/慢 100% 保留）→ kafka exporter → 信创 DB session_steps + trace_spans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77190" y="3451860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4" name="Shape 12"/>
          <p:cNvSpPr/>
          <p:nvPr/>
        </p:nvSpPr>
        <p:spPr>
          <a:xfrm>
            <a:off x="377190" y="3451860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5" name="Text 13"/>
          <p:cNvSpPr/>
          <p:nvPr/>
        </p:nvSpPr>
        <p:spPr>
          <a:xfrm>
            <a:off x="528066" y="3541014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+ 展示 + 预留 PG 零改动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8066" y="3781044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日志：OTel Logback → Collector → Kafka → 信创 DB。展示：全自研前端（大屏+回放+日志）。预留：Collector yaml 加 prometheus exporter 即可，应用零改动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169664" y="1220724"/>
            <a:ext cx="4594860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2308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7781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254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8727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2308" y="1621877"/>
            <a:ext cx="1918626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3254" y="1621877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8727" y="1621877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2308" y="2098226"/>
            <a:ext cx="1918626" cy="158783"/>
          </a:xfrm>
          <a:prstGeom prst="roundRect">
            <a:avLst>
              <a:gd name="adj" fmla="val 25000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08772" y="2296704"/>
            <a:ext cx="370493" cy="132319"/>
          </a:xfrm>
          <a:prstGeom prst="roundRect">
            <a:avLst>
              <a:gd name="adj" fmla="val 15000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2193" y="2296704"/>
            <a:ext cx="370493" cy="132319"/>
          </a:xfrm>
          <a:prstGeom prst="roundRect">
            <a:avLst>
              <a:gd name="adj" fmla="val 15000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7781" y="2296704"/>
            <a:ext cx="893154" cy="132319"/>
          </a:xfrm>
          <a:prstGeom prst="roundRect">
            <a:avLst>
              <a:gd name="adj" fmla="val 15000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3254" y="2296704"/>
            <a:ext cx="893154" cy="132319"/>
          </a:xfrm>
          <a:prstGeom prst="roundRect">
            <a:avLst>
              <a:gd name="adj" fmla="val 15000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8727" y="209822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EEEDF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3254" y="2098226"/>
            <a:ext cx="893154" cy="158783"/>
          </a:xfrm>
          <a:prstGeom prst="roundRect">
            <a:avLst>
              <a:gd name="adj" fmla="val 12500"/>
            </a:avLst>
          </a:prstGeom>
          <a:solidFill>
            <a:srgbClr val="FAECE7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2308" y="2587806"/>
            <a:ext cx="3969572" cy="410189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2308" y="3143546"/>
            <a:ext cx="1918626" cy="344030"/>
          </a:xfrm>
          <a:prstGeom prst="roundRect">
            <a:avLst>
              <a:gd name="adj" fmla="val 11538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3254" y="314354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58727" y="3143546"/>
            <a:ext cx="893154" cy="344030"/>
          </a:xfrm>
          <a:prstGeom prst="roundRect">
            <a:avLst>
              <a:gd name="adj" fmla="val 11538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2308" y="3672822"/>
            <a:ext cx="3969572" cy="344030"/>
          </a:xfrm>
          <a:prstGeom prst="roundRect">
            <a:avLst>
              <a:gd name="adj" fmla="val 11538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9989" y="1582181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49989" y="205853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349989" y="254811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349989" y="310385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4349989" y="3633126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flipV="1">
            <a:off x="5441621" y="2005602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6976523" y="2005602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8001995" y="2005602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4918961" y="2481950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5951050" y="2481950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6976523" y="2481950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8001995" y="2481950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5441621" y="3037691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6976523" y="3037691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8001995" y="3037691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5441621" y="3580199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 flipV="1">
            <a:off x="6976523" y="3580199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8001995" y="3580199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4664829" y="1402227"/>
            <a:ext cx="52149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 Metrics</a:t>
            </a:r>
            <a:endParaRPr lang="en-US" sz="520" dirty="0"/>
          </a:p>
        </p:txBody>
      </p:sp>
      <p:sp>
        <p:nvSpPr>
          <p:cNvPr id="56" name="Text 54"/>
          <p:cNvSpPr/>
          <p:nvPr/>
        </p:nvSpPr>
        <p:spPr>
          <a:xfrm>
            <a:off x="5837851" y="1402227"/>
            <a:ext cx="2263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</a:t>
            </a:r>
            <a:endParaRPr lang="en-US" sz="520" dirty="0"/>
          </a:p>
        </p:txBody>
      </p:sp>
      <p:sp>
        <p:nvSpPr>
          <p:cNvPr id="57" name="Text 55"/>
          <p:cNvSpPr/>
          <p:nvPr/>
        </p:nvSpPr>
        <p:spPr>
          <a:xfrm>
            <a:off x="6625215" y="1402227"/>
            <a:ext cx="70261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 (OTel Span)</a:t>
            </a:r>
            <a:endParaRPr lang="en-US" sz="520" dirty="0"/>
          </a:p>
        </p:txBody>
      </p:sp>
      <p:sp>
        <p:nvSpPr>
          <p:cNvPr id="58" name="Text 56"/>
          <p:cNvSpPr/>
          <p:nvPr/>
        </p:nvSpPr>
        <p:spPr>
          <a:xfrm>
            <a:off x="7809167" y="1402227"/>
            <a:ext cx="3856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Logs</a:t>
            </a:r>
            <a:endParaRPr lang="en-US" sz="520" dirty="0"/>
          </a:p>
        </p:txBody>
      </p:sp>
      <p:sp>
        <p:nvSpPr>
          <p:cNvPr id="59" name="Text 57"/>
          <p:cNvSpPr/>
          <p:nvPr/>
        </p:nvSpPr>
        <p:spPr>
          <a:xfrm>
            <a:off x="5250510" y="1675863"/>
            <a:ext cx="38222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自研大屏</a:t>
            </a:r>
            <a:endParaRPr lang="en-US" sz="625" dirty="0"/>
          </a:p>
        </p:txBody>
      </p:sp>
      <p:sp>
        <p:nvSpPr>
          <p:cNvPr id="60" name="Text 58"/>
          <p:cNvSpPr/>
          <p:nvPr/>
        </p:nvSpPr>
        <p:spPr>
          <a:xfrm>
            <a:off x="4910445" y="1797993"/>
            <a:ext cx="106235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指标趋势，读 Redis / 信创 DB</a:t>
            </a:r>
            <a:endParaRPr lang="en-US" sz="490" dirty="0"/>
          </a:p>
        </p:txBody>
      </p:sp>
      <p:sp>
        <p:nvSpPr>
          <p:cNvPr id="61" name="Text 59"/>
          <p:cNvSpPr/>
          <p:nvPr/>
        </p:nvSpPr>
        <p:spPr>
          <a:xfrm>
            <a:off x="6703908" y="1675863"/>
            <a:ext cx="54522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自研回放 UI</a:t>
            </a:r>
            <a:endParaRPr lang="en-US" sz="625" dirty="0"/>
          </a:p>
        </p:txBody>
      </p:sp>
      <p:sp>
        <p:nvSpPr>
          <p:cNvPr id="62" name="Text 60"/>
          <p:cNvSpPr/>
          <p:nvPr/>
        </p:nvSpPr>
        <p:spPr>
          <a:xfrm>
            <a:off x="6731310" y="1797993"/>
            <a:ext cx="49042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 树时间线</a:t>
            </a:r>
            <a:endParaRPr lang="en-US" sz="490" dirty="0"/>
          </a:p>
        </p:txBody>
      </p:sp>
      <p:sp>
        <p:nvSpPr>
          <p:cNvPr id="63" name="Text 61"/>
          <p:cNvSpPr/>
          <p:nvPr/>
        </p:nvSpPr>
        <p:spPr>
          <a:xfrm>
            <a:off x="7763106" y="1675863"/>
            <a:ext cx="47777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自研日志页</a:t>
            </a:r>
            <a:endParaRPr lang="en-US" sz="625" dirty="0"/>
          </a:p>
        </p:txBody>
      </p:sp>
      <p:sp>
        <p:nvSpPr>
          <p:cNvPr id="64" name="Text 62"/>
          <p:cNvSpPr/>
          <p:nvPr/>
        </p:nvSpPr>
        <p:spPr>
          <a:xfrm>
            <a:off x="7725868" y="1797993"/>
            <a:ext cx="5522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检索 + 错误聚合</a:t>
            </a:r>
            <a:endParaRPr lang="en-US" sz="490" dirty="0"/>
          </a:p>
        </p:txBody>
      </p:sp>
      <p:sp>
        <p:nvSpPr>
          <p:cNvPr id="65" name="Text 63"/>
          <p:cNvSpPr/>
          <p:nvPr/>
        </p:nvSpPr>
        <p:spPr>
          <a:xfrm>
            <a:off x="4731434" y="2151020"/>
            <a:ext cx="14203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信创 DB (OceanBase / GaussDB)</a:t>
            </a:r>
            <a:endParaRPr lang="en-US" sz="575" dirty="0"/>
          </a:p>
        </p:txBody>
      </p:sp>
      <p:sp>
        <p:nvSpPr>
          <p:cNvPr id="66" name="Text 64"/>
          <p:cNvSpPr/>
          <p:nvPr/>
        </p:nvSpPr>
        <p:spPr>
          <a:xfrm>
            <a:off x="4591148" y="2345927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热指标</a:t>
            </a:r>
            <a:endParaRPr lang="en-US" sz="490" dirty="0"/>
          </a:p>
        </p:txBody>
      </p:sp>
      <p:sp>
        <p:nvSpPr>
          <p:cNvPr id="67" name="Text 65"/>
          <p:cNvSpPr/>
          <p:nvPr/>
        </p:nvSpPr>
        <p:spPr>
          <a:xfrm>
            <a:off x="5008769" y="2345927"/>
            <a:ext cx="21734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</a:t>
            </a:r>
            <a:endParaRPr lang="en-US" sz="490" dirty="0"/>
          </a:p>
        </p:txBody>
      </p:sp>
      <p:sp>
        <p:nvSpPr>
          <p:cNvPr id="68" name="Text 66"/>
          <p:cNvSpPr/>
          <p:nvPr/>
        </p:nvSpPr>
        <p:spPr>
          <a:xfrm>
            <a:off x="5751820" y="2345927"/>
            <a:ext cx="39846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trace_spans</a:t>
            </a:r>
            <a:endParaRPr lang="en-US" sz="490" dirty="0"/>
          </a:p>
        </p:txBody>
      </p:sp>
      <p:sp>
        <p:nvSpPr>
          <p:cNvPr id="69" name="Text 67"/>
          <p:cNvSpPr/>
          <p:nvPr/>
        </p:nvSpPr>
        <p:spPr>
          <a:xfrm>
            <a:off x="6741068" y="2345927"/>
            <a:ext cx="47090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session_steps</a:t>
            </a:r>
            <a:endParaRPr lang="en-US" sz="490" dirty="0"/>
          </a:p>
        </p:txBody>
      </p:sp>
      <p:sp>
        <p:nvSpPr>
          <p:cNvPr id="70" name="Text 68"/>
          <p:cNvSpPr/>
          <p:nvPr/>
        </p:nvSpPr>
        <p:spPr>
          <a:xfrm>
            <a:off x="7777862" y="2261110"/>
            <a:ext cx="44826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log_records</a:t>
            </a:r>
            <a:endParaRPr lang="en-US" sz="490" dirty="0"/>
          </a:p>
        </p:txBody>
      </p:sp>
      <p:sp>
        <p:nvSpPr>
          <p:cNvPr id="71" name="Text 69"/>
          <p:cNvSpPr/>
          <p:nvPr/>
        </p:nvSpPr>
        <p:spPr>
          <a:xfrm>
            <a:off x="6680722" y="2161871"/>
            <a:ext cx="59160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Redis（Memory）</a:t>
            </a:r>
            <a:endParaRPr lang="en-US" sz="490" dirty="0"/>
          </a:p>
        </p:txBody>
      </p:sp>
      <p:sp>
        <p:nvSpPr>
          <p:cNvPr id="72" name="Text 70"/>
          <p:cNvSpPr/>
          <p:nvPr/>
        </p:nvSpPr>
        <p:spPr>
          <a:xfrm>
            <a:off x="5527465" y="2641792"/>
            <a:ext cx="187925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Collector（独立部署 · 中枢路由）</a:t>
            </a:r>
            <a:endParaRPr lang="en-US" sz="625" dirty="0"/>
          </a:p>
        </p:txBody>
      </p:sp>
      <p:sp>
        <p:nvSpPr>
          <p:cNvPr id="73" name="Text 71"/>
          <p:cNvSpPr/>
          <p:nvPr/>
        </p:nvSpPr>
        <p:spPr>
          <a:xfrm>
            <a:off x="5401931" y="2777154"/>
            <a:ext cx="213032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接收 OTLP → tail_sampling → Kafka exporter → 四 topic</a:t>
            </a:r>
            <a:endParaRPr lang="en-US" sz="490" dirty="0"/>
          </a:p>
        </p:txBody>
      </p:sp>
      <p:sp>
        <p:nvSpPr>
          <p:cNvPr id="74" name="Text 72"/>
          <p:cNvSpPr/>
          <p:nvPr/>
        </p:nvSpPr>
        <p:spPr>
          <a:xfrm>
            <a:off x="5037509" y="2888435"/>
            <a:ext cx="285917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错误/慢请求 Span 100% 保留 | 正常流量按比例采样 | 批 PG 后加一行 prometheus exporter</a:t>
            </a:r>
            <a:endParaRPr lang="en-US" sz="490" dirty="0"/>
          </a:p>
        </p:txBody>
      </p:sp>
      <p:sp>
        <p:nvSpPr>
          <p:cNvPr id="75" name="Text 73"/>
          <p:cNvSpPr/>
          <p:nvPr/>
        </p:nvSpPr>
        <p:spPr>
          <a:xfrm>
            <a:off x="5068065" y="3202957"/>
            <a:ext cx="74711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Micrometer OTLP</a:t>
            </a:r>
            <a:endParaRPr lang="en-US" sz="575" dirty="0"/>
          </a:p>
        </p:txBody>
      </p:sp>
      <p:sp>
        <p:nvSpPr>
          <p:cNvPr id="76" name="Text 74"/>
          <p:cNvSpPr/>
          <p:nvPr/>
        </p:nvSpPr>
        <p:spPr>
          <a:xfrm>
            <a:off x="4830347" y="3332894"/>
            <a:ext cx="122254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reg-otlp + tracing-bridge-otel</a:t>
            </a:r>
            <a:endParaRPr lang="en-US" sz="490" dirty="0"/>
          </a:p>
        </p:txBody>
      </p:sp>
      <p:sp>
        <p:nvSpPr>
          <p:cNvPr id="77" name="Text 75"/>
          <p:cNvSpPr/>
          <p:nvPr/>
        </p:nvSpPr>
        <p:spPr>
          <a:xfrm>
            <a:off x="6428639" y="3202957"/>
            <a:ext cx="109576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+ SpanProcessor</a:t>
            </a:r>
            <a:endParaRPr lang="en-US" sz="575" dirty="0"/>
          </a:p>
        </p:txBody>
      </p:sp>
      <p:sp>
        <p:nvSpPr>
          <p:cNvPr id="78" name="Text 76"/>
          <p:cNvSpPr/>
          <p:nvPr/>
        </p:nvSpPr>
        <p:spPr>
          <a:xfrm>
            <a:off x="6630134" y="3332894"/>
            <a:ext cx="69277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session_id → Attr</a:t>
            </a:r>
            <a:endParaRPr lang="en-US" sz="490" dirty="0"/>
          </a:p>
        </p:txBody>
      </p:sp>
      <p:sp>
        <p:nvSpPr>
          <p:cNvPr id="79" name="Text 77"/>
          <p:cNvSpPr/>
          <p:nvPr/>
        </p:nvSpPr>
        <p:spPr>
          <a:xfrm>
            <a:off x="7703150" y="3216189"/>
            <a:ext cx="597691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Logback</a:t>
            </a:r>
            <a:endParaRPr lang="en-US" sz="575" dirty="0"/>
          </a:p>
        </p:txBody>
      </p:sp>
      <p:sp>
        <p:nvSpPr>
          <p:cNvPr id="80" name="Text 78"/>
          <p:cNvSpPr/>
          <p:nvPr/>
        </p:nvSpPr>
        <p:spPr>
          <a:xfrm>
            <a:off x="7696358" y="3346127"/>
            <a:ext cx="6112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appender → OTLP</a:t>
            </a:r>
            <a:endParaRPr lang="en-US" sz="490" dirty="0"/>
          </a:p>
        </p:txBody>
      </p:sp>
      <p:sp>
        <p:nvSpPr>
          <p:cNvPr id="81" name="Text 79"/>
          <p:cNvSpPr/>
          <p:nvPr/>
        </p:nvSpPr>
        <p:spPr>
          <a:xfrm>
            <a:off x="4921343" y="3724427"/>
            <a:ext cx="309150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[标] ChatModel/GraphObs + OTel Agent（Http/JDBC/Kafka Span）+ Logback</a:t>
            </a:r>
            <a:endParaRPr lang="en-US" sz="520" dirty="0"/>
          </a:p>
        </p:txBody>
      </p:sp>
      <p:sp>
        <p:nvSpPr>
          <p:cNvPr id="82" name="Text 80"/>
          <p:cNvSpPr/>
          <p:nvPr/>
        </p:nvSpPr>
        <p:spPr>
          <a:xfrm>
            <a:off x="5503654" y="3873021"/>
            <a:ext cx="1926881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[自] AOP/ObsChatModel→MeterRegistry→同上（reg-otlp→Collector）</a:t>
            </a:r>
            <a:endParaRPr lang="en-US" sz="490" dirty="0"/>
          </a:p>
        </p:txBody>
      </p:sp>
      <p:sp>
        <p:nvSpPr>
          <p:cNvPr id="83" name="Shape 81"/>
          <p:cNvSpPr/>
          <p:nvPr/>
        </p:nvSpPr>
        <p:spPr>
          <a:xfrm>
            <a:off x="377190" y="4608576"/>
            <a:ext cx="8389391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7190" y="4704588"/>
            <a:ext cx="49041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 = OTel Span 树 · Filter + Baggage + SpanProcessor · 外部组件：仅 OTel Collector · 预留 PG 零改动</a:t>
            </a:r>
            <a:endParaRPr lang="en-US" sz="715" dirty="0"/>
          </a:p>
        </p:txBody>
      </p:sp>
      <p:sp>
        <p:nvSpPr>
          <p:cNvPr id="85" name="Shape 83"/>
          <p:cNvSpPr/>
          <p:nvPr/>
        </p:nvSpPr>
        <p:spPr>
          <a:xfrm>
            <a:off x="5452796" y="4677156"/>
            <a:ext cx="1341425" cy="192024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</p:sp>
      <p:sp>
        <p:nvSpPr>
          <p:cNvPr id="86" name="Text 84"/>
          <p:cNvSpPr/>
          <p:nvPr/>
        </p:nvSpPr>
        <p:spPr>
          <a:xfrm>
            <a:off x="5452796" y="4677156"/>
            <a:ext cx="1341425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+ Agent 自动埋</a:t>
            </a:r>
            <a:endParaRPr lang="en-US" sz="640" dirty="0"/>
          </a:p>
        </p:txBody>
      </p:sp>
      <p:sp>
        <p:nvSpPr>
          <p:cNvPr id="87" name="Shape 85"/>
          <p:cNvSpPr/>
          <p:nvPr/>
        </p:nvSpPr>
        <p:spPr>
          <a:xfrm>
            <a:off x="6794221" y="4677156"/>
            <a:ext cx="942290" cy="192024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</p:sp>
      <p:sp>
        <p:nvSpPr>
          <p:cNvPr id="88" name="Text 86"/>
          <p:cNvSpPr/>
          <p:nvPr/>
        </p:nvSpPr>
        <p:spPr>
          <a:xfrm>
            <a:off x="6794221" y="4677156"/>
            <a:ext cx="94229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tail_sampling</a:t>
            </a:r>
            <a:endParaRPr lang="en-US" sz="640" dirty="0"/>
          </a:p>
        </p:txBody>
      </p:sp>
      <p:sp>
        <p:nvSpPr>
          <p:cNvPr id="89" name="Shape 87"/>
          <p:cNvSpPr/>
          <p:nvPr/>
        </p:nvSpPr>
        <p:spPr>
          <a:xfrm>
            <a:off x="7777658" y="4677156"/>
            <a:ext cx="947776" cy="192024"/>
          </a:xfrm>
          <a:prstGeom prst="roundRect">
            <a:avLst>
              <a:gd name="adj" fmla="val 14286"/>
            </a:avLst>
          </a:prstGeom>
          <a:solidFill>
            <a:srgbClr val="FFF3E0"/>
          </a:solidFill>
        </p:spPr>
      </p:sp>
      <p:sp>
        <p:nvSpPr>
          <p:cNvPr id="90" name="Text 88"/>
          <p:cNvSpPr/>
          <p:nvPr/>
        </p:nvSpPr>
        <p:spPr>
          <a:xfrm>
            <a:off x="7777658" y="4677156"/>
            <a:ext cx="94777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预留 PG 零改动</a:t>
            </a:r>
            <a:endParaRPr lang="en-US" sz="6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3566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 05 · 新增 · 现状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3566160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0A0A0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SAA + Grafana LGTM（VM / TEMPO / LOKI）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78240" y="246888"/>
            <a:ext cx="4800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002FA7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09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377190" y="1220724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Shape 4"/>
          <p:cNvSpPr/>
          <p:nvPr/>
        </p:nvSpPr>
        <p:spPr>
          <a:xfrm>
            <a:off x="377190" y="1220724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7" name="Text 5"/>
          <p:cNvSpPr/>
          <p:nvPr/>
        </p:nvSpPr>
        <p:spPr>
          <a:xfrm>
            <a:off x="528066" y="1309878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指标→VM · Trace→TEMPO · 日志→LOKI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28066" y="1549908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(VictoriaMetrics)：兼容Prometheus协议，替代Prometheus存储，更高压缩比。</a:t>
            </a: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：分布式Trace存储，ObsHandler→Kafka→Tempo。</a:t>
            </a: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LOKI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：日志聚合，KafkaAppender→Kafka→LOKI。三者在Grafana统一查看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77190" y="2336292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0" name="Shape 8"/>
          <p:cNvSpPr/>
          <p:nvPr/>
        </p:nvSpPr>
        <p:spPr>
          <a:xfrm>
            <a:off x="377190" y="2336292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1" name="Text 9"/>
          <p:cNvSpPr/>
          <p:nvPr/>
        </p:nvSpPr>
        <p:spPr>
          <a:xfrm>
            <a:off x="528066" y="2425446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指标：标准 vs 自定义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8066" y="2665476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标准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：SAA Obs→Micrometer→VM remote_write，零代码。</a:t>
            </a: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自定义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：TTFT装饰stream()；业务Counter经AOP写MeterRegistry，经reg-prometheus暴露，VM scrape同一端点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77190" y="3451860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4" name="Shape 12"/>
          <p:cNvSpPr/>
          <p:nvPr/>
        </p:nvSpPr>
        <p:spPr>
          <a:xfrm>
            <a:off x="377190" y="3451860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5" name="Text 13"/>
          <p:cNvSpPr/>
          <p:nvPr/>
        </p:nvSpPr>
        <p:spPr>
          <a:xfrm>
            <a:off x="528066" y="3541014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会话(现状)+展示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8066" y="3781044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会话：Advisor→Kafka→信创DB(现状)。展示：Grafana统一看指标/Trace/日志，自研回放UI从信创DB拉session数据。对比P1：不再需要自研日志页+Trace可视化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169664" y="1220724"/>
            <a:ext cx="4594860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2308" y="143663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7781" y="143663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254" y="143663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8727" y="143663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2308" y="1701268"/>
            <a:ext cx="3969572" cy="330798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2308" y="2177617"/>
            <a:ext cx="893154" cy="383726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7781" y="2177617"/>
            <a:ext cx="893154" cy="383726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3254" y="2177617"/>
            <a:ext cx="893154" cy="383726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8727" y="2177617"/>
            <a:ext cx="893154" cy="383726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07781" y="2720125"/>
            <a:ext cx="1918626" cy="357262"/>
          </a:xfrm>
          <a:prstGeom prst="roundRect">
            <a:avLst>
              <a:gd name="adj" fmla="val 11111"/>
            </a:avLst>
          </a:prstGeom>
          <a:solidFill>
            <a:srgbClr val="FAEEDA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5646" y="2720125"/>
            <a:ext cx="926234" cy="357262"/>
          </a:xfrm>
          <a:prstGeom prst="roundRect">
            <a:avLst>
              <a:gd name="adj" fmla="val 11111"/>
            </a:avLst>
          </a:prstGeom>
          <a:solidFill>
            <a:srgbClr val="FAEEDA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2308" y="2720125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F0F0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2308" y="3262633"/>
            <a:ext cx="893154" cy="317566"/>
          </a:xfrm>
          <a:prstGeom prst="roundRect">
            <a:avLst>
              <a:gd name="adj" fmla="val 125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7781" y="3262633"/>
            <a:ext cx="1918626" cy="317566"/>
          </a:xfrm>
          <a:prstGeom prst="roundRect">
            <a:avLst>
              <a:gd name="adj" fmla="val 125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58727" y="3262633"/>
            <a:ext cx="893154" cy="317566"/>
          </a:xfrm>
          <a:prstGeom prst="roundRect">
            <a:avLst>
              <a:gd name="adj" fmla="val 125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2308" y="3738982"/>
            <a:ext cx="1918626" cy="277870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3254" y="3738982"/>
            <a:ext cx="893154" cy="277870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58727" y="3738982"/>
            <a:ext cx="893154" cy="277870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9989" y="1661573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349989" y="2137921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49989" y="268043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349989" y="3222938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349989" y="3686054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flipV="1">
            <a:off x="4925577" y="20717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5951050" y="20717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6976523" y="20717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8001995" y="20717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4925577" y="2601038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5944434" y="2601038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6976523" y="2601038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8001995" y="2601038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4925577" y="3156778"/>
            <a:ext cx="0" cy="42342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6467094" y="3156778"/>
            <a:ext cx="0" cy="42342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8001995" y="3156778"/>
            <a:ext cx="0" cy="42342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5441621" y="3659591"/>
            <a:ext cx="0" cy="7939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 flipH="1">
            <a:off x="4925577" y="3659591"/>
            <a:ext cx="516044" cy="0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 flipV="1">
            <a:off x="5441621" y="3659591"/>
            <a:ext cx="0" cy="7939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5441621" y="3659591"/>
            <a:ext cx="1025473" cy="0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6976523" y="3659591"/>
            <a:ext cx="0" cy="7939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 flipV="1">
            <a:off x="8001995" y="3659591"/>
            <a:ext cx="0" cy="7939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4778028" y="1468387"/>
            <a:ext cx="2950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指标→VM</a:t>
            </a:r>
            <a:endParaRPr lang="en-US" sz="520" dirty="0"/>
          </a:p>
        </p:txBody>
      </p:sp>
      <p:sp>
        <p:nvSpPr>
          <p:cNvPr id="59" name="Text 57"/>
          <p:cNvSpPr/>
          <p:nvPr/>
        </p:nvSpPr>
        <p:spPr>
          <a:xfrm>
            <a:off x="5702012" y="1468387"/>
            <a:ext cx="49807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Trace→TEMPO</a:t>
            </a:r>
            <a:endParaRPr lang="en-US" sz="520" dirty="0"/>
          </a:p>
        </p:txBody>
      </p:sp>
      <p:sp>
        <p:nvSpPr>
          <p:cNvPr id="60" name="Text 58"/>
          <p:cNvSpPr/>
          <p:nvPr/>
        </p:nvSpPr>
        <p:spPr>
          <a:xfrm>
            <a:off x="6873653" y="1468387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</a:t>
            </a:r>
            <a:endParaRPr lang="en-US" sz="520" dirty="0"/>
          </a:p>
        </p:txBody>
      </p:sp>
      <p:sp>
        <p:nvSpPr>
          <p:cNvPr id="61" name="Text 59"/>
          <p:cNvSpPr/>
          <p:nvPr/>
        </p:nvSpPr>
        <p:spPr>
          <a:xfrm>
            <a:off x="7809167" y="1468387"/>
            <a:ext cx="3856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日志→LOKI</a:t>
            </a:r>
            <a:endParaRPr lang="en-US" sz="520" dirty="0"/>
          </a:p>
        </p:txBody>
      </p:sp>
      <p:sp>
        <p:nvSpPr>
          <p:cNvPr id="62" name="Text 60"/>
          <p:cNvSpPr/>
          <p:nvPr/>
        </p:nvSpPr>
        <p:spPr>
          <a:xfrm>
            <a:off x="5370079" y="1781718"/>
            <a:ext cx="219403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Grafana（统一可视化：指标/Trace/日志三合一）</a:t>
            </a:r>
            <a:endParaRPr lang="en-US" sz="625" dirty="0"/>
          </a:p>
        </p:txBody>
      </p:sp>
      <p:sp>
        <p:nvSpPr>
          <p:cNvPr id="63" name="Text 61"/>
          <p:cNvSpPr/>
          <p:nvPr/>
        </p:nvSpPr>
        <p:spPr>
          <a:xfrm>
            <a:off x="5448304" y="1917080"/>
            <a:ext cx="2037581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 datasource + TEMPO datasource + LOKI datasource</a:t>
            </a:r>
            <a:endParaRPr lang="en-US" sz="490" dirty="0"/>
          </a:p>
        </p:txBody>
      </p:sp>
      <p:sp>
        <p:nvSpPr>
          <p:cNvPr id="64" name="Text 62"/>
          <p:cNvSpPr/>
          <p:nvPr/>
        </p:nvSpPr>
        <p:spPr>
          <a:xfrm>
            <a:off x="4822707" y="2263492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</a:t>
            </a:r>
            <a:endParaRPr lang="en-US" sz="575" dirty="0"/>
          </a:p>
        </p:txBody>
      </p:sp>
      <p:sp>
        <p:nvSpPr>
          <p:cNvPr id="65" name="Text 63"/>
          <p:cNvSpPr/>
          <p:nvPr/>
        </p:nvSpPr>
        <p:spPr>
          <a:xfrm>
            <a:off x="4619940" y="2380197"/>
            <a:ext cx="6112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VictoriaMetrics</a:t>
            </a:r>
            <a:endParaRPr lang="en-US" sz="490" dirty="0"/>
          </a:p>
        </p:txBody>
      </p:sp>
      <p:sp>
        <p:nvSpPr>
          <p:cNvPr id="66" name="Text 64"/>
          <p:cNvSpPr/>
          <p:nvPr/>
        </p:nvSpPr>
        <p:spPr>
          <a:xfrm>
            <a:off x="4675759" y="2478245"/>
            <a:ext cx="49963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Prom兼容·高压缩</a:t>
            </a:r>
            <a:endParaRPr lang="en-US" sz="490" dirty="0"/>
          </a:p>
        </p:txBody>
      </p:sp>
      <p:sp>
        <p:nvSpPr>
          <p:cNvPr id="67" name="Text 65"/>
          <p:cNvSpPr/>
          <p:nvPr/>
        </p:nvSpPr>
        <p:spPr>
          <a:xfrm>
            <a:off x="5826531" y="2263492"/>
            <a:ext cx="24903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</a:t>
            </a:r>
            <a:endParaRPr lang="en-US" sz="575" dirty="0"/>
          </a:p>
        </p:txBody>
      </p:sp>
      <p:sp>
        <p:nvSpPr>
          <p:cNvPr id="68" name="Text 66"/>
          <p:cNvSpPr/>
          <p:nvPr/>
        </p:nvSpPr>
        <p:spPr>
          <a:xfrm>
            <a:off x="5741671" y="2380197"/>
            <a:ext cx="4187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分布式Trace</a:t>
            </a:r>
            <a:endParaRPr lang="en-US" sz="490" dirty="0"/>
          </a:p>
        </p:txBody>
      </p:sp>
      <p:sp>
        <p:nvSpPr>
          <p:cNvPr id="69" name="Text 67"/>
          <p:cNvSpPr/>
          <p:nvPr/>
        </p:nvSpPr>
        <p:spPr>
          <a:xfrm>
            <a:off x="5814899" y="2478245"/>
            <a:ext cx="27230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OTLP接收</a:t>
            </a:r>
            <a:endParaRPr lang="en-US" sz="490" dirty="0"/>
          </a:p>
        </p:txBody>
      </p:sp>
      <p:sp>
        <p:nvSpPr>
          <p:cNvPr id="70" name="Text 68"/>
          <p:cNvSpPr/>
          <p:nvPr/>
        </p:nvSpPr>
        <p:spPr>
          <a:xfrm>
            <a:off x="6839123" y="2237028"/>
            <a:ext cx="27480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信创DB</a:t>
            </a:r>
            <a:endParaRPr lang="en-US" sz="575" dirty="0"/>
          </a:p>
        </p:txBody>
      </p:sp>
      <p:sp>
        <p:nvSpPr>
          <p:cNvPr id="71" name="Text 69"/>
          <p:cNvSpPr/>
          <p:nvPr/>
        </p:nvSpPr>
        <p:spPr>
          <a:xfrm>
            <a:off x="6704845" y="2372390"/>
            <a:ext cx="5433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session_records</a:t>
            </a:r>
            <a:endParaRPr lang="en-US" sz="490" dirty="0"/>
          </a:p>
        </p:txBody>
      </p:sp>
      <p:sp>
        <p:nvSpPr>
          <p:cNvPr id="72" name="Text 70"/>
          <p:cNvSpPr/>
          <p:nvPr/>
        </p:nvSpPr>
        <p:spPr>
          <a:xfrm>
            <a:off x="7899125" y="2263492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LOKI</a:t>
            </a:r>
            <a:endParaRPr lang="en-US" sz="575" dirty="0"/>
          </a:p>
        </p:txBody>
      </p:sp>
      <p:sp>
        <p:nvSpPr>
          <p:cNvPr id="73" name="Text 71"/>
          <p:cNvSpPr/>
          <p:nvPr/>
        </p:nvSpPr>
        <p:spPr>
          <a:xfrm>
            <a:off x="7858662" y="2380197"/>
            <a:ext cx="28666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日志聚合</a:t>
            </a:r>
            <a:endParaRPr lang="en-US" sz="490" dirty="0"/>
          </a:p>
        </p:txBody>
      </p:sp>
      <p:sp>
        <p:nvSpPr>
          <p:cNvPr id="74" name="Text 72"/>
          <p:cNvSpPr/>
          <p:nvPr/>
        </p:nvSpPr>
        <p:spPr>
          <a:xfrm>
            <a:off x="7847732" y="2478245"/>
            <a:ext cx="30852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Label索引</a:t>
            </a:r>
            <a:endParaRPr lang="en-US" sz="490" dirty="0"/>
          </a:p>
        </p:txBody>
      </p:sp>
      <p:sp>
        <p:nvSpPr>
          <p:cNvPr id="75" name="Text 73"/>
          <p:cNvSpPr/>
          <p:nvPr/>
        </p:nvSpPr>
        <p:spPr>
          <a:xfrm>
            <a:off x="6342575" y="2792768"/>
            <a:ext cx="24903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</a:t>
            </a:r>
            <a:endParaRPr lang="en-US" sz="575" dirty="0"/>
          </a:p>
        </p:txBody>
      </p:sp>
      <p:sp>
        <p:nvSpPr>
          <p:cNvPr id="76" name="Text 74"/>
          <p:cNvSpPr/>
          <p:nvPr/>
        </p:nvSpPr>
        <p:spPr>
          <a:xfrm>
            <a:off x="5611310" y="2922705"/>
            <a:ext cx="171156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ai.trace→TEMPO / ai.session / ai.logs→LOKI</a:t>
            </a:r>
            <a:endParaRPr lang="en-US" sz="490" dirty="0"/>
          </a:p>
        </p:txBody>
      </p:sp>
      <p:sp>
        <p:nvSpPr>
          <p:cNvPr id="77" name="Text 75"/>
          <p:cNvSpPr/>
          <p:nvPr/>
        </p:nvSpPr>
        <p:spPr>
          <a:xfrm>
            <a:off x="7864244" y="2806000"/>
            <a:ext cx="24903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</a:t>
            </a:r>
            <a:endParaRPr lang="en-US" sz="575" dirty="0"/>
          </a:p>
        </p:txBody>
      </p:sp>
      <p:sp>
        <p:nvSpPr>
          <p:cNvPr id="78" name="Text 76"/>
          <p:cNvSpPr/>
          <p:nvPr/>
        </p:nvSpPr>
        <p:spPr>
          <a:xfrm>
            <a:off x="7744253" y="2935937"/>
            <a:ext cx="48902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ai.logs→LOKI</a:t>
            </a:r>
            <a:endParaRPr lang="en-US" sz="490" dirty="0"/>
          </a:p>
        </p:txBody>
      </p:sp>
      <p:sp>
        <p:nvSpPr>
          <p:cNvPr id="79" name="Text 77"/>
          <p:cNvSpPr/>
          <p:nvPr/>
        </p:nvSpPr>
        <p:spPr>
          <a:xfrm>
            <a:off x="4721819" y="2824657"/>
            <a:ext cx="40751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 scrape</a:t>
            </a:r>
            <a:endParaRPr lang="en-US" sz="520" dirty="0"/>
          </a:p>
        </p:txBody>
      </p:sp>
      <p:sp>
        <p:nvSpPr>
          <p:cNvPr id="80" name="Text 78"/>
          <p:cNvSpPr/>
          <p:nvPr/>
        </p:nvSpPr>
        <p:spPr>
          <a:xfrm>
            <a:off x="4640315" y="2935937"/>
            <a:ext cx="57052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/actuator/prom</a:t>
            </a:r>
            <a:endParaRPr lang="en-US" sz="490" dirty="0"/>
          </a:p>
        </p:txBody>
      </p:sp>
      <p:sp>
        <p:nvSpPr>
          <p:cNvPr id="81" name="Text 79"/>
          <p:cNvSpPr/>
          <p:nvPr/>
        </p:nvSpPr>
        <p:spPr>
          <a:xfrm>
            <a:off x="4699179" y="3340701"/>
            <a:ext cx="45279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Micrometer</a:t>
            </a:r>
            <a:endParaRPr lang="en-US" sz="520" dirty="0"/>
          </a:p>
        </p:txBody>
      </p:sp>
      <p:sp>
        <p:nvSpPr>
          <p:cNvPr id="82" name="Text 80"/>
          <p:cNvSpPr/>
          <p:nvPr/>
        </p:nvSpPr>
        <p:spPr>
          <a:xfrm>
            <a:off x="4659989" y="3465214"/>
            <a:ext cx="53117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VM兼容Prom协议</a:t>
            </a:r>
            <a:endParaRPr lang="en-US" sz="490" dirty="0"/>
          </a:p>
        </p:txBody>
      </p:sp>
      <p:sp>
        <p:nvSpPr>
          <p:cNvPr id="83" name="Text 81"/>
          <p:cNvSpPr/>
          <p:nvPr/>
        </p:nvSpPr>
        <p:spPr>
          <a:xfrm>
            <a:off x="6240696" y="3340701"/>
            <a:ext cx="45279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ObsHandler</a:t>
            </a:r>
            <a:endParaRPr lang="en-US" sz="520" dirty="0"/>
          </a:p>
        </p:txBody>
      </p:sp>
      <p:sp>
        <p:nvSpPr>
          <p:cNvPr id="84" name="Text 82"/>
          <p:cNvSpPr/>
          <p:nvPr/>
        </p:nvSpPr>
        <p:spPr>
          <a:xfrm>
            <a:off x="6018827" y="3465214"/>
            <a:ext cx="89653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TraceEvent→Kafka→TEMPO</a:t>
            </a:r>
            <a:endParaRPr lang="en-US" sz="490" dirty="0"/>
          </a:p>
        </p:txBody>
      </p:sp>
      <p:sp>
        <p:nvSpPr>
          <p:cNvPr id="85" name="Text 83"/>
          <p:cNvSpPr/>
          <p:nvPr/>
        </p:nvSpPr>
        <p:spPr>
          <a:xfrm>
            <a:off x="7707678" y="3340701"/>
            <a:ext cx="58863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KafkaAppender</a:t>
            </a:r>
            <a:endParaRPr lang="en-US" sz="520" dirty="0"/>
          </a:p>
        </p:txBody>
      </p:sp>
      <p:sp>
        <p:nvSpPr>
          <p:cNvPr id="86" name="Text 84"/>
          <p:cNvSpPr/>
          <p:nvPr/>
        </p:nvSpPr>
        <p:spPr>
          <a:xfrm>
            <a:off x="7757486" y="3465214"/>
            <a:ext cx="48902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Logback→LOKI</a:t>
            </a:r>
            <a:endParaRPr lang="en-US" sz="490" dirty="0"/>
          </a:p>
        </p:txBody>
      </p:sp>
      <p:sp>
        <p:nvSpPr>
          <p:cNvPr id="87" name="Text 85"/>
          <p:cNvSpPr/>
          <p:nvPr/>
        </p:nvSpPr>
        <p:spPr>
          <a:xfrm>
            <a:off x="4756182" y="3830282"/>
            <a:ext cx="137087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[标]ChatModel/GraphObs(SAA内置)</a:t>
            </a:r>
            <a:endParaRPr lang="en-US" sz="520" dirty="0"/>
          </a:p>
        </p:txBody>
      </p:sp>
      <p:sp>
        <p:nvSpPr>
          <p:cNvPr id="88" name="Text 86"/>
          <p:cNvSpPr/>
          <p:nvPr/>
        </p:nvSpPr>
        <p:spPr>
          <a:xfrm>
            <a:off x="4763989" y="3952412"/>
            <a:ext cx="135526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[自]AOP/ObsChatModel→MeterRegistry</a:t>
            </a:r>
            <a:endParaRPr lang="en-US" sz="490" dirty="0"/>
          </a:p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</a:t>
            </a:r>
            <a:endParaRPr lang="en-US" sz="490" dirty="0"/>
          </a:p>
        </p:txBody>
      </p:sp>
      <p:sp>
        <p:nvSpPr>
          <p:cNvPr id="89" name="Text 87"/>
          <p:cNvSpPr/>
          <p:nvPr/>
        </p:nvSpPr>
        <p:spPr>
          <a:xfrm>
            <a:off x="6786036" y="3920523"/>
            <a:ext cx="38097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Memory+会话</a:t>
            </a:r>
            <a:endParaRPr lang="en-US" sz="490" dirty="0"/>
          </a:p>
        </p:txBody>
      </p:sp>
      <p:sp>
        <p:nvSpPr>
          <p:cNvPr id="90" name="Text 88"/>
          <p:cNvSpPr/>
          <p:nvPr/>
        </p:nvSpPr>
        <p:spPr>
          <a:xfrm>
            <a:off x="7843517" y="3830282"/>
            <a:ext cx="31695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Logback</a:t>
            </a:r>
            <a:endParaRPr lang="en-US" sz="520" dirty="0"/>
          </a:p>
        </p:txBody>
      </p:sp>
      <p:sp>
        <p:nvSpPr>
          <p:cNvPr id="91" name="Shape 89"/>
          <p:cNvSpPr/>
          <p:nvPr/>
        </p:nvSpPr>
        <p:spPr>
          <a:xfrm>
            <a:off x="377190" y="4608576"/>
            <a:ext cx="8389391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77190" y="4704588"/>
            <a:ext cx="583821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DB：</a:t>
            </a:r>
            <a:r>
              <a:rPr lang="en-US" sz="715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VM+TEMPO+LOKI</a:t>
            </a: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（Grafana LGTM Stack）· Langfuse不可用(需PostgreSQL·信创不批)· Grafana统一前端</a:t>
            </a:r>
            <a:endParaRPr lang="en-US" sz="715" dirty="0"/>
          </a:p>
        </p:txBody>
      </p:sp>
      <p:sp>
        <p:nvSpPr>
          <p:cNvPr id="93" name="Shape 91"/>
          <p:cNvSpPr/>
          <p:nvPr/>
        </p:nvSpPr>
        <p:spPr>
          <a:xfrm>
            <a:off x="6386855" y="4677156"/>
            <a:ext cx="781812" cy="192024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</p:sp>
      <p:sp>
        <p:nvSpPr>
          <p:cNvPr id="94" name="Text 92"/>
          <p:cNvSpPr/>
          <p:nvPr/>
        </p:nvSpPr>
        <p:spPr>
          <a:xfrm>
            <a:off x="6386855" y="4677156"/>
            <a:ext cx="7818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LGTM Stack</a:t>
            </a:r>
            <a:endParaRPr lang="en-US" sz="640" dirty="0"/>
          </a:p>
        </p:txBody>
      </p:sp>
      <p:sp>
        <p:nvSpPr>
          <p:cNvPr id="95" name="Shape 93"/>
          <p:cNvSpPr/>
          <p:nvPr/>
        </p:nvSpPr>
        <p:spPr>
          <a:xfrm>
            <a:off x="7168667" y="4677156"/>
            <a:ext cx="913486" cy="192024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</p:sp>
      <p:sp>
        <p:nvSpPr>
          <p:cNvPr id="96" name="Text 94"/>
          <p:cNvSpPr/>
          <p:nvPr/>
        </p:nvSpPr>
        <p:spPr>
          <a:xfrm>
            <a:off x="7168667" y="4677156"/>
            <a:ext cx="91348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Grafana三合一</a:t>
            </a:r>
            <a:endParaRPr lang="en-US" sz="640" dirty="0"/>
          </a:p>
        </p:txBody>
      </p:sp>
      <p:sp>
        <p:nvSpPr>
          <p:cNvPr id="97" name="Shape 95"/>
          <p:cNvSpPr/>
          <p:nvPr/>
        </p:nvSpPr>
        <p:spPr>
          <a:xfrm>
            <a:off x="8123301" y="4677156"/>
            <a:ext cx="602132" cy="192024"/>
          </a:xfrm>
          <a:prstGeom prst="roundRect">
            <a:avLst>
              <a:gd name="adj" fmla="val 14286"/>
            </a:avLst>
          </a:prstGeom>
          <a:solidFill>
            <a:srgbClr val="FFF3E0"/>
          </a:solidFill>
        </p:spPr>
      </p:sp>
      <p:sp>
        <p:nvSpPr>
          <p:cNvPr id="98" name="Text 96"/>
          <p:cNvSpPr/>
          <p:nvPr/>
        </p:nvSpPr>
        <p:spPr>
          <a:xfrm>
            <a:off x="8123301" y="4677156"/>
            <a:ext cx="60213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SAA内置</a:t>
            </a:r>
            <a:endParaRPr lang="en-US" sz="6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3566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 06 · 新增 · 现状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3566160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0A0A0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SAA + OTel + Grafana LGTM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78240" y="246888"/>
            <a:ext cx="4800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002FA7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10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377190" y="1220724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Shape 4"/>
          <p:cNvSpPr/>
          <p:nvPr/>
        </p:nvSpPr>
        <p:spPr>
          <a:xfrm>
            <a:off x="377190" y="1220724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7" name="Text 5"/>
          <p:cNvSpPr/>
          <p:nvPr/>
        </p:nvSpPr>
        <p:spPr>
          <a:xfrm>
            <a:off x="528066" y="1309878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Collector→VM/TEMPO/LOKI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28066" y="1549908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Collector接收OTLP→多路分发：指标→VM(remote_write)，Trace→TEMPO(OTLP)，日志→LOKI(Loki exporter)。Agent自动覆盖HTTP/JDBC/Kafka全链路Span。Grafana三合一查看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77190" y="2336292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0" name="Shape 8"/>
          <p:cNvSpPr/>
          <p:nvPr/>
        </p:nvSpPr>
        <p:spPr>
          <a:xfrm>
            <a:off x="377190" y="2336292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1" name="Text 9"/>
          <p:cNvSpPr/>
          <p:nvPr/>
        </p:nvSpPr>
        <p:spPr>
          <a:xfrm>
            <a:off x="528066" y="2425446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指标：标准 vs 自定义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8066" y="2665476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标准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：OTel Agent自动Span+指标→OTLP→Collector→VM，零代码。</a:t>
            </a:r>
            <a:r>
              <a:rPr lang="en-US" sz="79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自定义</a:t>
            </a: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：TTFT装饰stream()；业务Counter经reg-otlp推送Collector，统一路由到VM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77190" y="3451860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4" name="Shape 12"/>
          <p:cNvSpPr/>
          <p:nvPr/>
        </p:nvSpPr>
        <p:spPr>
          <a:xfrm>
            <a:off x="377190" y="3451860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5" name="Text 13"/>
          <p:cNvSpPr/>
          <p:nvPr/>
        </p:nvSpPr>
        <p:spPr>
          <a:xfrm>
            <a:off x="528066" y="3541014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会话(现状)+展示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8066" y="3781044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会话：Advisor→Kafka→信创DB。展示：Grafana统一看指标(VM)+Trace(TEMPO)+日志(LOKI)，自研回放UI从信创DB拉session数据。对比P3：不再需要Prometheus+Jaeger+自研日志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169664" y="1220724"/>
            <a:ext cx="4594860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2308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7781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254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8727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2308" y="1635109"/>
            <a:ext cx="3969572" cy="330798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2308" y="2111457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7781" y="2111457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3254" y="2111457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8727" y="2111457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2308" y="2627501"/>
            <a:ext cx="3969572" cy="410189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2308" y="3196474"/>
            <a:ext cx="1918626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3254" y="3196474"/>
            <a:ext cx="893154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8727" y="3196474"/>
            <a:ext cx="893154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2308" y="3712518"/>
            <a:ext cx="1918626" cy="277870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3254" y="3712518"/>
            <a:ext cx="893154" cy="277870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58727" y="3712518"/>
            <a:ext cx="893154" cy="277870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9989" y="1595413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4349989" y="2084993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4349989" y="2587806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349989" y="3156778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49989" y="3659591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4925577" y="200560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5951050" y="200560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6976523" y="200560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8001995" y="200560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4925577" y="2508414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5951050" y="2508414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6976523" y="2508414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8001995" y="2508414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5441621" y="3077387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6976523" y="3077387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8001995" y="3077387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5441621" y="36066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6976523" y="36066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 flipV="1">
            <a:off x="8001995" y="36066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4778028" y="1402227"/>
            <a:ext cx="2950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指标→VM</a:t>
            </a:r>
            <a:endParaRPr lang="en-US" sz="520" dirty="0"/>
          </a:p>
        </p:txBody>
      </p:sp>
      <p:sp>
        <p:nvSpPr>
          <p:cNvPr id="54" name="Text 52"/>
          <p:cNvSpPr/>
          <p:nvPr/>
        </p:nvSpPr>
        <p:spPr>
          <a:xfrm>
            <a:off x="5702012" y="1402227"/>
            <a:ext cx="49807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Trace→TEMPO</a:t>
            </a:r>
            <a:endParaRPr lang="en-US" sz="520" dirty="0"/>
          </a:p>
        </p:txBody>
      </p:sp>
      <p:sp>
        <p:nvSpPr>
          <p:cNvPr id="55" name="Text 53"/>
          <p:cNvSpPr/>
          <p:nvPr/>
        </p:nvSpPr>
        <p:spPr>
          <a:xfrm>
            <a:off x="6873653" y="1402227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</a:t>
            </a:r>
            <a:endParaRPr lang="en-US" sz="520" dirty="0"/>
          </a:p>
        </p:txBody>
      </p:sp>
      <p:sp>
        <p:nvSpPr>
          <p:cNvPr id="56" name="Text 54"/>
          <p:cNvSpPr/>
          <p:nvPr/>
        </p:nvSpPr>
        <p:spPr>
          <a:xfrm>
            <a:off x="7809167" y="1402227"/>
            <a:ext cx="3856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日志→LOKI</a:t>
            </a:r>
            <a:endParaRPr lang="en-US" sz="520" dirty="0"/>
          </a:p>
        </p:txBody>
      </p:sp>
      <p:sp>
        <p:nvSpPr>
          <p:cNvPr id="57" name="Text 55"/>
          <p:cNvSpPr/>
          <p:nvPr/>
        </p:nvSpPr>
        <p:spPr>
          <a:xfrm>
            <a:off x="5541517" y="1715558"/>
            <a:ext cx="18511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Grafana（VM+TEMPO+LOKI三合一数据源）</a:t>
            </a:r>
            <a:endParaRPr lang="en-US" sz="625" dirty="0"/>
          </a:p>
        </p:txBody>
      </p:sp>
      <p:sp>
        <p:nvSpPr>
          <p:cNvPr id="58" name="Text 56"/>
          <p:cNvSpPr/>
          <p:nvPr/>
        </p:nvSpPr>
        <p:spPr>
          <a:xfrm>
            <a:off x="5694921" y="1850921"/>
            <a:ext cx="154434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统一大屏：指标趋势·Trace链路·日志检索·告警</a:t>
            </a:r>
            <a:endParaRPr lang="en-US" sz="490" dirty="0"/>
          </a:p>
        </p:txBody>
      </p:sp>
      <p:sp>
        <p:nvSpPr>
          <p:cNvPr id="59" name="Text 57"/>
          <p:cNvSpPr/>
          <p:nvPr/>
        </p:nvSpPr>
        <p:spPr>
          <a:xfrm>
            <a:off x="4822707" y="2184101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</a:t>
            </a:r>
            <a:endParaRPr lang="en-US" sz="575" dirty="0"/>
          </a:p>
        </p:txBody>
      </p:sp>
      <p:sp>
        <p:nvSpPr>
          <p:cNvPr id="60" name="Text 58"/>
          <p:cNvSpPr/>
          <p:nvPr/>
        </p:nvSpPr>
        <p:spPr>
          <a:xfrm>
            <a:off x="4619940" y="2314038"/>
            <a:ext cx="6112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VictoriaMetrics</a:t>
            </a:r>
            <a:endParaRPr lang="en-US" sz="490" dirty="0"/>
          </a:p>
        </p:txBody>
      </p:sp>
      <p:sp>
        <p:nvSpPr>
          <p:cNvPr id="61" name="Text 59"/>
          <p:cNvSpPr/>
          <p:nvPr/>
        </p:nvSpPr>
        <p:spPr>
          <a:xfrm>
            <a:off x="5826531" y="2184101"/>
            <a:ext cx="24903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</a:t>
            </a:r>
            <a:endParaRPr lang="en-US" sz="575" dirty="0"/>
          </a:p>
        </p:txBody>
      </p:sp>
      <p:sp>
        <p:nvSpPr>
          <p:cNvPr id="62" name="Text 60"/>
          <p:cNvSpPr/>
          <p:nvPr/>
        </p:nvSpPr>
        <p:spPr>
          <a:xfrm>
            <a:off x="5741671" y="2314038"/>
            <a:ext cx="4187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分布式Trace</a:t>
            </a:r>
            <a:endParaRPr lang="en-US" sz="490" dirty="0"/>
          </a:p>
        </p:txBody>
      </p:sp>
      <p:sp>
        <p:nvSpPr>
          <p:cNvPr id="63" name="Text 61"/>
          <p:cNvSpPr/>
          <p:nvPr/>
        </p:nvSpPr>
        <p:spPr>
          <a:xfrm>
            <a:off x="6839123" y="2184101"/>
            <a:ext cx="27480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信创DB</a:t>
            </a:r>
            <a:endParaRPr lang="en-US" sz="575" dirty="0"/>
          </a:p>
        </p:txBody>
      </p:sp>
      <p:sp>
        <p:nvSpPr>
          <p:cNvPr id="64" name="Text 62"/>
          <p:cNvSpPr/>
          <p:nvPr/>
        </p:nvSpPr>
        <p:spPr>
          <a:xfrm>
            <a:off x="6704845" y="2319463"/>
            <a:ext cx="5433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session_records</a:t>
            </a:r>
            <a:endParaRPr lang="en-US" sz="490" dirty="0"/>
          </a:p>
        </p:txBody>
      </p:sp>
      <p:sp>
        <p:nvSpPr>
          <p:cNvPr id="65" name="Text 63"/>
          <p:cNvSpPr/>
          <p:nvPr/>
        </p:nvSpPr>
        <p:spPr>
          <a:xfrm>
            <a:off x="7899125" y="2184101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LOKI</a:t>
            </a:r>
            <a:endParaRPr lang="en-US" sz="575" dirty="0"/>
          </a:p>
        </p:txBody>
      </p:sp>
      <p:sp>
        <p:nvSpPr>
          <p:cNvPr id="66" name="Text 64"/>
          <p:cNvSpPr/>
          <p:nvPr/>
        </p:nvSpPr>
        <p:spPr>
          <a:xfrm>
            <a:off x="7858662" y="2314038"/>
            <a:ext cx="28666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日志聚合</a:t>
            </a:r>
            <a:endParaRPr lang="en-US" sz="490" dirty="0"/>
          </a:p>
        </p:txBody>
      </p:sp>
      <p:sp>
        <p:nvSpPr>
          <p:cNvPr id="67" name="Text 65"/>
          <p:cNvSpPr/>
          <p:nvPr/>
        </p:nvSpPr>
        <p:spPr>
          <a:xfrm>
            <a:off x="5655575" y="2686913"/>
            <a:ext cx="162303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Collector（独立部署·中枢路由）</a:t>
            </a:r>
            <a:endParaRPr lang="en-US" sz="575" dirty="0"/>
          </a:p>
        </p:txBody>
      </p:sp>
      <p:sp>
        <p:nvSpPr>
          <p:cNvPr id="68" name="Text 66"/>
          <p:cNvSpPr/>
          <p:nvPr/>
        </p:nvSpPr>
        <p:spPr>
          <a:xfrm>
            <a:off x="5349235" y="2816850"/>
            <a:ext cx="223571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OTLP→采样/过滤→多路分发：指标→VM | Trace→TEMPO | 日志→LOKI</a:t>
            </a:r>
            <a:endParaRPr lang="en-US" sz="490" dirty="0"/>
          </a:p>
        </p:txBody>
      </p:sp>
      <p:sp>
        <p:nvSpPr>
          <p:cNvPr id="69" name="Text 67"/>
          <p:cNvSpPr/>
          <p:nvPr/>
        </p:nvSpPr>
        <p:spPr>
          <a:xfrm>
            <a:off x="5265467" y="2928131"/>
            <a:ext cx="240325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 LGTM Stack：VM替代Prometheus·TEMPO替代Jaeger·LOKI替代自研日志</a:t>
            </a:r>
            <a:endParaRPr lang="en-US" sz="490" dirty="0"/>
          </a:p>
        </p:txBody>
      </p:sp>
      <p:sp>
        <p:nvSpPr>
          <p:cNvPr id="70" name="Text 68"/>
          <p:cNvSpPr/>
          <p:nvPr/>
        </p:nvSpPr>
        <p:spPr>
          <a:xfrm>
            <a:off x="5102024" y="3274542"/>
            <a:ext cx="67919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Micrometer OTLP</a:t>
            </a:r>
            <a:endParaRPr lang="en-US" sz="520" dirty="0"/>
          </a:p>
        </p:txBody>
      </p:sp>
      <p:sp>
        <p:nvSpPr>
          <p:cNvPr id="71" name="Text 69"/>
          <p:cNvSpPr/>
          <p:nvPr/>
        </p:nvSpPr>
        <p:spPr>
          <a:xfrm>
            <a:off x="4972978" y="3399054"/>
            <a:ext cx="93728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reg-otlp+tracing-bridge</a:t>
            </a:r>
            <a:endParaRPr lang="en-US" sz="490" dirty="0"/>
          </a:p>
        </p:txBody>
      </p:sp>
      <p:sp>
        <p:nvSpPr>
          <p:cNvPr id="72" name="Text 70"/>
          <p:cNvSpPr/>
          <p:nvPr/>
        </p:nvSpPr>
        <p:spPr>
          <a:xfrm>
            <a:off x="6818044" y="3274542"/>
            <a:ext cx="31695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</a:t>
            </a:r>
            <a:endParaRPr lang="en-US" sz="520" dirty="0"/>
          </a:p>
        </p:txBody>
      </p:sp>
      <p:sp>
        <p:nvSpPr>
          <p:cNvPr id="73" name="Text 71"/>
          <p:cNvSpPr/>
          <p:nvPr/>
        </p:nvSpPr>
        <p:spPr>
          <a:xfrm>
            <a:off x="6732013" y="3399054"/>
            <a:ext cx="48902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SessionEvent</a:t>
            </a:r>
            <a:endParaRPr lang="en-US" sz="490" dirty="0"/>
          </a:p>
        </p:txBody>
      </p:sp>
      <p:sp>
        <p:nvSpPr>
          <p:cNvPr id="74" name="Text 72"/>
          <p:cNvSpPr/>
          <p:nvPr/>
        </p:nvSpPr>
        <p:spPr>
          <a:xfrm>
            <a:off x="7730318" y="3274542"/>
            <a:ext cx="5433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Logback</a:t>
            </a:r>
            <a:endParaRPr lang="en-US" sz="520" dirty="0"/>
          </a:p>
        </p:txBody>
      </p:sp>
      <p:sp>
        <p:nvSpPr>
          <p:cNvPr id="75" name="Text 73"/>
          <p:cNvSpPr/>
          <p:nvPr/>
        </p:nvSpPr>
        <p:spPr>
          <a:xfrm>
            <a:off x="7737110" y="3399054"/>
            <a:ext cx="529771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appender→OTLP</a:t>
            </a:r>
            <a:endParaRPr lang="en-US" sz="490" dirty="0"/>
          </a:p>
        </p:txBody>
      </p:sp>
      <p:sp>
        <p:nvSpPr>
          <p:cNvPr id="76" name="Text 74"/>
          <p:cNvSpPr/>
          <p:nvPr/>
        </p:nvSpPr>
        <p:spPr>
          <a:xfrm>
            <a:off x="4722613" y="3803818"/>
            <a:ext cx="143801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[标]ChatModel/GraphObs+OTelAgent</a:t>
            </a:r>
            <a:endParaRPr lang="en-US" sz="520" dirty="0"/>
          </a:p>
        </p:txBody>
      </p:sp>
      <p:sp>
        <p:nvSpPr>
          <p:cNvPr id="77" name="Text 75"/>
          <p:cNvSpPr/>
          <p:nvPr/>
        </p:nvSpPr>
        <p:spPr>
          <a:xfrm>
            <a:off x="4944834" y="3902198"/>
            <a:ext cx="99357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[自]AOP/ObsChatModel→MeterRegistry</a:t>
            </a:r>
            <a:endParaRPr lang="en-US" sz="490" dirty="0"/>
          </a:p>
        </p:txBody>
      </p:sp>
      <p:sp>
        <p:nvSpPr>
          <p:cNvPr id="78" name="Text 76"/>
          <p:cNvSpPr/>
          <p:nvPr/>
        </p:nvSpPr>
        <p:spPr>
          <a:xfrm>
            <a:off x="6818044" y="3777354"/>
            <a:ext cx="31695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</a:t>
            </a:r>
            <a:endParaRPr lang="en-US" sz="520" dirty="0"/>
          </a:p>
        </p:txBody>
      </p:sp>
      <p:sp>
        <p:nvSpPr>
          <p:cNvPr id="79" name="Text 77"/>
          <p:cNvSpPr/>
          <p:nvPr/>
        </p:nvSpPr>
        <p:spPr>
          <a:xfrm>
            <a:off x="6786036" y="3894059"/>
            <a:ext cx="38097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Memory+会话</a:t>
            </a:r>
            <a:endParaRPr lang="en-US" sz="490" dirty="0"/>
          </a:p>
        </p:txBody>
      </p:sp>
      <p:sp>
        <p:nvSpPr>
          <p:cNvPr id="80" name="Text 78"/>
          <p:cNvSpPr/>
          <p:nvPr/>
        </p:nvSpPr>
        <p:spPr>
          <a:xfrm>
            <a:off x="7843517" y="3803818"/>
            <a:ext cx="31695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Logback</a:t>
            </a:r>
            <a:endParaRPr lang="en-US" sz="520" dirty="0"/>
          </a:p>
        </p:txBody>
      </p:sp>
      <p:sp>
        <p:nvSpPr>
          <p:cNvPr id="81" name="Shape 79"/>
          <p:cNvSpPr/>
          <p:nvPr/>
        </p:nvSpPr>
        <p:spPr>
          <a:xfrm>
            <a:off x="377190" y="4608576"/>
            <a:ext cx="8389391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7190" y="4704588"/>
            <a:ext cx="583821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DB：</a:t>
            </a:r>
            <a:r>
              <a:rPr lang="en-US" sz="715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VM+TEMPO+LOKI</a:t>
            </a: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·OTel Collector中枢·Grafana三合一·Langfuse不可用</a:t>
            </a:r>
            <a:endParaRPr lang="en-US" sz="715" dirty="0"/>
          </a:p>
        </p:txBody>
      </p:sp>
      <p:sp>
        <p:nvSpPr>
          <p:cNvPr id="83" name="Shape 81"/>
          <p:cNvSpPr/>
          <p:nvPr/>
        </p:nvSpPr>
        <p:spPr>
          <a:xfrm>
            <a:off x="6386855" y="4677156"/>
            <a:ext cx="728320" cy="192024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</p:sp>
      <p:sp>
        <p:nvSpPr>
          <p:cNvPr id="84" name="Text 82"/>
          <p:cNvSpPr/>
          <p:nvPr/>
        </p:nvSpPr>
        <p:spPr>
          <a:xfrm>
            <a:off x="6386855" y="4677156"/>
            <a:ext cx="72832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LGTM+OTel</a:t>
            </a:r>
            <a:endParaRPr lang="en-US" sz="640" dirty="0"/>
          </a:p>
        </p:txBody>
      </p:sp>
      <p:sp>
        <p:nvSpPr>
          <p:cNvPr id="85" name="Shape 83"/>
          <p:cNvSpPr/>
          <p:nvPr/>
        </p:nvSpPr>
        <p:spPr>
          <a:xfrm>
            <a:off x="7115175" y="4677156"/>
            <a:ext cx="816102" cy="192024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</p:sp>
      <p:sp>
        <p:nvSpPr>
          <p:cNvPr id="86" name="Text 84"/>
          <p:cNvSpPr/>
          <p:nvPr/>
        </p:nvSpPr>
        <p:spPr>
          <a:xfrm>
            <a:off x="7115175" y="4677156"/>
            <a:ext cx="81610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Grafana统一</a:t>
            </a:r>
            <a:endParaRPr lang="en-US" sz="640" dirty="0"/>
          </a:p>
        </p:txBody>
      </p:sp>
      <p:sp>
        <p:nvSpPr>
          <p:cNvPr id="87" name="Shape 85"/>
          <p:cNvSpPr/>
          <p:nvPr/>
        </p:nvSpPr>
        <p:spPr>
          <a:xfrm>
            <a:off x="7972425" y="4677156"/>
            <a:ext cx="753008" cy="192024"/>
          </a:xfrm>
          <a:prstGeom prst="roundRect">
            <a:avLst>
              <a:gd name="adj" fmla="val 14286"/>
            </a:avLst>
          </a:prstGeom>
          <a:solidFill>
            <a:srgbClr val="FFF3E0"/>
          </a:solidFill>
        </p:spPr>
      </p:sp>
      <p:sp>
        <p:nvSpPr>
          <p:cNvPr id="88" name="Text 86"/>
          <p:cNvSpPr/>
          <p:nvPr/>
        </p:nvSpPr>
        <p:spPr>
          <a:xfrm>
            <a:off x="7972425" y="4677156"/>
            <a:ext cx="753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全链路Span</a:t>
            </a:r>
            <a:endParaRPr lang="en-US" sz="6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3566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 05 · 整改后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3566160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0A0A0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SAA + LGTM · 会话走 GraphObs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78240" y="246888"/>
            <a:ext cx="4800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002FA7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11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377190" y="1220724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Shape 4"/>
          <p:cNvSpPr/>
          <p:nvPr/>
        </p:nvSpPr>
        <p:spPr>
          <a:xfrm>
            <a:off x="377190" y="1220724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7" name="Text 5"/>
          <p:cNvSpPr/>
          <p:nvPr/>
        </p:nvSpPr>
        <p:spPr>
          <a:xfrm>
            <a:off x="528066" y="1309878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VM/TEMPO/LOKI替代Prometheus+自研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28066" y="1549908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VM：Prometheus兼容协议，更高压缩比+集群模式。TEMPO：OTLP原生接收，不需要自研Trace存储。LOKI：Label索引日志，不需要自研日志页。三者Grafana统一查看，对比P5不再需要自研回放UI+日志页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77190" y="2336292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0" name="Shape 8"/>
          <p:cNvSpPr/>
          <p:nvPr/>
        </p:nvSpPr>
        <p:spPr>
          <a:xfrm>
            <a:off x="377190" y="2336292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1" name="Text 9"/>
          <p:cNvSpPr/>
          <p:nvPr/>
        </p:nvSpPr>
        <p:spPr>
          <a:xfrm>
            <a:off x="528066" y="2425446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Trace+会话(整改)：ObsHandler→TEMPO+Kafka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8066" y="2665476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ObsHandler同时产出Span树→TEMPO(标准OTLP) + SessionStepEvent→Kafka→信创DB session_steps。TEMPO提供Trace可视化，信创DB提供会话回放原始数据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77190" y="3451860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4" name="Shape 12"/>
          <p:cNvSpPr/>
          <p:nvPr/>
        </p:nvSpPr>
        <p:spPr>
          <a:xfrm>
            <a:off x="377190" y="3451860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5" name="Text 13"/>
          <p:cNvSpPr/>
          <p:nvPr/>
        </p:nvSpPr>
        <p:spPr>
          <a:xfrm>
            <a:off x="528066" y="3541014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展示：Grafana三合一 + 自研回放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8066" y="3781044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Grafana：VM指标大屏+TEMPO Trace链路+LOKI日志检索，一个前端覆盖三个维度。自研回放UI仅从session_steps拉步骤链渲染时间线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169664" y="1220724"/>
            <a:ext cx="4594860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2308" y="143663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7781" y="143663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254" y="143663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8727" y="1436630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2308" y="1701268"/>
            <a:ext cx="3969572" cy="330798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2308" y="2177617"/>
            <a:ext cx="893154" cy="383726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7781" y="2177617"/>
            <a:ext cx="893154" cy="383726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3254" y="2177617"/>
            <a:ext cx="893154" cy="383726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8727" y="2177617"/>
            <a:ext cx="893154" cy="383726"/>
          </a:xfrm>
          <a:prstGeom prst="roundRect">
            <a:avLst>
              <a:gd name="adj" fmla="val 10345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2308" y="2720125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F0F0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7781" y="2720125"/>
            <a:ext cx="1918626" cy="357262"/>
          </a:xfrm>
          <a:prstGeom prst="roundRect">
            <a:avLst>
              <a:gd name="adj" fmla="val 11111"/>
            </a:avLst>
          </a:prstGeom>
          <a:solidFill>
            <a:srgbClr val="FAEEDA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25646" y="2720125"/>
            <a:ext cx="926234" cy="357262"/>
          </a:xfrm>
          <a:prstGeom prst="roundRect">
            <a:avLst>
              <a:gd name="adj" fmla="val 11111"/>
            </a:avLst>
          </a:prstGeom>
          <a:solidFill>
            <a:srgbClr val="FAEEDA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2308" y="3262633"/>
            <a:ext cx="893154" cy="317566"/>
          </a:xfrm>
          <a:prstGeom prst="roundRect">
            <a:avLst>
              <a:gd name="adj" fmla="val 125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7781" y="3262633"/>
            <a:ext cx="1918626" cy="317566"/>
          </a:xfrm>
          <a:prstGeom prst="roundRect">
            <a:avLst>
              <a:gd name="adj" fmla="val 125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58727" y="3262633"/>
            <a:ext cx="893154" cy="317566"/>
          </a:xfrm>
          <a:prstGeom prst="roundRect">
            <a:avLst>
              <a:gd name="adj" fmla="val 125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2308" y="3738982"/>
            <a:ext cx="3969572" cy="277870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9989" y="1661573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4349989" y="2137921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4349989" y="2680430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4349989" y="3222938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4349989" y="3686054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4925577" y="20717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5951050" y="20717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6976523" y="20717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8001995" y="20717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4925577" y="2601038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5944434" y="2601038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6976523" y="2601038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8001995" y="2601038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4925577" y="3156778"/>
            <a:ext cx="0" cy="42342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6467094" y="3156778"/>
            <a:ext cx="0" cy="42342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8001995" y="3156778"/>
            <a:ext cx="0" cy="423421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4925577" y="3646358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6467094" y="3646358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 flipV="1">
            <a:off x="8001995" y="3646358"/>
            <a:ext cx="0" cy="92624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4778028" y="1468387"/>
            <a:ext cx="2950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指标→VM</a:t>
            </a:r>
            <a:endParaRPr lang="en-US" sz="520" dirty="0"/>
          </a:p>
        </p:txBody>
      </p:sp>
      <p:sp>
        <p:nvSpPr>
          <p:cNvPr id="54" name="Text 52"/>
          <p:cNvSpPr/>
          <p:nvPr/>
        </p:nvSpPr>
        <p:spPr>
          <a:xfrm>
            <a:off x="5702012" y="1468387"/>
            <a:ext cx="49807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Trace→TEMPO</a:t>
            </a:r>
            <a:endParaRPr lang="en-US" sz="520" dirty="0"/>
          </a:p>
        </p:txBody>
      </p:sp>
      <p:sp>
        <p:nvSpPr>
          <p:cNvPr id="55" name="Text 53"/>
          <p:cNvSpPr/>
          <p:nvPr/>
        </p:nvSpPr>
        <p:spPr>
          <a:xfrm>
            <a:off x="6670495" y="1468387"/>
            <a:ext cx="6120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会话(GraphObs)</a:t>
            </a:r>
            <a:endParaRPr lang="en-US" sz="520" dirty="0"/>
          </a:p>
        </p:txBody>
      </p:sp>
      <p:sp>
        <p:nvSpPr>
          <p:cNvPr id="56" name="Text 54"/>
          <p:cNvSpPr/>
          <p:nvPr/>
        </p:nvSpPr>
        <p:spPr>
          <a:xfrm>
            <a:off x="7809167" y="1468387"/>
            <a:ext cx="3856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日志→LOKI</a:t>
            </a:r>
            <a:endParaRPr lang="en-US" sz="520" dirty="0"/>
          </a:p>
        </p:txBody>
      </p:sp>
      <p:sp>
        <p:nvSpPr>
          <p:cNvPr id="57" name="Text 55"/>
          <p:cNvSpPr/>
          <p:nvPr/>
        </p:nvSpPr>
        <p:spPr>
          <a:xfrm>
            <a:off x="5501234" y="1781718"/>
            <a:ext cx="1931721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Grafana（VM+TEMPO+LOKI + 自研回放UI）</a:t>
            </a:r>
            <a:endParaRPr lang="en-US" sz="625" dirty="0"/>
          </a:p>
        </p:txBody>
      </p:sp>
      <p:sp>
        <p:nvSpPr>
          <p:cNvPr id="58" name="Text 56"/>
          <p:cNvSpPr/>
          <p:nvPr/>
        </p:nvSpPr>
        <p:spPr>
          <a:xfrm>
            <a:off x="5424415" y="1917080"/>
            <a:ext cx="208535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指标·Trace·日志三个维度统一在Grafana，会话回放独立自研UI</a:t>
            </a:r>
            <a:endParaRPr lang="en-US" sz="490" dirty="0"/>
          </a:p>
        </p:txBody>
      </p:sp>
      <p:sp>
        <p:nvSpPr>
          <p:cNvPr id="59" name="Text 57"/>
          <p:cNvSpPr/>
          <p:nvPr/>
        </p:nvSpPr>
        <p:spPr>
          <a:xfrm>
            <a:off x="4822707" y="2263492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</a:t>
            </a:r>
            <a:endParaRPr lang="en-US" sz="575" dirty="0"/>
          </a:p>
        </p:txBody>
      </p:sp>
      <p:sp>
        <p:nvSpPr>
          <p:cNvPr id="60" name="Text 58"/>
          <p:cNvSpPr/>
          <p:nvPr/>
        </p:nvSpPr>
        <p:spPr>
          <a:xfrm>
            <a:off x="4772407" y="2380197"/>
            <a:ext cx="3063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Prom兼容</a:t>
            </a:r>
            <a:endParaRPr lang="en-US" sz="490" dirty="0"/>
          </a:p>
        </p:txBody>
      </p:sp>
      <p:sp>
        <p:nvSpPr>
          <p:cNvPr id="61" name="Text 59"/>
          <p:cNvSpPr/>
          <p:nvPr/>
        </p:nvSpPr>
        <p:spPr>
          <a:xfrm>
            <a:off x="5826531" y="2263492"/>
            <a:ext cx="24903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</a:t>
            </a:r>
            <a:endParaRPr lang="en-US" sz="575" dirty="0"/>
          </a:p>
        </p:txBody>
      </p:sp>
      <p:sp>
        <p:nvSpPr>
          <p:cNvPr id="62" name="Text 60"/>
          <p:cNvSpPr/>
          <p:nvPr/>
        </p:nvSpPr>
        <p:spPr>
          <a:xfrm>
            <a:off x="5797880" y="2380197"/>
            <a:ext cx="3063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OTLP原生</a:t>
            </a:r>
            <a:endParaRPr lang="en-US" sz="490" dirty="0"/>
          </a:p>
        </p:txBody>
      </p:sp>
      <p:sp>
        <p:nvSpPr>
          <p:cNvPr id="63" name="Text 61"/>
          <p:cNvSpPr/>
          <p:nvPr/>
        </p:nvSpPr>
        <p:spPr>
          <a:xfrm>
            <a:off x="6839123" y="2237028"/>
            <a:ext cx="27480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信创DB</a:t>
            </a:r>
            <a:endParaRPr lang="en-US" sz="575" dirty="0"/>
          </a:p>
        </p:txBody>
      </p:sp>
      <p:sp>
        <p:nvSpPr>
          <p:cNvPr id="64" name="Text 62"/>
          <p:cNvSpPr/>
          <p:nvPr/>
        </p:nvSpPr>
        <p:spPr>
          <a:xfrm>
            <a:off x="6741068" y="2372390"/>
            <a:ext cx="47090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session_steps</a:t>
            </a:r>
            <a:endParaRPr lang="en-US" sz="490" dirty="0"/>
          </a:p>
        </p:txBody>
      </p:sp>
      <p:sp>
        <p:nvSpPr>
          <p:cNvPr id="65" name="Text 63"/>
          <p:cNvSpPr/>
          <p:nvPr/>
        </p:nvSpPr>
        <p:spPr>
          <a:xfrm>
            <a:off x="7899125" y="2263492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LOKI</a:t>
            </a:r>
            <a:endParaRPr lang="en-US" sz="575" dirty="0"/>
          </a:p>
        </p:txBody>
      </p:sp>
      <p:sp>
        <p:nvSpPr>
          <p:cNvPr id="66" name="Text 64"/>
          <p:cNvSpPr/>
          <p:nvPr/>
        </p:nvSpPr>
        <p:spPr>
          <a:xfrm>
            <a:off x="7858662" y="2380197"/>
            <a:ext cx="28666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日志聚合</a:t>
            </a:r>
            <a:endParaRPr lang="en-US" sz="490" dirty="0"/>
          </a:p>
        </p:txBody>
      </p:sp>
      <p:sp>
        <p:nvSpPr>
          <p:cNvPr id="67" name="Text 65"/>
          <p:cNvSpPr/>
          <p:nvPr/>
        </p:nvSpPr>
        <p:spPr>
          <a:xfrm>
            <a:off x="4721819" y="2824657"/>
            <a:ext cx="40751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 scrape</a:t>
            </a:r>
            <a:endParaRPr lang="en-US" sz="520" dirty="0"/>
          </a:p>
        </p:txBody>
      </p:sp>
      <p:sp>
        <p:nvSpPr>
          <p:cNvPr id="68" name="Text 66"/>
          <p:cNvSpPr/>
          <p:nvPr/>
        </p:nvSpPr>
        <p:spPr>
          <a:xfrm>
            <a:off x="6342575" y="2792768"/>
            <a:ext cx="24903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</a:t>
            </a:r>
            <a:endParaRPr lang="en-US" sz="575" dirty="0"/>
          </a:p>
        </p:txBody>
      </p:sp>
      <p:sp>
        <p:nvSpPr>
          <p:cNvPr id="69" name="Text 67"/>
          <p:cNvSpPr/>
          <p:nvPr/>
        </p:nvSpPr>
        <p:spPr>
          <a:xfrm>
            <a:off x="5611310" y="2922705"/>
            <a:ext cx="171156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ai.trace→TEMPO / ai.session / ai.logs→LOKI</a:t>
            </a:r>
            <a:endParaRPr lang="en-US" sz="490" dirty="0"/>
          </a:p>
        </p:txBody>
      </p:sp>
      <p:sp>
        <p:nvSpPr>
          <p:cNvPr id="70" name="Text 68"/>
          <p:cNvSpPr/>
          <p:nvPr/>
        </p:nvSpPr>
        <p:spPr>
          <a:xfrm>
            <a:off x="7864244" y="2819232"/>
            <a:ext cx="24903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</a:t>
            </a:r>
            <a:endParaRPr lang="en-US" sz="575" dirty="0"/>
          </a:p>
        </p:txBody>
      </p:sp>
      <p:sp>
        <p:nvSpPr>
          <p:cNvPr id="71" name="Text 69"/>
          <p:cNvSpPr/>
          <p:nvPr/>
        </p:nvSpPr>
        <p:spPr>
          <a:xfrm>
            <a:off x="4699179" y="3340701"/>
            <a:ext cx="45279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Micrometer</a:t>
            </a:r>
            <a:endParaRPr lang="en-US" sz="520" dirty="0"/>
          </a:p>
        </p:txBody>
      </p:sp>
      <p:sp>
        <p:nvSpPr>
          <p:cNvPr id="72" name="Text 70"/>
          <p:cNvSpPr/>
          <p:nvPr/>
        </p:nvSpPr>
        <p:spPr>
          <a:xfrm>
            <a:off x="5979948" y="3340701"/>
            <a:ext cx="97429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ObsHandler(Trace+会话)</a:t>
            </a:r>
            <a:endParaRPr lang="en-US" sz="520" dirty="0"/>
          </a:p>
        </p:txBody>
      </p:sp>
      <p:sp>
        <p:nvSpPr>
          <p:cNvPr id="73" name="Text 71"/>
          <p:cNvSpPr/>
          <p:nvPr/>
        </p:nvSpPr>
        <p:spPr>
          <a:xfrm>
            <a:off x="5855820" y="3465214"/>
            <a:ext cx="122254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Span→TEMPO + SessionStep→Kafka</a:t>
            </a:r>
            <a:endParaRPr lang="en-US" sz="490" dirty="0"/>
          </a:p>
        </p:txBody>
      </p:sp>
      <p:sp>
        <p:nvSpPr>
          <p:cNvPr id="74" name="Text 72"/>
          <p:cNvSpPr/>
          <p:nvPr/>
        </p:nvSpPr>
        <p:spPr>
          <a:xfrm>
            <a:off x="7707678" y="3340701"/>
            <a:ext cx="58863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KafkaAppender</a:t>
            </a:r>
            <a:endParaRPr lang="en-US" sz="520" dirty="0"/>
          </a:p>
        </p:txBody>
      </p:sp>
      <p:sp>
        <p:nvSpPr>
          <p:cNvPr id="75" name="Text 73"/>
          <p:cNvSpPr/>
          <p:nvPr/>
        </p:nvSpPr>
        <p:spPr>
          <a:xfrm>
            <a:off x="5532617" y="3843514"/>
            <a:ext cx="186895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[标]ChatModelObs+GraphObs(SAA内置)+Logback</a:t>
            </a:r>
            <a:endParaRPr lang="en-US" sz="520" dirty="0"/>
          </a:p>
        </p:txBody>
      </p:sp>
      <p:sp>
        <p:nvSpPr>
          <p:cNvPr id="76" name="Shape 74"/>
          <p:cNvSpPr/>
          <p:nvPr/>
        </p:nvSpPr>
        <p:spPr>
          <a:xfrm>
            <a:off x="377190" y="4608576"/>
            <a:ext cx="8389391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7190" y="4704588"/>
            <a:ext cx="579432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DB：</a:t>
            </a:r>
            <a:r>
              <a:rPr lang="en-US" sz="715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VM+TEMPO+LOKI</a:t>
            </a: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·Grafana三合一·会话=GraphObs·</a:t>
            </a:r>
            <a:r>
              <a:rPr lang="en-US" sz="715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Advisor已移除</a:t>
            </a:r>
            <a:endParaRPr lang="en-US" sz="715" dirty="0"/>
          </a:p>
        </p:txBody>
      </p:sp>
      <p:sp>
        <p:nvSpPr>
          <p:cNvPr id="78" name="Shape 76"/>
          <p:cNvSpPr/>
          <p:nvPr/>
        </p:nvSpPr>
        <p:spPr>
          <a:xfrm>
            <a:off x="6342965" y="4677156"/>
            <a:ext cx="655625" cy="192024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</p:sp>
      <p:sp>
        <p:nvSpPr>
          <p:cNvPr id="79" name="Text 77"/>
          <p:cNvSpPr/>
          <p:nvPr/>
        </p:nvSpPr>
        <p:spPr>
          <a:xfrm>
            <a:off x="6342965" y="4677156"/>
            <a:ext cx="655625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LGTM整改</a:t>
            </a:r>
            <a:endParaRPr lang="en-US" sz="640" dirty="0"/>
          </a:p>
        </p:txBody>
      </p:sp>
      <p:sp>
        <p:nvSpPr>
          <p:cNvPr id="80" name="Shape 78"/>
          <p:cNvSpPr/>
          <p:nvPr/>
        </p:nvSpPr>
        <p:spPr>
          <a:xfrm>
            <a:off x="6998589" y="4677156"/>
            <a:ext cx="869594" cy="192024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</p:sp>
      <p:sp>
        <p:nvSpPr>
          <p:cNvPr id="81" name="Text 79"/>
          <p:cNvSpPr/>
          <p:nvPr/>
        </p:nvSpPr>
        <p:spPr>
          <a:xfrm>
            <a:off x="6998589" y="4677156"/>
            <a:ext cx="86959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GraphObs埋点</a:t>
            </a:r>
            <a:endParaRPr lang="en-US" sz="640" dirty="0"/>
          </a:p>
        </p:txBody>
      </p:sp>
      <p:sp>
        <p:nvSpPr>
          <p:cNvPr id="82" name="Shape 80"/>
          <p:cNvSpPr/>
          <p:nvPr/>
        </p:nvSpPr>
        <p:spPr>
          <a:xfrm>
            <a:off x="7909331" y="4677156"/>
            <a:ext cx="816102" cy="192024"/>
          </a:xfrm>
          <a:prstGeom prst="roundRect">
            <a:avLst>
              <a:gd name="adj" fmla="val 14286"/>
            </a:avLst>
          </a:prstGeom>
          <a:solidFill>
            <a:srgbClr val="FFF3E0"/>
          </a:solidFill>
        </p:spPr>
      </p:sp>
      <p:sp>
        <p:nvSpPr>
          <p:cNvPr id="83" name="Text 81"/>
          <p:cNvSpPr/>
          <p:nvPr/>
        </p:nvSpPr>
        <p:spPr>
          <a:xfrm>
            <a:off x="7909331" y="4677156"/>
            <a:ext cx="81610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Grafana统一</a:t>
            </a:r>
            <a:endParaRPr lang="en-US" sz="6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288036"/>
            <a:ext cx="3566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 06 · 整改后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77190" y="493776"/>
            <a:ext cx="3566160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0A0A0A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SAA + OTel + LGTM · 整改完成态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78240" y="246888"/>
            <a:ext cx="4800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150" dirty="0">
                <a:solidFill>
                  <a:srgbClr val="002FA7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12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377190" y="1220724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Shape 4"/>
          <p:cNvSpPr/>
          <p:nvPr/>
        </p:nvSpPr>
        <p:spPr>
          <a:xfrm>
            <a:off x="377190" y="1220724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7" name="Text 5"/>
          <p:cNvSpPr/>
          <p:nvPr/>
        </p:nvSpPr>
        <p:spPr>
          <a:xfrm>
            <a:off x="528066" y="1309878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完整Grafana LGTM Stack + OTel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28066" y="1549908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Collector→VM(指标)+TEMPO(Trace)+LOKI(日志)。Grafana统一三合一数据源。Agent自动覆盖全链路Span。对比P8：不再需要Kafka→信创DB转存Trace/日志，直写TEMPO/LOKI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77190" y="2336292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0" name="Shape 8"/>
          <p:cNvSpPr/>
          <p:nvPr/>
        </p:nvSpPr>
        <p:spPr>
          <a:xfrm>
            <a:off x="377190" y="2336292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1" name="Text 9"/>
          <p:cNvSpPr/>
          <p:nvPr/>
        </p:nvSpPr>
        <p:spPr>
          <a:xfrm>
            <a:off x="528066" y="2425446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Trace+会话(整改)：Span树→TEMPO+Kafka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28066" y="2665476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Filter→Baggage session_id→SpanProcessor→Span attr。Span树→TEMPO(OTLP直写，零延迟Trace可视化)。SessionStep→Kafka→信创DB session_steps(仅保留回放原始数据)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77190" y="3451860"/>
            <a:ext cx="3566160" cy="1005840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14" name="Shape 12"/>
          <p:cNvSpPr/>
          <p:nvPr/>
        </p:nvSpPr>
        <p:spPr>
          <a:xfrm>
            <a:off x="377190" y="3451860"/>
            <a:ext cx="27432" cy="1005840"/>
          </a:xfrm>
          <a:prstGeom prst="rect">
            <a:avLst/>
          </a:prstGeom>
          <a:solidFill>
            <a:srgbClr val="002FA7"/>
          </a:solidFill>
        </p:spPr>
      </p:sp>
      <p:sp>
        <p:nvSpPr>
          <p:cNvPr id="15" name="Text 13"/>
          <p:cNvSpPr/>
          <p:nvPr/>
        </p:nvSpPr>
        <p:spPr>
          <a:xfrm>
            <a:off x="528066" y="3541014"/>
            <a:ext cx="3332988" cy="21945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终极态：全标准件+最少自研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28066" y="3781044"/>
            <a:ext cx="3332988" cy="621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790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Grafana覆盖指标/Trace/日志全部可视化。仅需自研：会话回放UI(从session_steps拉步骤链)。Langfuse确认不可用(PostgreSQL信创不批)。这是银行环境下可达到的最高标准方案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169664" y="1220724"/>
            <a:ext cx="4594860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2308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7781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3254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8727" y="1370471"/>
            <a:ext cx="893154" cy="119087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2308" y="1635109"/>
            <a:ext cx="3969572" cy="330798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2308" y="2111457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7781" y="2111457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3254" y="2111457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8727" y="2111457"/>
            <a:ext cx="893154" cy="357262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2308" y="2627501"/>
            <a:ext cx="3969572" cy="410189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2308" y="3196474"/>
            <a:ext cx="1918626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3254" y="3196474"/>
            <a:ext cx="893154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8727" y="3196474"/>
            <a:ext cx="893154" cy="330798"/>
          </a:xfrm>
          <a:prstGeom prst="roundRect">
            <a:avLst>
              <a:gd name="adj" fmla="val 12000"/>
            </a:avLst>
          </a:prstGeom>
          <a:solidFill>
            <a:srgbClr val="CECBF6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2308" y="3712518"/>
            <a:ext cx="3969572" cy="277870"/>
          </a:xfrm>
          <a:prstGeom prst="roundRect">
            <a:avLst>
              <a:gd name="adj" fmla="val 14286"/>
            </a:avLst>
          </a:prstGeom>
          <a:solidFill>
            <a:srgbClr val="E1F5EE"/>
          </a:solidFill>
          <a:ln w="4411">
            <a:solidFill>
              <a:srgbClr val="BB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9989" y="1595413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4349989" y="2084993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4349989" y="2587806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4349989" y="3156778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4349989" y="3659591"/>
            <a:ext cx="423421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flipV="1">
            <a:off x="4925577" y="200560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5951050" y="200560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6976523" y="200560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8001995" y="200560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4925577" y="2508414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5951050" y="2508414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6976523" y="2508414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8001995" y="2508414"/>
            <a:ext cx="0" cy="119087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5441621" y="3077387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6976523" y="3077387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8001995" y="3077387"/>
            <a:ext cx="0" cy="44988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5441621" y="36066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6976523" y="36066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8001995" y="3606662"/>
            <a:ext cx="0" cy="105855"/>
          </a:xfrm>
          <a:prstGeom prst="line">
            <a:avLst/>
          </a:prstGeom>
          <a:noFill/>
          <a:ln w="9525">
            <a:solidFill>
              <a:srgbClr val="7E9BD6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4778028" y="1402227"/>
            <a:ext cx="2950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指标→VM</a:t>
            </a:r>
            <a:endParaRPr lang="en-US" sz="520" dirty="0"/>
          </a:p>
        </p:txBody>
      </p:sp>
      <p:sp>
        <p:nvSpPr>
          <p:cNvPr id="52" name="Text 50"/>
          <p:cNvSpPr/>
          <p:nvPr/>
        </p:nvSpPr>
        <p:spPr>
          <a:xfrm>
            <a:off x="5702012" y="1402227"/>
            <a:ext cx="498076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Trace→TEMPO</a:t>
            </a:r>
            <a:endParaRPr lang="en-US" sz="520" dirty="0"/>
          </a:p>
        </p:txBody>
      </p:sp>
      <p:sp>
        <p:nvSpPr>
          <p:cNvPr id="53" name="Text 51"/>
          <p:cNvSpPr/>
          <p:nvPr/>
        </p:nvSpPr>
        <p:spPr>
          <a:xfrm>
            <a:off x="6647855" y="1402227"/>
            <a:ext cx="65733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会话(OTel Span)</a:t>
            </a:r>
            <a:endParaRPr lang="en-US" sz="520" dirty="0"/>
          </a:p>
        </p:txBody>
      </p:sp>
      <p:sp>
        <p:nvSpPr>
          <p:cNvPr id="54" name="Text 52"/>
          <p:cNvSpPr/>
          <p:nvPr/>
        </p:nvSpPr>
        <p:spPr>
          <a:xfrm>
            <a:off x="7809167" y="1402227"/>
            <a:ext cx="38565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日志→LOKI</a:t>
            </a:r>
            <a:endParaRPr lang="en-US" sz="520" dirty="0"/>
          </a:p>
        </p:txBody>
      </p:sp>
      <p:sp>
        <p:nvSpPr>
          <p:cNvPr id="55" name="Text 53"/>
          <p:cNvSpPr/>
          <p:nvPr/>
        </p:nvSpPr>
        <p:spPr>
          <a:xfrm>
            <a:off x="5330733" y="1715558"/>
            <a:ext cx="227272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Grafana（VM+TEMPO+LOKI 三合一） + 自研回放UI</a:t>
            </a:r>
            <a:endParaRPr lang="en-US" sz="625" dirty="0"/>
          </a:p>
        </p:txBody>
      </p:sp>
      <p:sp>
        <p:nvSpPr>
          <p:cNvPr id="56" name="Text 54"/>
          <p:cNvSpPr/>
          <p:nvPr/>
        </p:nvSpPr>
        <p:spPr>
          <a:xfrm>
            <a:off x="5536833" y="1850921"/>
            <a:ext cx="186052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终极态：指标·Trace·日志全部Grafana，仅会话回放自研</a:t>
            </a:r>
            <a:endParaRPr lang="en-US" sz="490" dirty="0"/>
          </a:p>
        </p:txBody>
      </p:sp>
      <p:sp>
        <p:nvSpPr>
          <p:cNvPr id="57" name="Text 55"/>
          <p:cNvSpPr/>
          <p:nvPr/>
        </p:nvSpPr>
        <p:spPr>
          <a:xfrm>
            <a:off x="4822707" y="2184101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</a:t>
            </a:r>
            <a:endParaRPr lang="en-US" sz="575" dirty="0"/>
          </a:p>
        </p:txBody>
      </p:sp>
      <p:sp>
        <p:nvSpPr>
          <p:cNvPr id="58" name="Text 56"/>
          <p:cNvSpPr/>
          <p:nvPr/>
        </p:nvSpPr>
        <p:spPr>
          <a:xfrm>
            <a:off x="4619940" y="2314038"/>
            <a:ext cx="61127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VictoriaMetrics</a:t>
            </a:r>
            <a:endParaRPr lang="en-US" sz="490" dirty="0"/>
          </a:p>
        </p:txBody>
      </p:sp>
      <p:sp>
        <p:nvSpPr>
          <p:cNvPr id="59" name="Text 57"/>
          <p:cNvSpPr/>
          <p:nvPr/>
        </p:nvSpPr>
        <p:spPr>
          <a:xfrm>
            <a:off x="5826531" y="2184101"/>
            <a:ext cx="24903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</a:t>
            </a:r>
            <a:endParaRPr lang="en-US" sz="575" dirty="0"/>
          </a:p>
        </p:txBody>
      </p:sp>
      <p:sp>
        <p:nvSpPr>
          <p:cNvPr id="60" name="Text 58"/>
          <p:cNvSpPr/>
          <p:nvPr/>
        </p:nvSpPr>
        <p:spPr>
          <a:xfrm>
            <a:off x="5696001" y="2314038"/>
            <a:ext cx="51009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OTLP原生Trace</a:t>
            </a:r>
            <a:endParaRPr lang="en-US" sz="490" dirty="0"/>
          </a:p>
        </p:txBody>
      </p:sp>
      <p:sp>
        <p:nvSpPr>
          <p:cNvPr id="61" name="Text 59"/>
          <p:cNvSpPr/>
          <p:nvPr/>
        </p:nvSpPr>
        <p:spPr>
          <a:xfrm>
            <a:off x="6839123" y="2184101"/>
            <a:ext cx="27480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信创DB</a:t>
            </a:r>
            <a:endParaRPr lang="en-US" sz="575" dirty="0"/>
          </a:p>
        </p:txBody>
      </p:sp>
      <p:sp>
        <p:nvSpPr>
          <p:cNvPr id="62" name="Text 60"/>
          <p:cNvSpPr/>
          <p:nvPr/>
        </p:nvSpPr>
        <p:spPr>
          <a:xfrm>
            <a:off x="6741068" y="2319463"/>
            <a:ext cx="470908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session_steps</a:t>
            </a:r>
            <a:endParaRPr lang="en-US" sz="490" dirty="0"/>
          </a:p>
        </p:txBody>
      </p:sp>
      <p:sp>
        <p:nvSpPr>
          <p:cNvPr id="63" name="Text 61"/>
          <p:cNvSpPr/>
          <p:nvPr/>
        </p:nvSpPr>
        <p:spPr>
          <a:xfrm>
            <a:off x="7899125" y="2184101"/>
            <a:ext cx="20574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LOKI</a:t>
            </a:r>
            <a:endParaRPr lang="en-US" sz="575" dirty="0"/>
          </a:p>
        </p:txBody>
      </p:sp>
      <p:sp>
        <p:nvSpPr>
          <p:cNvPr id="64" name="Text 62"/>
          <p:cNvSpPr/>
          <p:nvPr/>
        </p:nvSpPr>
        <p:spPr>
          <a:xfrm>
            <a:off x="7828449" y="2314038"/>
            <a:ext cx="347092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Label索引</a:t>
            </a:r>
            <a:endParaRPr lang="en-US" sz="490" dirty="0"/>
          </a:p>
        </p:txBody>
      </p:sp>
      <p:sp>
        <p:nvSpPr>
          <p:cNvPr id="65" name="Text 63"/>
          <p:cNvSpPr/>
          <p:nvPr/>
        </p:nvSpPr>
        <p:spPr>
          <a:xfrm>
            <a:off x="5655575" y="2686913"/>
            <a:ext cx="1623039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75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Collector（独立部署·中枢路由）</a:t>
            </a:r>
            <a:endParaRPr lang="en-US" sz="575" dirty="0"/>
          </a:p>
        </p:txBody>
      </p:sp>
      <p:sp>
        <p:nvSpPr>
          <p:cNvPr id="66" name="Text 64"/>
          <p:cNvSpPr/>
          <p:nvPr/>
        </p:nvSpPr>
        <p:spPr>
          <a:xfrm>
            <a:off x="5420902" y="2816850"/>
            <a:ext cx="209238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OTLP→采样/过滤→多路：指标→VM | Trace→TEMPO | 日志→LOKI</a:t>
            </a:r>
            <a:endParaRPr lang="en-US" sz="490" dirty="0"/>
          </a:p>
        </p:txBody>
      </p:sp>
      <p:sp>
        <p:nvSpPr>
          <p:cNvPr id="67" name="Text 65"/>
          <p:cNvSpPr/>
          <p:nvPr/>
        </p:nvSpPr>
        <p:spPr>
          <a:xfrm>
            <a:off x="5450958" y="2928131"/>
            <a:ext cx="2032273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Span含session_id→TEMPO(Trace可视化)+Kafka(会话回放原始数据)</a:t>
            </a:r>
            <a:endParaRPr lang="en-US" sz="490" dirty="0"/>
          </a:p>
        </p:txBody>
      </p:sp>
      <p:sp>
        <p:nvSpPr>
          <p:cNvPr id="68" name="Text 66"/>
          <p:cNvSpPr/>
          <p:nvPr/>
        </p:nvSpPr>
        <p:spPr>
          <a:xfrm>
            <a:off x="5102024" y="3274542"/>
            <a:ext cx="67919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Micrometer OTLP</a:t>
            </a:r>
            <a:endParaRPr lang="en-US" sz="520" dirty="0"/>
          </a:p>
        </p:txBody>
      </p:sp>
      <p:sp>
        <p:nvSpPr>
          <p:cNvPr id="69" name="Text 67"/>
          <p:cNvSpPr/>
          <p:nvPr/>
        </p:nvSpPr>
        <p:spPr>
          <a:xfrm>
            <a:off x="4972978" y="3399054"/>
            <a:ext cx="937287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reg-otlp+tracing-bridge</a:t>
            </a:r>
            <a:endParaRPr lang="en-US" sz="490" dirty="0"/>
          </a:p>
        </p:txBody>
      </p:sp>
      <p:sp>
        <p:nvSpPr>
          <p:cNvPr id="70" name="Text 68"/>
          <p:cNvSpPr/>
          <p:nvPr/>
        </p:nvSpPr>
        <p:spPr>
          <a:xfrm>
            <a:off x="6682205" y="3274542"/>
            <a:ext cx="58863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SpanProcessor</a:t>
            </a:r>
            <a:endParaRPr lang="en-US" sz="520" dirty="0"/>
          </a:p>
        </p:txBody>
      </p:sp>
      <p:sp>
        <p:nvSpPr>
          <p:cNvPr id="71" name="Text 69"/>
          <p:cNvSpPr/>
          <p:nvPr/>
        </p:nvSpPr>
        <p:spPr>
          <a:xfrm>
            <a:off x="6732013" y="3399054"/>
            <a:ext cx="489020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Baggage→Attr</a:t>
            </a:r>
            <a:endParaRPr lang="en-US" sz="490" dirty="0"/>
          </a:p>
        </p:txBody>
      </p:sp>
      <p:sp>
        <p:nvSpPr>
          <p:cNvPr id="72" name="Text 70"/>
          <p:cNvSpPr/>
          <p:nvPr/>
        </p:nvSpPr>
        <p:spPr>
          <a:xfrm>
            <a:off x="7730318" y="3274542"/>
            <a:ext cx="54335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OTel Logback</a:t>
            </a:r>
            <a:endParaRPr lang="en-US" sz="520" dirty="0"/>
          </a:p>
        </p:txBody>
      </p:sp>
      <p:sp>
        <p:nvSpPr>
          <p:cNvPr id="73" name="Text 71"/>
          <p:cNvSpPr/>
          <p:nvPr/>
        </p:nvSpPr>
        <p:spPr>
          <a:xfrm>
            <a:off x="7737110" y="3399054"/>
            <a:ext cx="529771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appender→OTLP</a:t>
            </a:r>
            <a:endParaRPr lang="en-US" sz="490" dirty="0"/>
          </a:p>
        </p:txBody>
      </p:sp>
      <p:sp>
        <p:nvSpPr>
          <p:cNvPr id="74" name="Text 72"/>
          <p:cNvSpPr/>
          <p:nvPr/>
        </p:nvSpPr>
        <p:spPr>
          <a:xfrm>
            <a:off x="5566967" y="3817050"/>
            <a:ext cx="1800254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0A0A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[标]ChatModel/GraphObs+OTelAgent+Logback</a:t>
            </a:r>
            <a:endParaRPr lang="en-US" sz="520" dirty="0"/>
          </a:p>
        </p:txBody>
      </p:sp>
      <p:sp>
        <p:nvSpPr>
          <p:cNvPr id="75" name="Text 73"/>
          <p:cNvSpPr/>
          <p:nvPr/>
        </p:nvSpPr>
        <p:spPr>
          <a:xfrm>
            <a:off x="5519502" y="3899485"/>
            <a:ext cx="1895185" cy="1234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[自]AOP/ObsChatModel→MeterRegistry→同上（reg-otlp→Collector）</a:t>
            </a:r>
            <a:endParaRPr lang="en-US" sz="490" dirty="0"/>
          </a:p>
        </p:txBody>
      </p:sp>
      <p:sp>
        <p:nvSpPr>
          <p:cNvPr id="76" name="Shape 74"/>
          <p:cNvSpPr/>
          <p:nvPr/>
        </p:nvSpPr>
        <p:spPr>
          <a:xfrm>
            <a:off x="377190" y="4608576"/>
            <a:ext cx="8389391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7190" y="4704588"/>
            <a:ext cx="593971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终极态：</a:t>
            </a:r>
            <a:r>
              <a:rPr lang="en-US" sz="715" b="1" dirty="0">
                <a:solidFill>
                  <a:srgbClr val="002F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VM+TEMPO+LOKI+OTel Collector+Grafana</a:t>
            </a:r>
            <a:r>
              <a:rPr lang="en-US" sz="715" dirty="0">
                <a:solidFill>
                  <a:srgbClr val="7373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·Langfuse不可用·仅自研会话回放UI</a:t>
            </a:r>
            <a:endParaRPr lang="en-US" sz="715" dirty="0"/>
          </a:p>
        </p:txBody>
      </p:sp>
      <p:sp>
        <p:nvSpPr>
          <p:cNvPr id="78" name="Shape 76"/>
          <p:cNvSpPr/>
          <p:nvPr/>
        </p:nvSpPr>
        <p:spPr>
          <a:xfrm>
            <a:off x="6488354" y="4677156"/>
            <a:ext cx="923087" cy="192024"/>
          </a:xfrm>
          <a:prstGeom prst="roundRect">
            <a:avLst>
              <a:gd name="adj" fmla="val 14286"/>
            </a:avLst>
          </a:prstGeom>
          <a:solidFill>
            <a:srgbClr val="E8F5E9"/>
          </a:solidFill>
        </p:spPr>
      </p:sp>
      <p:sp>
        <p:nvSpPr>
          <p:cNvPr id="79" name="Text 77"/>
          <p:cNvSpPr/>
          <p:nvPr/>
        </p:nvSpPr>
        <p:spPr>
          <a:xfrm>
            <a:off x="6488354" y="4677156"/>
            <a:ext cx="923087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LGTM+OTel终极</a:t>
            </a:r>
            <a:endParaRPr lang="en-US" sz="640" dirty="0"/>
          </a:p>
        </p:txBody>
      </p:sp>
      <p:sp>
        <p:nvSpPr>
          <p:cNvPr id="80" name="Shape 78"/>
          <p:cNvSpPr/>
          <p:nvPr/>
        </p:nvSpPr>
        <p:spPr>
          <a:xfrm>
            <a:off x="7411441" y="4677156"/>
            <a:ext cx="636422" cy="192024"/>
          </a:xfrm>
          <a:prstGeom prst="roundRect">
            <a:avLst>
              <a:gd name="adj" fmla="val 14286"/>
            </a:avLst>
          </a:prstGeom>
          <a:solidFill>
            <a:srgbClr val="E3F2FD"/>
          </a:solidFill>
        </p:spPr>
      </p:sp>
      <p:sp>
        <p:nvSpPr>
          <p:cNvPr id="81" name="Text 79"/>
          <p:cNvSpPr/>
          <p:nvPr/>
        </p:nvSpPr>
        <p:spPr>
          <a:xfrm>
            <a:off x="7411441" y="4677156"/>
            <a:ext cx="63642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全标准件</a:t>
            </a:r>
            <a:endParaRPr lang="en-US" sz="640" dirty="0"/>
          </a:p>
        </p:txBody>
      </p:sp>
      <p:sp>
        <p:nvSpPr>
          <p:cNvPr id="82" name="Shape 80"/>
          <p:cNvSpPr/>
          <p:nvPr/>
        </p:nvSpPr>
        <p:spPr>
          <a:xfrm>
            <a:off x="8089011" y="4677156"/>
            <a:ext cx="636422" cy="192024"/>
          </a:xfrm>
          <a:prstGeom prst="roundRect">
            <a:avLst>
              <a:gd name="adj" fmla="val 14286"/>
            </a:avLst>
          </a:prstGeom>
          <a:solidFill>
            <a:srgbClr val="FFF3E0"/>
          </a:solidFill>
        </p:spPr>
      </p:sp>
      <p:sp>
        <p:nvSpPr>
          <p:cNvPr id="83" name="Text 81"/>
          <p:cNvSpPr/>
          <p:nvPr/>
        </p:nvSpPr>
        <p:spPr>
          <a:xfrm>
            <a:off x="8089011" y="4677156"/>
            <a:ext cx="63642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" b="1" dirty="0">
                <a:solidFill>
                  <a:srgbClr val="E651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最少自研</a:t>
            </a:r>
            <a:endParaRPr lang="en-US" sz="6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93345" y="393700"/>
            <a:ext cx="881761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埋点实现形式（贴合文档设计）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原生方式（推荐）：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SpringAI Graph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自带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GraphObservation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生命周期监听器，自动生成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Graph/Node/Edge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Span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，无需手写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Tracer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补充方式：自定义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Advisor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拦截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出口，补充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reroute_triggered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等业务标签；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兜底方式：纯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AOP/OTel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Span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（无原生观测能力的自研 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 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框架）。</a:t>
            </a:r>
            <a:endParaRPr lang="zh-CN" altLang="en-US" sz="16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20980" y="679450"/>
            <a:ext cx="8564245" cy="3661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架构分层数据流核心规则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埋点层（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应用三层埋码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L1/L2/L3）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4715" indent="-598805" defTabSz="914400">
              <a:tabLst>
                <a:tab pos="537210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L1=OTel Java Agent（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零代码基础设施埋点）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4715" indent="-598805" defTabSz="914400">
              <a:tabLst>
                <a:tab pos="537210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L2=SpringAI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Observation + ObsChatModel（LLM/Graph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Span）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4715" indent="-598805" defTabSz="914400">
              <a:tabLst>
                <a:tab pos="537210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L3=Micrometer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业务自定义指标（运营语义）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94715" indent="-598805" defTabSz="914400">
              <a:tabLst>
                <a:tab pos="537210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所有遥测统一输出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OTLP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OTel Collector 4318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采集层（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OTel Collector）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23215" indent="-8255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统一接收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traces/metrics/logs，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经过批处理、过滤、尾部采样后，分发到自研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Backend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自研前端主数据源，业务会话、指标、日志真相源）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Redis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做实时热缓存；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上层应用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自研前端为主入口。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0045" y="501015"/>
            <a:ext cx="8388350" cy="4046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前置底层机制说明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观测底层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统一基于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Micrometer Observation API：Spring AI Alibaba（SAA）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Graph、ChatModel、Tool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等组件的原生观测，均基于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Micrometer Observation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实现，一次埋点可同时产出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Metrics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指标与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链路数据（需桥接对应实现）。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标准指标与自定义指标同源通道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：框架自动生成的标准指标、业务手写的自定义指标，均注册至全局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MeterRegistry，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后续传输、存储、展示链路完全一致，无差异化处理。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OTel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两种接入模式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1350" indent="-313055" defTabSz="914400">
              <a:buFont typeface="Wingdings" panose="05000000000000000000" charset="0"/>
              <a:buChar char="Ø"/>
              <a:tabLst>
                <a:tab pos="626745" algn="l"/>
              </a:tabLs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代码桥接模式：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micrometer-tracing-bridge-otel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Micrometer Observation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转换为标准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OTel Span，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OTLP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上报，与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SAA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原生观测天然兼容；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1350" indent="-313055" defTabSz="914400">
              <a:buFont typeface="Wingdings" panose="05000000000000000000" charset="0"/>
              <a:buChar char="Ø"/>
              <a:tabLst>
                <a:tab pos="626745" algn="l"/>
              </a:tabLst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探针模式：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opentelemetry-javaagent.jar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零侵入自动采集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HTTP/JDBC/Kafka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等中间件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Span；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二者二选一即可。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会话数据本质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：会话是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sessionId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聚合后的业务视图，数据源来自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链路，无需独立埋点；整改前由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Advisor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重复采集，整改后统一从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链路提取，消除冗余埋点。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7855" y="1104900"/>
            <a:ext cx="709739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Spring AI / Spring AI Alibaba </a:t>
            </a:r>
            <a:r>
              <a:rPr lang="zh-CN" altLang="en-US"/>
              <a:t>负责 </a:t>
            </a:r>
            <a:r>
              <a:rPr lang="en-US" altLang="zh-CN"/>
              <a:t>AI </a:t>
            </a:r>
            <a:r>
              <a:rPr lang="zh-CN" altLang="en-US"/>
              <a:t>调用过程中的 </a:t>
            </a:r>
            <a:r>
              <a:rPr lang="en-US" altLang="zh-CN"/>
              <a:t>Observation</a:t>
            </a:r>
            <a:r>
              <a:rPr lang="zh-CN" altLang="en-US"/>
              <a:t>产生：业务应用</a:t>
            </a:r>
            <a:r>
              <a:rPr lang="en-US" altLang="zh-CN"/>
              <a:t>→ Observation → Metrics/Trace</a:t>
            </a:r>
            <a:r>
              <a:rPr lang="zh-CN" altLang="en-US"/>
              <a:t>采集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Micrometer</a:t>
            </a:r>
            <a:r>
              <a:rPr lang="zh-CN" altLang="en-US"/>
              <a:t>作为指标统一抽象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OTel</a:t>
            </a:r>
            <a:r>
              <a:rPr lang="zh-CN" altLang="en-US"/>
              <a:t>作为标准</a:t>
            </a:r>
            <a:r>
              <a:rPr lang="en-US" altLang="zh-CN"/>
              <a:t>Trace</a:t>
            </a:r>
            <a:r>
              <a:rPr lang="zh-CN" altLang="en-US"/>
              <a:t>链路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Kafka、Redis、</a:t>
            </a:r>
            <a:r>
              <a:rPr lang="zh-CN" altLang="en-US"/>
              <a:t>国产数据库可以作为银行场景下的数据传输和存储组件。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Session Replay</a:t>
            </a:r>
            <a:r>
              <a:rPr lang="zh-CN" altLang="en-US"/>
              <a:t>需要业务模型支撑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85800" y="3379470"/>
            <a:ext cx="746696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OTel</a:t>
            </a:r>
            <a:r>
              <a:rPr lang="zh-CN" altLang="en-US" sz="1600"/>
              <a:t>不是为了替代银行已有基础设施观测，而是为了统一</a:t>
            </a:r>
            <a:r>
              <a:rPr lang="en-US" altLang="zh-CN" sz="1600"/>
              <a:t>AI</a:t>
            </a:r>
            <a:r>
              <a:rPr lang="zh-CN" altLang="en-US" sz="1600"/>
              <a:t>应用新增观测语义；</a:t>
            </a:r>
            <a:r>
              <a:rPr lang="en-US" altLang="zh-CN" sz="1600"/>
              <a:t>Prometheus/Grafana</a:t>
            </a:r>
            <a:r>
              <a:rPr lang="zh-CN" altLang="en-US" sz="1600"/>
              <a:t>不是必须组件，而是可选展示和指标分析组件；核心目标是补齐</a:t>
            </a:r>
            <a:r>
              <a:rPr lang="en-US" altLang="zh-CN" sz="1600"/>
              <a:t>AI</a:t>
            </a:r>
            <a:r>
              <a:rPr lang="zh-CN" altLang="en-US" sz="1600"/>
              <a:t>应用层观测能力。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1010" y="855345"/>
            <a:ext cx="789876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/>
              <a:t>场景 </a:t>
            </a:r>
            <a:r>
              <a:rPr lang="en-US" altLang="zh-CN" sz="2400" b="1"/>
              <a:t>B：Spring AI + OpenTelemetry（</a:t>
            </a:r>
            <a:r>
              <a:rPr lang="zh-CN" altLang="en-US" sz="2400" b="1"/>
              <a:t>推荐）⭐</a:t>
            </a:r>
            <a:endParaRPr lang="zh-CN" altLang="en-US" sz="2400" b="1"/>
          </a:p>
          <a:p>
            <a:r>
              <a:rPr lang="zh-CN" altLang="en-US"/>
              <a:t>适用：银行用 </a:t>
            </a:r>
            <a:r>
              <a:rPr lang="en-US" altLang="zh-CN"/>
              <a:t>Spring AI 1.0+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L1：OTel Agent </a:t>
            </a:r>
            <a:r>
              <a:rPr lang="zh-CN" altLang="en-US"/>
              <a:t>自动采（零代码）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L2：Spring AI Observation </a:t>
            </a:r>
            <a:r>
              <a:rPr lang="zh-CN" altLang="en-US"/>
              <a:t>自动 </a:t>
            </a:r>
            <a:r>
              <a:rPr lang="en-US" altLang="zh-CN"/>
              <a:t>gen_ai.*（</a:t>
            </a:r>
            <a:r>
              <a:rPr lang="zh-CN" altLang="en-US"/>
              <a:t>零代码）+ </a:t>
            </a:r>
            <a:r>
              <a:rPr lang="en-US" altLang="zh-CN"/>
              <a:t>ObsChatModel </a:t>
            </a:r>
            <a:r>
              <a:rPr lang="zh-CN" altLang="en-US"/>
              <a:t>补 </a:t>
            </a:r>
            <a:r>
              <a:rPr lang="en-US" altLang="zh-CN"/>
              <a:t>TTFT（</a:t>
            </a:r>
            <a:r>
              <a:rPr lang="zh-CN" altLang="en-US"/>
              <a:t>少量）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L3：Micrometer </a:t>
            </a:r>
            <a:r>
              <a:rPr lang="zh-CN" altLang="en-US"/>
              <a:t>手动业务指标（少量）</a:t>
            </a:r>
            <a:endParaRPr lang="zh-CN" altLang="en-US"/>
          </a:p>
          <a:p>
            <a:r>
              <a:rPr lang="zh-CN" altLang="en-US"/>
              <a:t>工作量：最小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2400" y="1787525"/>
            <a:ext cx="8655050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会话数据源从 </a:t>
            </a:r>
            <a:r>
              <a:rPr lang="en-US" altLang="zh-CN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Advisor </a:t>
            </a:r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独立采集，改为统一从 </a:t>
            </a:r>
            <a:r>
              <a:rPr lang="en-US" altLang="zh-CN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OTel Span </a:t>
            </a:r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提取，</a:t>
            </a:r>
            <a:r>
              <a:rPr lang="en-US" altLang="zh-CN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Filter+Baggage+SpanProcessor </a:t>
            </a:r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全自动透传，</a:t>
            </a:r>
            <a:r>
              <a:rPr lang="en-US" altLang="zh-CN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Advisor </a:t>
            </a:r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仅负责 </a:t>
            </a:r>
            <a:r>
              <a:rPr lang="en-US" altLang="zh-CN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</a:t>
            </a:r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读写。</a:t>
            </a:r>
            <a:endParaRPr lang="zh-CN" altLang="en-US" sz="1600" b="0" i="0">
              <a:solidFill>
                <a:srgbClr val="2B2B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逻辑校正：</a:t>
            </a:r>
            <a:r>
              <a:rPr lang="en-US" altLang="zh-CN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OTel Collector </a:t>
            </a:r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本身不支持按</a:t>
            </a:r>
            <a:r>
              <a:rPr lang="en-US" altLang="zh-CN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session_id</a:t>
            </a:r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分组聚合，聚合逻辑由下游消费端实现；</a:t>
            </a:r>
            <a:r>
              <a:rPr lang="en-US" altLang="zh-CN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Collector</a:t>
            </a:r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仅负责</a:t>
            </a:r>
            <a:r>
              <a:rPr lang="en-US" altLang="zh-CN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Span</a:t>
            </a:r>
            <a:r>
              <a:rPr lang="zh-CN" altLang="en-US" sz="1600" b="0" i="0">
                <a:solidFill>
                  <a:srgbClr val="2B2B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的传输、采样、格式转换。</a:t>
            </a:r>
            <a:endParaRPr lang="zh-CN" altLang="en-US" sz="1600" b="0" i="0">
              <a:solidFill>
                <a:srgbClr val="2B2B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背景与挑战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AI 系统可观测盲区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内核与标准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什么是 AI 可观测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方案架构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DEMO 与生产版总览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9" name="Rectangle 18"/>
          <p:cNvSpPr/>
          <p:nvPr/>
        </p:nvSpPr>
        <p:spPr>
          <a:xfrm>
            <a:off x="457200" y="29260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核心能力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六大可观测能力模块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4" name="Rectangle 23"/>
          <p:cNvSpPr/>
          <p:nvPr/>
        </p:nvSpPr>
        <p:spPr>
          <a:xfrm>
            <a:off x="3291840" y="29260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5" name="TextBox 24"/>
          <p:cNvSpPr txBox="1"/>
          <p:nvPr/>
        </p:nvSpPr>
        <p:spPr>
          <a:xfrm>
            <a:off x="3474720" y="3200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6576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选型与案例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977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平台对比+手机银行落地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926080"/>
            <a:ext cx="25603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9" name="Rectangle 28"/>
          <p:cNvSpPr/>
          <p:nvPr/>
        </p:nvSpPr>
        <p:spPr>
          <a:xfrm>
            <a:off x="6126480" y="2926080"/>
            <a:ext cx="256032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0" name="TextBox 29"/>
          <p:cNvSpPr txBox="1"/>
          <p:nvPr/>
        </p:nvSpPr>
        <p:spPr>
          <a:xfrm>
            <a:off x="6309360" y="3200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4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6576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5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演进路线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9776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DEMO→生产级+AIOps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AI可观测的必要性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传统APM已无法满足AI应用的可观测需求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9895" y="4247515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02295" y="424751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8845"/>
            <a:ext cx="3840480" cy="310896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8845"/>
            <a:ext cx="3840480" cy="54864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9" name="Text 7"/>
          <p:cNvSpPr/>
          <p:nvPr/>
        </p:nvSpPr>
        <p:spPr>
          <a:xfrm>
            <a:off x="685800" y="1056005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传统APM的三大盲区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558925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1" name="Text 9"/>
          <p:cNvSpPr/>
          <p:nvPr>
            <p:custDataLst>
              <p:tags r:id="rId1"/>
            </p:custDataLst>
          </p:nvPr>
        </p:nvSpPr>
        <p:spPr>
          <a:xfrm>
            <a:off x="914400" y="1531493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LLM调用黑盒</a:t>
            </a:r>
            <a:endParaRPr lang="en-US" sz="1100" dirty="0"/>
          </a:p>
        </p:txBody>
      </p:sp>
      <p:sp>
        <p:nvSpPr>
          <p:cNvPr id="12" name="Text 10"/>
          <p:cNvSpPr/>
          <p:nvPr>
            <p:custDataLst>
              <p:tags r:id="rId2"/>
            </p:custDataLst>
          </p:nvPr>
        </p:nvSpPr>
        <p:spPr>
          <a:xfrm>
            <a:off x="914400" y="176009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无法追踪模型推理耗时、Token消耗、提示词内容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336165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4" name="Text 12"/>
          <p:cNvSpPr/>
          <p:nvPr>
            <p:custDataLst>
              <p:tags r:id="rId3"/>
            </p:custDataLst>
          </p:nvPr>
        </p:nvSpPr>
        <p:spPr>
          <a:xfrm>
            <a:off x="914400" y="2308733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Agent决策不可见</a:t>
            </a:r>
            <a:endParaRPr lang="en-US" sz="1100" dirty="0"/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914400" y="253733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多步推理链路断裂，中间过程无法回溯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113405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7" name="Text 15"/>
          <p:cNvSpPr/>
          <p:nvPr>
            <p:custDataLst>
              <p:tags r:id="rId5"/>
            </p:custDataLst>
          </p:nvPr>
        </p:nvSpPr>
        <p:spPr>
          <a:xfrm>
            <a:off x="914400" y="3085973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用户体验盲区</a:t>
            </a:r>
            <a:endParaRPr lang="en-US" sz="1100" dirty="0"/>
          </a:p>
        </p:txBody>
      </p:sp>
      <p:sp>
        <p:nvSpPr>
          <p:cNvPr id="18" name="Text 16"/>
          <p:cNvSpPr/>
          <p:nvPr>
            <p:custDataLst>
              <p:tags r:id="rId6"/>
            </p:custDataLst>
          </p:nvPr>
        </p:nvSpPr>
        <p:spPr>
          <a:xfrm>
            <a:off x="914400" y="331457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缺乏会话级观测，无法重现用户真实交互路径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918845"/>
            <a:ext cx="3840480" cy="310896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18845"/>
            <a:ext cx="3840480" cy="54864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21" name="Text 19"/>
          <p:cNvSpPr/>
          <p:nvPr/>
        </p:nvSpPr>
        <p:spPr>
          <a:xfrm>
            <a:off x="5074920" y="1056005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银行AI可观测四大核心需求</a:t>
            </a:r>
            <a:endParaRPr lang="en-US" sz="1400" dirty="0"/>
          </a:p>
        </p:txBody>
      </p:sp>
      <p:sp>
        <p:nvSpPr>
          <p:cNvPr id="22" name="Shape 20"/>
          <p:cNvSpPr/>
          <p:nvPr>
            <p:custDataLst>
              <p:tags r:id="rId7"/>
            </p:custDataLst>
          </p:nvPr>
        </p:nvSpPr>
        <p:spPr>
          <a:xfrm>
            <a:off x="5074920" y="1558925"/>
            <a:ext cx="54864" cy="438912"/>
          </a:xfrm>
          <a:prstGeom prst="rect">
            <a:avLst/>
          </a:prstGeom>
          <a:solidFill>
            <a:srgbClr val="16A34A">
              <a:alpha val="60000"/>
            </a:srgbClr>
          </a:solidFill>
        </p:spPr>
      </p:sp>
      <p:sp>
        <p:nvSpPr>
          <p:cNvPr id="23" name="Text 21"/>
          <p:cNvSpPr/>
          <p:nvPr>
            <p:custDataLst>
              <p:tags r:id="rId8"/>
            </p:custDataLst>
          </p:nvPr>
        </p:nvSpPr>
        <p:spPr>
          <a:xfrm>
            <a:off x="5303520" y="1531493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全链路可见</a:t>
            </a:r>
            <a:endParaRPr lang="en-US" sz="1100" dirty="0"/>
          </a:p>
        </p:txBody>
      </p:sp>
      <p:sp>
        <p:nvSpPr>
          <p:cNvPr id="24" name="Text 22"/>
          <p:cNvSpPr/>
          <p:nvPr>
            <p:custDataLst>
              <p:tags r:id="rId9"/>
            </p:custDataLst>
          </p:nvPr>
        </p:nvSpPr>
        <p:spPr>
          <a:xfrm>
            <a:off x="5303520" y="173266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从用户请求到模型响应，每一跳都可追踪</a:t>
            </a:r>
            <a:endParaRPr lang="en-US" sz="900" dirty="0"/>
          </a:p>
        </p:txBody>
      </p:sp>
      <p:sp>
        <p:nvSpPr>
          <p:cNvPr id="25" name="Shape 23"/>
          <p:cNvSpPr/>
          <p:nvPr>
            <p:custDataLst>
              <p:tags r:id="rId10"/>
            </p:custDataLst>
          </p:nvPr>
        </p:nvSpPr>
        <p:spPr>
          <a:xfrm>
            <a:off x="5074920" y="2153285"/>
            <a:ext cx="54864" cy="438912"/>
          </a:xfrm>
          <a:prstGeom prst="rect">
            <a:avLst/>
          </a:prstGeom>
          <a:solidFill>
            <a:srgbClr val="16A34A">
              <a:alpha val="60000"/>
            </a:srgbClr>
          </a:solidFill>
        </p:spPr>
      </p:sp>
      <p:sp>
        <p:nvSpPr>
          <p:cNvPr id="26" name="Text 24"/>
          <p:cNvSpPr/>
          <p:nvPr>
            <p:custDataLst>
              <p:tags r:id="rId11"/>
            </p:custDataLst>
          </p:nvPr>
        </p:nvSpPr>
        <p:spPr>
          <a:xfrm>
            <a:off x="5303520" y="2125853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合规审计</a:t>
            </a:r>
            <a:endParaRPr lang="en-US" sz="1100" dirty="0"/>
          </a:p>
        </p:txBody>
      </p:sp>
      <p:sp>
        <p:nvSpPr>
          <p:cNvPr id="27" name="Text 25"/>
          <p:cNvSpPr/>
          <p:nvPr>
            <p:custDataLst>
              <p:tags r:id="rId12"/>
            </p:custDataLst>
          </p:nvPr>
        </p:nvSpPr>
        <p:spPr>
          <a:xfrm>
            <a:off x="5303520" y="232702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交互记录完整留存，满足金融监管追溯要求</a:t>
            </a:r>
            <a:endParaRPr lang="en-US" sz="900" dirty="0"/>
          </a:p>
        </p:txBody>
      </p:sp>
      <p:sp>
        <p:nvSpPr>
          <p:cNvPr id="28" name="Shape 26"/>
          <p:cNvSpPr/>
          <p:nvPr>
            <p:custDataLst>
              <p:tags r:id="rId13"/>
            </p:custDataLst>
          </p:nvPr>
        </p:nvSpPr>
        <p:spPr>
          <a:xfrm>
            <a:off x="5074920" y="2747645"/>
            <a:ext cx="54864" cy="438912"/>
          </a:xfrm>
          <a:prstGeom prst="rect">
            <a:avLst/>
          </a:prstGeom>
          <a:solidFill>
            <a:srgbClr val="16A34A">
              <a:alpha val="60000"/>
            </a:srgbClr>
          </a:solidFill>
        </p:spPr>
      </p:sp>
      <p:sp>
        <p:nvSpPr>
          <p:cNvPr id="29" name="Text 27"/>
          <p:cNvSpPr/>
          <p:nvPr>
            <p:custDataLst>
              <p:tags r:id="rId14"/>
            </p:custDataLst>
          </p:nvPr>
        </p:nvSpPr>
        <p:spPr>
          <a:xfrm>
            <a:off x="5303520" y="2720213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智能告警</a:t>
            </a:r>
            <a:endParaRPr lang="en-US" sz="1100" dirty="0"/>
          </a:p>
        </p:txBody>
      </p:sp>
      <p:sp>
        <p:nvSpPr>
          <p:cNvPr id="30" name="Text 28"/>
          <p:cNvSpPr/>
          <p:nvPr>
            <p:custDataLst>
              <p:tags r:id="rId15"/>
            </p:custDataLst>
          </p:nvPr>
        </p:nvSpPr>
        <p:spPr>
          <a:xfrm>
            <a:off x="5303520" y="292138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异常检测 &amp; 根因分析，不等用户投诉先发现问题</a:t>
            </a:r>
            <a:endParaRPr lang="en-US" sz="900" dirty="0"/>
          </a:p>
        </p:txBody>
      </p:sp>
      <p:sp>
        <p:nvSpPr>
          <p:cNvPr id="31" name="Shape 29"/>
          <p:cNvSpPr/>
          <p:nvPr>
            <p:custDataLst>
              <p:tags r:id="rId16"/>
            </p:custDataLst>
          </p:nvPr>
        </p:nvSpPr>
        <p:spPr>
          <a:xfrm>
            <a:off x="5074920" y="3342005"/>
            <a:ext cx="54864" cy="438912"/>
          </a:xfrm>
          <a:prstGeom prst="rect">
            <a:avLst/>
          </a:prstGeom>
          <a:solidFill>
            <a:srgbClr val="16A34A">
              <a:alpha val="60000"/>
            </a:srgbClr>
          </a:solidFill>
        </p:spPr>
      </p:sp>
      <p:sp>
        <p:nvSpPr>
          <p:cNvPr id="32" name="Text 30"/>
          <p:cNvSpPr/>
          <p:nvPr>
            <p:custDataLst>
              <p:tags r:id="rId17"/>
            </p:custDataLst>
          </p:nvPr>
        </p:nvSpPr>
        <p:spPr>
          <a:xfrm>
            <a:off x="5303520" y="3314573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性能优化</a:t>
            </a:r>
            <a:endParaRPr lang="en-US" sz="1100" dirty="0"/>
          </a:p>
        </p:txBody>
      </p:sp>
      <p:sp>
        <p:nvSpPr>
          <p:cNvPr id="33" name="Text 31"/>
          <p:cNvSpPr/>
          <p:nvPr>
            <p:custDataLst>
              <p:tags r:id="rId18"/>
            </p:custDataLst>
          </p:nvPr>
        </p:nvSpPr>
        <p:spPr>
          <a:xfrm>
            <a:off x="5303520" y="351574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Token消耗、延迟瓶颈实时可见，驱动降本增效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429895" y="3790315"/>
          <a:ext cx="8229600" cy="128016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对比维度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传统APM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AI可观测平台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观测粒度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</a:rPr>
                        <a:t>服务级 (HTTP/gRPC)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会话级 + 轮次级 + Span级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LLM可见性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无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Token/延迟/Prompt全量记录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回放能力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不支持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逐轮会话回放 &amp; 重放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根因分析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手动排查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AI驱动的智能洞察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414" y="137287"/>
            <a:ext cx="8229172" cy="50289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2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背景与挑战：AI 系统的可观测盲区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414" y="823051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414" y="823051"/>
            <a:ext cx="54861" cy="621760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5" name="Text 3"/>
          <p:cNvSpPr/>
          <p:nvPr/>
        </p:nvSpPr>
        <p:spPr>
          <a:xfrm>
            <a:off x="731720" y="868769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200 但答非所问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720" y="1143074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全绿，但大模型回复事实错误、幻觉严重。传统监控看不见「答案质量」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414" y="1572820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414" y="1572820"/>
            <a:ext cx="54861" cy="621760"/>
          </a:xfrm>
          <a:prstGeom prst="rect">
            <a:avLst/>
          </a:prstGeom>
          <a:solidFill>
            <a:srgbClr val="F57C00"/>
          </a:solidFill>
        </p:spPr>
      </p:sp>
      <p:sp>
        <p:nvSpPr>
          <p:cNvPr id="9" name="Text 7"/>
          <p:cNvSpPr/>
          <p:nvPr/>
        </p:nvSpPr>
        <p:spPr>
          <a:xfrm>
            <a:off x="731720" y="1618538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成本悄悄翻倍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720" y="1892843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用量无追踪，RAG 检索静默退化，异常调用拖垮预算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414" y="2322589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414" y="2322589"/>
            <a:ext cx="54861" cy="62176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3" name="Text 11"/>
          <p:cNvSpPr/>
          <p:nvPr/>
        </p:nvSpPr>
        <p:spPr>
          <a:xfrm>
            <a:off x="731720" y="2368307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编排失控·自主副作用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720" y="2642612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年案例：自治 Agent 误执行 DROP DATABASE，所有指标全绿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176" y="823051"/>
            <a:ext cx="3657410" cy="1097223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11" y="868769"/>
            <a:ext cx="1097223" cy="10057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36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834" y="960204"/>
            <a:ext cx="2285881" cy="7314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可观测投资</a:t>
            </a:r>
            <a:endParaRPr lang="en-US" sz="1200" dirty="0"/>
          </a:p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2028 年占 GenAI 预算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11" y="1691686"/>
            <a:ext cx="3200234" cy="182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defTabSz="914400">
              <a:buNone/>
            </a:pPr>
            <a:r>
              <a:rPr lang="en-US" sz="9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Gartner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176" y="2103145"/>
            <a:ext cx="3657410" cy="1097223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11" y="2148862"/>
            <a:ext cx="1097223" cy="10057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36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834" y="2240297"/>
            <a:ext cx="2285881" cy="7314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年当前占比</a:t>
            </a:r>
            <a:endParaRPr lang="en-US" sz="1200" dirty="0"/>
          </a:p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增长空间巨大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11" y="2971779"/>
            <a:ext cx="3200234" cy="182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defTabSz="914400">
              <a:buNone/>
            </a:pPr>
            <a:r>
              <a:rPr lang="en-US" sz="9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Gartner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176" y="3383238"/>
            <a:ext cx="3657410" cy="1097223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11" y="3428955"/>
            <a:ext cx="1097223" cy="10057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36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21%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217834" y="3520391"/>
            <a:ext cx="2285881" cy="73148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组织对 Agent</a:t>
            </a:r>
            <a:endParaRPr lang="en-US" sz="1200" dirty="0"/>
          </a:p>
          <a:p>
            <a:pPr marL="0" indent="0" defTabSz="91440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有实时可见性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11" y="4251872"/>
            <a:ext cx="3200234" cy="182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 defTabSz="914400">
              <a:buNone/>
            </a:pPr>
            <a:r>
              <a:rPr lang="en-US" sz="9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行业调研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414" y="3200367"/>
            <a:ext cx="8229172" cy="1645835"/>
          </a:xfrm>
          <a:prstGeom prst="rect">
            <a:avLst/>
          </a:prstGeom>
          <a:solidFill>
            <a:srgbClr val="E6F1FB"/>
          </a:solidFill>
        </p:spPr>
      </p:sp>
      <p:sp>
        <p:nvSpPr>
          <p:cNvPr id="28" name="Text 26"/>
          <p:cNvSpPr/>
          <p:nvPr/>
        </p:nvSpPr>
        <p:spPr>
          <a:xfrm>
            <a:off x="640285" y="3246085"/>
            <a:ext cx="1828705" cy="27430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285" y="3566108"/>
            <a:ext cx="7863431" cy="11886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1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 APM 三支柱（Metrics / Logs / Traces）无法回答 AI 系统特有的问题：</a:t>
            </a:r>
            <a:endParaRPr lang="en-US" sz="1100" dirty="0"/>
          </a:p>
          <a:p>
            <a:pPr marL="0" indent="0" defTabSz="914400">
              <a:buNone/>
            </a:pPr>
            <a:r>
              <a:rPr lang="en-US" sz="11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「答对了吗？」「花了多少钱？」「哪个意图出了问题？」</a:t>
            </a:r>
            <a:endParaRPr lang="en-US" sz="1100" dirty="0"/>
          </a:p>
          <a:p>
            <a:pPr marL="0" indent="0" defTabSz="914400">
              <a:buNone/>
            </a:pPr>
            <a:r>
              <a:rPr lang="en-US" sz="11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Gartner 预测 2028 年 LLM 可观测投资将占 GenAI 部署 50%，2026 年仅 15%——窗口期紧迫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为什么需要 AI 可观测？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718" y="1028700"/>
          <a:ext cx="5143500" cy="1577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2057400"/>
                <a:gridCol w="2057400"/>
              </a:tblGrid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维度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传统可观测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AI 可观测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观测对象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应用、中间件、基础设施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LLM 调用、Agent 链路、意图语义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问题类型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错误、延迟、吞吐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幻觉、意图漂移、Token 成本、转化率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根因定位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日志堆栈、链路耗时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多轮会话、Prompt 效果、模型版本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决策支持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告警 + 人工排障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智能洞察 + 行动建议 + 自动闭环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60958" y="1028700"/>
            <a:ext cx="2948940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200" b="1">
                <a:solidFill>
                  <a:srgbClr val="1E3A8A"/>
                </a:solidFill>
                <a:latin typeface="微软雅黑" panose="020B0503020204020204" charset="-122"/>
              </a:rPr>
              <a:t>用户痛点与需求</a:t>
            </a:r>
            <a:endParaRPr sz="12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958" y="1440180"/>
            <a:ext cx="2948940" cy="1296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黑盒：不知道 AI 真实在生产环境里给了什么答案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贵：每次调用都在烧钱，却无法衡量投入产出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慢：用户抱怨卡，但瓶颈在 LLM 还是 Prompt？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失控：多 Agent 协作时，调用路径与责任边界不清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合规：敏感会话、金融数据需要可追溯、可审计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97113" y="892810"/>
            <a:ext cx="2948940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200" b="1">
                <a:solidFill>
                  <a:srgbClr val="1E3A8A"/>
                </a:solidFill>
                <a:latin typeface="微软雅黑" panose="020B0503020204020204" charset="-122"/>
              </a:rPr>
              <a:t>用户痛点与需求</a:t>
            </a:r>
            <a:endParaRPr sz="12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7113" y="1304290"/>
            <a:ext cx="2948940" cy="1296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黑盒：不知道 AI 真实在生产环境里给了什么答案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贵：每次调用都在烧钱，却无法衡量投入产出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慢：用户抱怨卡，但瓶颈在 LLM 还是 Prompt？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失控：多 Agent 协作时，调用路径与责任边界不清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900" b="0">
                <a:solidFill>
                  <a:srgbClr val="1F2937"/>
                </a:solidFill>
                <a:latin typeface="微软雅黑" panose="020B0503020204020204" charset="-122"/>
              </a:rPr>
              <a:t>• 合规：敏感会话、金融数据需要可追溯、可审计</a:t>
            </a:r>
            <a:endParaRPr sz="9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6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7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AI可观测的必要性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197475" y="433070"/>
            <a:ext cx="3840480" cy="310896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97475" y="433070"/>
            <a:ext cx="3840480" cy="54864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0" name="Text 7"/>
          <p:cNvSpPr/>
          <p:nvPr/>
        </p:nvSpPr>
        <p:spPr>
          <a:xfrm>
            <a:off x="5426075" y="57023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传统APM的三大盲区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26075" y="1073150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2" name="Text 9"/>
          <p:cNvSpPr/>
          <p:nvPr>
            <p:custDataLst>
              <p:tags r:id="rId1"/>
            </p:custDataLst>
          </p:nvPr>
        </p:nvSpPr>
        <p:spPr>
          <a:xfrm>
            <a:off x="5654675" y="104571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LLM调用黑盒</a:t>
            </a:r>
            <a:endParaRPr lang="en-US" sz="1100" dirty="0"/>
          </a:p>
        </p:txBody>
      </p:sp>
      <p:sp>
        <p:nvSpPr>
          <p:cNvPr id="13" name="Text 10"/>
          <p:cNvSpPr/>
          <p:nvPr>
            <p:custDataLst>
              <p:tags r:id="rId2"/>
            </p:custDataLst>
          </p:nvPr>
        </p:nvSpPr>
        <p:spPr>
          <a:xfrm>
            <a:off x="5654675" y="127431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无法追踪模型推理耗时、Token消耗、提示词内容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26075" y="1850390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5" name="Text 12"/>
          <p:cNvSpPr/>
          <p:nvPr>
            <p:custDataLst>
              <p:tags r:id="rId3"/>
            </p:custDataLst>
          </p:nvPr>
        </p:nvSpPr>
        <p:spPr>
          <a:xfrm>
            <a:off x="5654675" y="182295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Agent决策不可见</a:t>
            </a:r>
            <a:endParaRPr lang="en-US" sz="1100" dirty="0"/>
          </a:p>
        </p:txBody>
      </p:sp>
      <p:sp>
        <p:nvSpPr>
          <p:cNvPr id="16" name="Text 13"/>
          <p:cNvSpPr/>
          <p:nvPr>
            <p:custDataLst>
              <p:tags r:id="rId4"/>
            </p:custDataLst>
          </p:nvPr>
        </p:nvSpPr>
        <p:spPr>
          <a:xfrm>
            <a:off x="5654675" y="205155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多步推理链路断裂，中间过程无法回溯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26075" y="2627630"/>
            <a:ext cx="54864" cy="548640"/>
          </a:xfrm>
          <a:prstGeom prst="rect">
            <a:avLst/>
          </a:prstGeom>
          <a:solidFill>
            <a:srgbClr val="DC2626">
              <a:alpha val="60000"/>
            </a:srgbClr>
          </a:solidFill>
        </p:spPr>
      </p:sp>
      <p:sp>
        <p:nvSpPr>
          <p:cNvPr id="18" name="Text 15"/>
          <p:cNvSpPr/>
          <p:nvPr>
            <p:custDataLst>
              <p:tags r:id="rId5"/>
            </p:custDataLst>
          </p:nvPr>
        </p:nvSpPr>
        <p:spPr>
          <a:xfrm>
            <a:off x="5654675" y="2600198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用户体验盲区</a:t>
            </a:r>
            <a:endParaRPr lang="en-US" sz="1100" dirty="0"/>
          </a:p>
        </p:txBody>
      </p:sp>
      <p:sp>
        <p:nvSpPr>
          <p:cNvPr id="19" name="Text 16"/>
          <p:cNvSpPr/>
          <p:nvPr>
            <p:custDataLst>
              <p:tags r:id="rId6"/>
            </p:custDataLst>
          </p:nvPr>
        </p:nvSpPr>
        <p:spPr>
          <a:xfrm>
            <a:off x="5654675" y="282879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缺乏会话级观测，无法重现用户真实交互路径</a:t>
            </a:r>
            <a:endParaRPr lang="en-US" sz="900" dirty="0"/>
          </a:p>
        </p:txBody>
      </p:sp>
      <p:sp>
        <p:nvSpPr>
          <p:cNvPr id="20" name="Shape 1"/>
          <p:cNvSpPr/>
          <p:nvPr/>
        </p:nvSpPr>
        <p:spPr>
          <a:xfrm>
            <a:off x="397089" y="2917281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2"/>
          <p:cNvSpPr/>
          <p:nvPr/>
        </p:nvSpPr>
        <p:spPr>
          <a:xfrm>
            <a:off x="397089" y="2917281"/>
            <a:ext cx="54861" cy="621760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22" name="Text 3"/>
          <p:cNvSpPr/>
          <p:nvPr/>
        </p:nvSpPr>
        <p:spPr>
          <a:xfrm>
            <a:off x="671395" y="2962999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200 但答非所问</a:t>
            </a:r>
            <a:endParaRPr lang="en-US" sz="1400" dirty="0"/>
          </a:p>
        </p:txBody>
      </p:sp>
      <p:sp>
        <p:nvSpPr>
          <p:cNvPr id="23" name="Text 4"/>
          <p:cNvSpPr/>
          <p:nvPr/>
        </p:nvSpPr>
        <p:spPr>
          <a:xfrm>
            <a:off x="671395" y="3237304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全绿，但大模型回复事实错误、幻觉严重。传统监控看不见「答案质量」</a:t>
            </a:r>
            <a:endParaRPr lang="en-US" sz="1000" dirty="0"/>
          </a:p>
        </p:txBody>
      </p:sp>
      <p:sp>
        <p:nvSpPr>
          <p:cNvPr id="24" name="Shape 5"/>
          <p:cNvSpPr/>
          <p:nvPr/>
        </p:nvSpPr>
        <p:spPr>
          <a:xfrm>
            <a:off x="397089" y="3667050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6"/>
          <p:cNvSpPr/>
          <p:nvPr/>
        </p:nvSpPr>
        <p:spPr>
          <a:xfrm>
            <a:off x="397089" y="3667050"/>
            <a:ext cx="54861" cy="621760"/>
          </a:xfrm>
          <a:prstGeom prst="rect">
            <a:avLst/>
          </a:prstGeom>
          <a:solidFill>
            <a:srgbClr val="F57C00"/>
          </a:solidFill>
        </p:spPr>
      </p:sp>
      <p:sp>
        <p:nvSpPr>
          <p:cNvPr id="26" name="Text 7"/>
          <p:cNvSpPr/>
          <p:nvPr/>
        </p:nvSpPr>
        <p:spPr>
          <a:xfrm>
            <a:off x="671395" y="3712768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成本悄悄翻倍</a:t>
            </a:r>
            <a:endParaRPr lang="en-US" sz="1400" dirty="0"/>
          </a:p>
        </p:txBody>
      </p:sp>
      <p:sp>
        <p:nvSpPr>
          <p:cNvPr id="27" name="Text 8"/>
          <p:cNvSpPr/>
          <p:nvPr/>
        </p:nvSpPr>
        <p:spPr>
          <a:xfrm>
            <a:off x="671395" y="3987073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用量无追踪，RAG 检索静默退化，异常调用拖垮预算</a:t>
            </a:r>
            <a:endParaRPr lang="en-US" sz="1000" dirty="0"/>
          </a:p>
        </p:txBody>
      </p:sp>
      <p:sp>
        <p:nvSpPr>
          <p:cNvPr id="28" name="Shape 9"/>
          <p:cNvSpPr/>
          <p:nvPr/>
        </p:nvSpPr>
        <p:spPr>
          <a:xfrm>
            <a:off x="397089" y="4416819"/>
            <a:ext cx="4388891" cy="62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10"/>
          <p:cNvSpPr/>
          <p:nvPr/>
        </p:nvSpPr>
        <p:spPr>
          <a:xfrm>
            <a:off x="397089" y="4416819"/>
            <a:ext cx="54861" cy="62176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0" name="Text 11"/>
          <p:cNvSpPr/>
          <p:nvPr/>
        </p:nvSpPr>
        <p:spPr>
          <a:xfrm>
            <a:off x="671395" y="4462537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编排失控·自主副作用</a:t>
            </a:r>
            <a:endParaRPr lang="en-US" sz="1400" dirty="0"/>
          </a:p>
        </p:txBody>
      </p:sp>
      <p:sp>
        <p:nvSpPr>
          <p:cNvPr id="31" name="Text 12"/>
          <p:cNvSpPr/>
          <p:nvPr/>
        </p:nvSpPr>
        <p:spPr>
          <a:xfrm>
            <a:off x="671395" y="4736842"/>
            <a:ext cx="3931715" cy="2560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defTabSz="91440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 年案例：自治 Agent 误执行 DROP DATABASE，所有指标全绿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850" y="1097357"/>
            <a:ext cx="1097223" cy="7385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48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943" y="1188792"/>
            <a:ext cx="6400467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36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内核与标准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943" y="2194580"/>
            <a:ext cx="6400467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6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什么是 AI 可观测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943" y="2926061"/>
            <a:ext cx="2743058" cy="3657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内核与标准：什么是 AI 可观测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4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传统三支柱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05840" cy="6858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2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185FA5"/>
                </a:solidFill>
                <a:latin typeface="Calibri" panose="020F0502020204030204"/>
              </a:defRPr>
            </a:pPr>
            <a:r>
              <a:t>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143000"/>
            <a:ext cx="1005840" cy="6858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" name="TextBox 8"/>
          <p:cNvSpPr txBox="1"/>
          <p:nvPr/>
        </p:nvSpPr>
        <p:spPr>
          <a:xfrm>
            <a:off x="1828800" y="1170432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2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819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185FA5"/>
                </a:solidFill>
                <a:latin typeface="Calibri" panose="020F0502020204030204"/>
              </a:defRPr>
            </a:pPr>
            <a:r>
              <a:t>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143000"/>
            <a:ext cx="1005840" cy="68580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" name="TextBox 11"/>
          <p:cNvSpPr txBox="1"/>
          <p:nvPr/>
        </p:nvSpPr>
        <p:spPr>
          <a:xfrm>
            <a:off x="3017520" y="1170432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2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5819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185FA5"/>
                </a:solidFill>
                <a:latin typeface="Calibri" panose="020F0502020204030204"/>
              </a:defRPr>
            </a:pPr>
            <a:r>
              <a:t>Traces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1168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系统级监控：CPU、内存、QPS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定位「发生了什么」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68580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7" name="TextBox 16"/>
          <p:cNvSpPr txBox="1"/>
          <p:nvPr/>
        </p:nvSpPr>
        <p:spPr>
          <a:xfrm>
            <a:off x="4754880" y="74980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4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四大 AI 原语（新增）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115568"/>
            <a:ext cx="3749039" cy="3291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9" name="TextBox 18"/>
          <p:cNvSpPr txBox="1"/>
          <p:nvPr/>
        </p:nvSpPr>
        <p:spPr>
          <a:xfrm>
            <a:off x="4846320" y="11430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评估分数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1430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幻觉率/相关性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481328"/>
            <a:ext cx="3749039" cy="3291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2" name="TextBox 21"/>
          <p:cNvSpPr txBox="1"/>
          <p:nvPr/>
        </p:nvSpPr>
        <p:spPr>
          <a:xfrm>
            <a:off x="4846320" y="15087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Prompt 快照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版本追踪回放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1847088"/>
            <a:ext cx="3749039" cy="3291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5" name="TextBox 24"/>
          <p:cNvSpPr txBox="1"/>
          <p:nvPr/>
        </p:nvSpPr>
        <p:spPr>
          <a:xfrm>
            <a:off x="4846320" y="1874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Token 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745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按意图分账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212848"/>
            <a:ext cx="3749039" cy="329184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8" name="TextBox 27"/>
          <p:cNvSpPr txBox="1"/>
          <p:nvPr/>
        </p:nvSpPr>
        <p:spPr>
          <a:xfrm>
            <a:off x="4846320" y="22402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工具调用树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2402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Agent 编排链路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5786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85FA5"/>
                </a:solidFill>
                <a:latin typeface="Calibri" panose="020F0502020204030204"/>
              </a:defRPr>
            </a:pPr>
            <a:r>
              <a:t>回答「够不够好、该修什么」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2" name="TextBox 31"/>
          <p:cNvSpPr txBox="1"/>
          <p:nvPr/>
        </p:nvSpPr>
        <p:spPr>
          <a:xfrm>
            <a:off x="640080" y="2926080"/>
            <a:ext cx="7680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标准锚点：OpenTelemetry GenAI 语义约定 2026 年初稳定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20040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gen_ai.system · gen_ai.request.model · gen_ai.usage.input_tokens 等标准属性，确保跨厂商观测一致性。一条 Agent 请求 = 一棵 Span 树：Root → LLM Completion → Tool Call → 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E6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5" name="TextBox 34"/>
          <p:cNvSpPr txBox="1"/>
          <p:nvPr/>
        </p:nvSpPr>
        <p:spPr>
          <a:xfrm>
            <a:off x="640080" y="388620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0D47A1"/>
                </a:solidFill>
                <a:latin typeface="Calibri" panose="020F0502020204030204"/>
              </a:defRPr>
            </a:pPr>
            <a:r>
              <a:t>设计原则：不改造 LLM SDK → OTel Java Agent 自动拦截 → 标准 OTLP 导出 → 与 Tempo/VM/Loki 统一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AI可观测整体架构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端到端数据流：埋点 → 采集 → 处理 → 存储 → 呈现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9" name="Text 7"/>
          <p:cNvSpPr/>
          <p:nvPr/>
        </p:nvSpPr>
        <p:spPr>
          <a:xfrm>
            <a:off x="594360" y="1371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业务埋点层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6824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Core服务OTel SDK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javaagent自动注入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Span/指标/日志导出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128016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28016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15" name="Text 13"/>
          <p:cNvSpPr/>
          <p:nvPr/>
        </p:nvSpPr>
        <p:spPr>
          <a:xfrm>
            <a:off x="2423160" y="1371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数据采集层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16824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OTel Collector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1938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OTLP协议接收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23160" y="21945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批量压缩&amp;转发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128016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8016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21" name="Text 19"/>
          <p:cNvSpPr/>
          <p:nvPr/>
        </p:nvSpPr>
        <p:spPr>
          <a:xfrm>
            <a:off x="5166360" y="1371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数据处理层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68249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Backend API服务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19385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Span解析&amp;关联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21945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汇聚持久化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27" name="Text 25"/>
          <p:cNvSpPr/>
          <p:nvPr/>
        </p:nvSpPr>
        <p:spPr>
          <a:xfrm>
            <a:off x="594360" y="3108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数据存储层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41985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H2 / PostgreSQL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6758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时序指标库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931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日志: Loki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3017520"/>
            <a:ext cx="393192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3017520"/>
            <a:ext cx="3931920" cy="36576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33" name="Text 31"/>
          <p:cNvSpPr/>
          <p:nvPr/>
        </p:nvSpPr>
        <p:spPr>
          <a:xfrm>
            <a:off x="4709160" y="31089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前端呈现层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419856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总览大屏 / 指标看板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36758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会话回放 / Trace链路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3931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AI洞察 / 日志告警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828800" y="1828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251960" y="18288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423160" y="25146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↓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114800" y="35661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标准技术栈：Spring Boot 3 + Spring AI + OpenTelemetry JavaAgent + OTLP Collector + Loki + Grafana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2" name="图片 1" descr="arch-targ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575" y="584835"/>
            <a:ext cx="4871720" cy="43237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DEMO 架构（V4 开发基线）</a:t>
            </a:r>
            <a:endParaRPr lang="en-US" sz="2200" dirty="0"/>
          </a:p>
        </p:txBody>
      </p:sp>
      <p:pic>
        <p:nvPicPr>
          <p:cNvPr id="3" name="Image 0" descr="E:/WorkBuddy/2026-07-16-22-17-49/outputs/ai-observability-arch-DEMO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82880" y="156845"/>
            <a:ext cx="8247380" cy="46678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8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DEMO 架构（V4 开发基线 · 单体自洽）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" name="Rounded Rectangle 3"/>
          <p:cNvSpPr/>
          <p:nvPr/>
        </p:nvSpPr>
        <p:spPr>
          <a:xfrm>
            <a:off x="548640" y="786384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" name="TextBox 5"/>
          <p:cNvSpPr txBox="1"/>
          <p:nvPr/>
        </p:nvSpPr>
        <p:spPr>
          <a:xfrm>
            <a:off x="644525" y="89585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采集发射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1885" y="585470"/>
            <a:ext cx="1127125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Core 8080</a:t>
            </a:r>
          </a:p>
        </p:txBody>
      </p:sp>
      <p:sp>
        <p:nvSpPr>
          <p:cNvPr id="8" name="Rectangle 7"/>
          <p:cNvSpPr/>
          <p:nvPr/>
        </p:nvSpPr>
        <p:spPr>
          <a:xfrm>
            <a:off x="1426464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" name="TextBox 9"/>
          <p:cNvSpPr txBox="1"/>
          <p:nvPr/>
        </p:nvSpPr>
        <p:spPr>
          <a:xfrm>
            <a:off x="1481328" y="768096"/>
            <a:ext cx="1170432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 lang="zh-CN"/>
              <a:t>银行</a:t>
            </a:r>
            <a:r>
              <a:rPr lang="zh-CN"/>
              <a:t>智能体</a:t>
            </a:r>
            <a:endParaRPr lang="zh-CN"/>
          </a:p>
        </p:txBody>
      </p:sp>
      <p:sp>
        <p:nvSpPr>
          <p:cNvPr id="11" name="TextBox 10"/>
          <p:cNvSpPr txBox="1"/>
          <p:nvPr/>
        </p:nvSpPr>
        <p:spPr>
          <a:xfrm>
            <a:off x="1481328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HTTP拦截+trace注入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24912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4800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06240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0" name="TextBox 19"/>
          <p:cNvSpPr txBox="1"/>
          <p:nvPr/>
        </p:nvSpPr>
        <p:spPr>
          <a:xfrm>
            <a:off x="4261104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ObsChatModel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span+意图+置信度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04688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596128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5" name="TextBox 24"/>
          <p:cNvSpPr txBox="1"/>
          <p:nvPr/>
        </p:nvSpPr>
        <p:spPr>
          <a:xfrm>
            <a:off x="5650992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OTel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+SessionBridge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0" y="1353312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38928" y="136245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0" y="1353312"/>
            <a:ext cx="0" cy="54864"/>
          </a:xfrm>
          <a:prstGeom prst="line">
            <a:avLst/>
          </a:prstGeom>
          <a:ln w="19050">
            <a:solidFill>
              <a:srgbClr val="185FA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0" y="20848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HTTP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1426464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2" name="Rounded Rectangle 31"/>
          <p:cNvSpPr/>
          <p:nvPr/>
        </p:nvSpPr>
        <p:spPr>
          <a:xfrm>
            <a:off x="548640" y="1664208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3" name="TextBox 32"/>
          <p:cNvSpPr txBox="1"/>
          <p:nvPr/>
        </p:nvSpPr>
        <p:spPr>
          <a:xfrm>
            <a:off x="548640" y="1682496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190195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采集管道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0145" y="1463040"/>
            <a:ext cx="1078865" cy="1765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OTel Collector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26464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8" name="TextBox 37"/>
          <p:cNvSpPr txBox="1"/>
          <p:nvPr/>
        </p:nvSpPr>
        <p:spPr>
          <a:xfrm>
            <a:off x="1481328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Receiver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OTLP接收+解码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24912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816352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3" name="TextBox 42"/>
          <p:cNvSpPr txBox="1"/>
          <p:nvPr/>
        </p:nvSpPr>
        <p:spPr>
          <a:xfrm>
            <a:off x="2871216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Batch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71216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攒批去重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14800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206240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8" name="TextBox 47"/>
          <p:cNvSpPr txBox="1"/>
          <p:nvPr/>
        </p:nvSpPr>
        <p:spPr>
          <a:xfrm>
            <a:off x="4261104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Filter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61104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过滤噪点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504688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596128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3" name="TextBox 52"/>
          <p:cNvSpPr txBox="1"/>
          <p:nvPr/>
        </p:nvSpPr>
        <p:spPr>
          <a:xfrm>
            <a:off x="5650992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Export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50992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导出（单路）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29200" y="2231136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38928" y="224028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304288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8" name="Rounded Rectangle 57"/>
          <p:cNvSpPr/>
          <p:nvPr/>
        </p:nvSpPr>
        <p:spPr>
          <a:xfrm>
            <a:off x="548640" y="2542032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9" name="TextBox 58"/>
          <p:cNvSpPr txBox="1"/>
          <p:nvPr/>
        </p:nvSpPr>
        <p:spPr>
          <a:xfrm>
            <a:off x="548640" y="256032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2779776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业务处理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87005" y="2304415"/>
            <a:ext cx="802005" cy="2190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Backend 9090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26464" y="2450592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3" name="Rectangle 62"/>
          <p:cNvSpPr/>
          <p:nvPr/>
        </p:nvSpPr>
        <p:spPr>
          <a:xfrm>
            <a:off x="1426464" y="2450592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4" name="TextBox 63"/>
          <p:cNvSpPr txBox="1"/>
          <p:nvPr/>
        </p:nvSpPr>
        <p:spPr>
          <a:xfrm>
            <a:off x="1481328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SessionService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81328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接入网关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724912" y="2706624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2816352" y="2450592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8" name="Rectangle 67"/>
          <p:cNvSpPr/>
          <p:nvPr/>
        </p:nvSpPr>
        <p:spPr>
          <a:xfrm>
            <a:off x="2816352" y="2450592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9" name="TextBox 68"/>
          <p:cNvSpPr txBox="1"/>
          <p:nvPr/>
        </p:nvSpPr>
        <p:spPr>
          <a:xfrm>
            <a:off x="2871216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Redis + H2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71216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自管存储·热温层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114800" y="2706624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4206240" y="2450592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3" name="Rectangle 72"/>
          <p:cNvSpPr/>
          <p:nvPr/>
        </p:nvSpPr>
        <p:spPr>
          <a:xfrm>
            <a:off x="4206240" y="2450592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4" name="TextBox 73"/>
          <p:cNvSpPr txBox="1"/>
          <p:nvPr/>
        </p:nvSpPr>
        <p:spPr>
          <a:xfrm>
            <a:off x="4261104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InsightsEngine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61104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单层分析引擎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3182112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7" name="Rounded Rectangle 76"/>
          <p:cNvSpPr/>
          <p:nvPr/>
        </p:nvSpPr>
        <p:spPr>
          <a:xfrm>
            <a:off x="548640" y="3489706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8" name="TextBox 77"/>
          <p:cNvSpPr txBox="1"/>
          <p:nvPr/>
        </p:nvSpPr>
        <p:spPr>
          <a:xfrm>
            <a:off x="548640" y="3507994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372745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遥测存储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40015" y="3218815"/>
            <a:ext cx="848995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Tempo/VM/Loki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26464" y="339826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2" name="Rectangle 81"/>
          <p:cNvSpPr/>
          <p:nvPr/>
        </p:nvSpPr>
        <p:spPr>
          <a:xfrm>
            <a:off x="1426464" y="339826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3" name="TextBox 82"/>
          <p:cNvSpPr txBox="1"/>
          <p:nvPr/>
        </p:nvSpPr>
        <p:spPr>
          <a:xfrm>
            <a:off x="1481328" y="347141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Tempo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81328" y="367258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链路存储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724912" y="3654298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816352" y="339826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7" name="Rectangle 86"/>
          <p:cNvSpPr/>
          <p:nvPr/>
        </p:nvSpPr>
        <p:spPr>
          <a:xfrm>
            <a:off x="2816352" y="339826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8" name="TextBox 87"/>
          <p:cNvSpPr txBox="1"/>
          <p:nvPr/>
        </p:nvSpPr>
        <p:spPr>
          <a:xfrm>
            <a:off x="2871216" y="347141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VictoriaMetrics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71216" y="367258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指标存储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114800" y="3654298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4206240" y="339826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2" name="Rectangle 91"/>
          <p:cNvSpPr/>
          <p:nvPr/>
        </p:nvSpPr>
        <p:spPr>
          <a:xfrm>
            <a:off x="4206240" y="339826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3" name="TextBox 92"/>
          <p:cNvSpPr txBox="1"/>
          <p:nvPr/>
        </p:nvSpPr>
        <p:spPr>
          <a:xfrm>
            <a:off x="4261104" y="347141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Loki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61104" y="367258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日志存储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5029200" y="3986784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138928" y="399592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Query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4192905"/>
            <a:ext cx="8229600" cy="671830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8" name="Rounded Rectangle 97"/>
          <p:cNvSpPr/>
          <p:nvPr/>
        </p:nvSpPr>
        <p:spPr>
          <a:xfrm>
            <a:off x="548640" y="4360545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9" name="TextBox 98"/>
          <p:cNvSpPr txBox="1"/>
          <p:nvPr/>
        </p:nvSpPr>
        <p:spPr>
          <a:xfrm>
            <a:off x="548640" y="4378833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4598289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消费触达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07325" y="4257040"/>
            <a:ext cx="781685" cy="138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消费与触达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426464" y="4269105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3" name="Rectangle 102"/>
          <p:cNvSpPr/>
          <p:nvPr/>
        </p:nvSpPr>
        <p:spPr>
          <a:xfrm>
            <a:off x="1426464" y="4269105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4" name="TextBox 103"/>
          <p:cNvSpPr txBox="1"/>
          <p:nvPr/>
        </p:nvSpPr>
        <p:spPr>
          <a:xfrm>
            <a:off x="1481328" y="4342257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Grafana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81328" y="4543425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运营大屏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2724912" y="4525137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2816352" y="4269105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8" name="Rectangle 107"/>
          <p:cNvSpPr/>
          <p:nvPr/>
        </p:nvSpPr>
        <p:spPr>
          <a:xfrm>
            <a:off x="2816352" y="4269105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9" name="TextBox 108"/>
          <p:cNvSpPr txBox="1"/>
          <p:nvPr/>
        </p:nvSpPr>
        <p:spPr>
          <a:xfrm>
            <a:off x="2871216" y="4342257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AI洞察面板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71216" y="4543425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异常·根因·趋势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4114800" y="4525137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4206240" y="4269105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3" name="Rectangle 112"/>
          <p:cNvSpPr/>
          <p:nvPr/>
        </p:nvSpPr>
        <p:spPr>
          <a:xfrm>
            <a:off x="4206240" y="4269105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4" name="TextBox 113"/>
          <p:cNvSpPr txBox="1"/>
          <p:nvPr/>
        </p:nvSpPr>
        <p:spPr>
          <a:xfrm>
            <a:off x="4261104" y="4342257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告警面板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61104" y="4543425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告警管理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504688" y="4525137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5596128" y="4269105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8" name="Rectangle 117"/>
          <p:cNvSpPr/>
          <p:nvPr/>
        </p:nvSpPr>
        <p:spPr>
          <a:xfrm>
            <a:off x="5596128" y="4269105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9" name="TextBox 118"/>
          <p:cNvSpPr txBox="1"/>
          <p:nvPr/>
        </p:nvSpPr>
        <p:spPr>
          <a:xfrm>
            <a:off x="5650992" y="4342257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钉钉通知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50992" y="4543425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消息触达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501091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可观测逻辑视角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3" name="TextBox 122"/>
          <p:cNvSpPr txBox="1"/>
          <p:nvPr/>
        </p:nvSpPr>
        <p:spPr>
          <a:xfrm>
            <a:off x="530352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L1 系统级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30352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A·基础指标→Grafana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496312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6" name="TextBox 125"/>
          <p:cNvSpPr txBox="1"/>
          <p:nvPr/>
        </p:nvSpPr>
        <p:spPr>
          <a:xfrm>
            <a:off x="2569464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L2 模型级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69464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B·自建主战场(token/时延)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35424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9" name="TextBox 128"/>
          <p:cNvSpPr txBox="1"/>
          <p:nvPr/>
        </p:nvSpPr>
        <p:spPr>
          <a:xfrm>
            <a:off x="4608576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L3 业务级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08576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C·自建主战场(意图/工具)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74536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32" name="TextBox 131"/>
          <p:cNvSpPr txBox="1"/>
          <p:nvPr/>
        </p:nvSpPr>
        <p:spPr>
          <a:xfrm>
            <a:off x="6647688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L4 体验级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47688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E·维度规范(满意度)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"/>
            <a:ext cx="82296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8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 架构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769350" y="695452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79078" y="70459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OTLP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432435" y="4002405"/>
            <a:ext cx="8229600" cy="859536"/>
            <a:chOff x="720" y="864"/>
            <a:chExt cx="12960" cy="1354"/>
          </a:xfrm>
        </p:grpSpPr>
        <p:sp>
          <p:nvSpPr>
            <p:cNvPr id="3" name="Rectangle 2"/>
            <p:cNvSpPr/>
            <p:nvPr/>
          </p:nvSpPr>
          <p:spPr>
            <a:xfrm>
              <a:off x="720" y="864"/>
              <a:ext cx="12960" cy="1267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64" y="1238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72" y="1411"/>
              <a:ext cx="1123" cy="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rPr 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</a:t>
              </a: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采集发射</a:t>
              </a: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751" y="922"/>
              <a:ext cx="1775" cy="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Core 8080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46" y="109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33" y="1210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BankController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33" y="152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HTTP拦截+trace注入</a:t>
              </a: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4291" y="1498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480" y="1498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6624" y="109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10" y="1210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ObsChatModel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10" y="152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span+意图+置信度</a:t>
              </a: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8669" y="1498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8813" y="109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99" y="1210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OTel Agent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899" y="152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+SessionBridge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9792" y="2131"/>
              <a:ext cx="0" cy="86"/>
            </a:xfrm>
            <a:prstGeom prst="line">
              <a:avLst/>
            </a:prstGeom>
            <a:ln w="19050">
              <a:solidFill>
                <a:srgbClr val="185FA5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6309360" y="20848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HTTP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432435" y="3074924"/>
            <a:ext cx="8229600" cy="804672"/>
            <a:chOff x="720" y="2246"/>
            <a:chExt cx="12960" cy="1267"/>
          </a:xfrm>
        </p:grpSpPr>
        <p:sp>
          <p:nvSpPr>
            <p:cNvPr id="31" name="Rectangle 30"/>
            <p:cNvSpPr/>
            <p:nvPr/>
          </p:nvSpPr>
          <p:spPr>
            <a:xfrm>
              <a:off x="720" y="2246"/>
              <a:ext cx="12960" cy="1267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864" y="2621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64" y="2786"/>
              <a:ext cx="1123" cy="20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采集管道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827" y="2304"/>
              <a:ext cx="1699" cy="278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OTel Collector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246" y="2477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333" y="2592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Receiver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33" y="2909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OTLP接收+解码</a:t>
              </a: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4291" y="2880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4435" y="2477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522" y="2592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Batch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22" y="2909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攒批去重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6480" y="2880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6624" y="2477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710" y="2592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Filter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10" y="2909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过滤噪点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0" name="Connector 49"/>
            <p:cNvCxnSpPr/>
            <p:nvPr/>
          </p:nvCxnSpPr>
          <p:spPr>
            <a:xfrm>
              <a:off x="8669" y="2880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8813" y="2477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899" y="2592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Export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899" y="2909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导出（单路）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55" name="Connector 54"/>
          <p:cNvCxnSpPr/>
          <p:nvPr/>
        </p:nvCxnSpPr>
        <p:spPr>
          <a:xfrm>
            <a:off x="5029200" y="2231136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138928" y="224028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OTLP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432435" y="2102993"/>
            <a:ext cx="8229600" cy="804672"/>
            <a:chOff x="720" y="3629"/>
            <a:chExt cx="12960" cy="1267"/>
          </a:xfrm>
        </p:grpSpPr>
        <p:sp>
          <p:nvSpPr>
            <p:cNvPr id="57" name="Rectangle 56"/>
            <p:cNvSpPr/>
            <p:nvPr/>
          </p:nvSpPr>
          <p:spPr>
            <a:xfrm>
              <a:off x="720" y="3629"/>
              <a:ext cx="12960" cy="1267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864" y="4003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64" y="4147"/>
              <a:ext cx="1123" cy="20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业务处理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2263" y="3629"/>
              <a:ext cx="1263" cy="34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Backend 9090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246" y="3859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246" y="3859"/>
              <a:ext cx="2016" cy="58"/>
            </a:xfrm>
            <a:prstGeom prst="rect">
              <a:avLst/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333" y="3974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SessionService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333" y="4291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接入网关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66" name="Connector 65"/>
            <p:cNvCxnSpPr/>
            <p:nvPr/>
          </p:nvCxnSpPr>
          <p:spPr>
            <a:xfrm>
              <a:off x="4291" y="4262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/>
            <p:cNvSpPr/>
            <p:nvPr/>
          </p:nvSpPr>
          <p:spPr>
            <a:xfrm>
              <a:off x="4435" y="3859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435" y="3859"/>
              <a:ext cx="2016" cy="58"/>
            </a:xfrm>
            <a:prstGeom prst="rect">
              <a:avLst/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522" y="3974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Redis + H2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522" y="4291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自管存储·热温层</a:t>
              </a: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71" name="Connector 70"/>
            <p:cNvCxnSpPr/>
            <p:nvPr/>
          </p:nvCxnSpPr>
          <p:spPr>
            <a:xfrm>
              <a:off x="6480" y="4262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6624" y="3859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624" y="3859"/>
              <a:ext cx="2016" cy="58"/>
            </a:xfrm>
            <a:prstGeom prst="rect">
              <a:avLst/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710" y="3974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InsightsEngine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710" y="4291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单层分析引擎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432435" y="1307465"/>
            <a:ext cx="8229600" cy="629920"/>
            <a:chOff x="720" y="5286"/>
            <a:chExt cx="12960" cy="992"/>
          </a:xfrm>
        </p:grpSpPr>
        <p:sp>
          <p:nvSpPr>
            <p:cNvPr id="76" name="Rectangle 75"/>
            <p:cNvSpPr/>
            <p:nvPr/>
          </p:nvSpPr>
          <p:spPr>
            <a:xfrm>
              <a:off x="720" y="5286"/>
              <a:ext cx="12960" cy="992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864" y="5496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64" y="5650"/>
              <a:ext cx="1123" cy="20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遥测存储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2238" y="5352"/>
              <a:ext cx="1337" cy="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Tempo/VM/Loki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2246" y="5352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333" y="5467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Tempo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333" y="5784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链路存储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85" name="Connector 84"/>
            <p:cNvCxnSpPr/>
            <p:nvPr/>
          </p:nvCxnSpPr>
          <p:spPr>
            <a:xfrm>
              <a:off x="4291" y="5755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Rectangle 85"/>
            <p:cNvSpPr/>
            <p:nvPr/>
          </p:nvSpPr>
          <p:spPr>
            <a:xfrm>
              <a:off x="4435" y="5352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522" y="5467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VictoriaMetrics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522" y="5784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指标存储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0" name="Connector 89"/>
            <p:cNvCxnSpPr/>
            <p:nvPr/>
          </p:nvCxnSpPr>
          <p:spPr>
            <a:xfrm>
              <a:off x="6480" y="5755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/>
            <p:cNvSpPr/>
            <p:nvPr/>
          </p:nvSpPr>
          <p:spPr>
            <a:xfrm>
              <a:off x="6624" y="5352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710" y="5467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Loki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710" y="5784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日志存储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95" name="Connector 94"/>
          <p:cNvCxnSpPr/>
          <p:nvPr/>
        </p:nvCxnSpPr>
        <p:spPr>
          <a:xfrm>
            <a:off x="5029200" y="3986784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138928" y="399592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Query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432435" y="318135"/>
            <a:ext cx="8229600" cy="671830"/>
            <a:chOff x="1235" y="94"/>
            <a:chExt cx="12960" cy="1058"/>
          </a:xfrm>
        </p:grpSpPr>
        <p:sp>
          <p:nvSpPr>
            <p:cNvPr id="97" name="Rectangle 96"/>
            <p:cNvSpPr/>
            <p:nvPr/>
          </p:nvSpPr>
          <p:spPr>
            <a:xfrm>
              <a:off x="1235" y="94"/>
              <a:ext cx="12960" cy="1058"/>
            </a:xfrm>
            <a:prstGeom prst="rect">
              <a:avLst/>
            </a:prstGeom>
            <a:solidFill>
              <a:srgbClr val="E6F1FB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1379" y="358"/>
              <a:ext cx="1123" cy="518"/>
            </a:xfrm>
            <a:prstGeom prst="roundRect">
              <a:avLst>
                <a:gd name="adj" fmla="val 18000"/>
              </a:avLst>
            </a:prstGeom>
            <a:solidFill>
              <a:srgbClr val="185F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379" y="512"/>
              <a:ext cx="1123" cy="20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900" b="0" i="0">
                  <a:solidFill>
                    <a:srgbClr val="E6F1FB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消费触达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810" y="195"/>
              <a:ext cx="1231" cy="21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 defTabSz="457200">
                <a:defRPr sz="900" b="1" i="0">
                  <a:solidFill>
                    <a:srgbClr val="185FA5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消费与触达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2761" y="21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848" y="329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Grafana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848" y="64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运营大屏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06" name="Connector 105"/>
            <p:cNvCxnSpPr/>
            <p:nvPr/>
          </p:nvCxnSpPr>
          <p:spPr>
            <a:xfrm>
              <a:off x="4806" y="617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ectangle 106"/>
            <p:cNvSpPr/>
            <p:nvPr/>
          </p:nvSpPr>
          <p:spPr>
            <a:xfrm>
              <a:off x="4950" y="21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5037" y="329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AI洞察面板</a:t>
              </a: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037" y="64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异常·根因·趋势</a:t>
              </a: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11" name="Connector 110"/>
            <p:cNvCxnSpPr/>
            <p:nvPr/>
          </p:nvCxnSpPr>
          <p:spPr>
            <a:xfrm>
              <a:off x="6995" y="617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/>
            <p:cNvSpPr/>
            <p:nvPr/>
          </p:nvSpPr>
          <p:spPr>
            <a:xfrm>
              <a:off x="7139" y="21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225" y="329"/>
              <a:ext cx="1843" cy="31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告警面板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225" y="64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告警管理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16" name="Connector 115"/>
            <p:cNvCxnSpPr/>
            <p:nvPr/>
          </p:nvCxnSpPr>
          <p:spPr>
            <a:xfrm>
              <a:off x="9184" y="617"/>
              <a:ext cx="115" cy="0"/>
            </a:xfrm>
            <a:prstGeom prst="line">
              <a:avLst/>
            </a:prstGeom>
            <a:ln w="15240">
              <a:solidFill>
                <a:srgbClr val="18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116"/>
            <p:cNvSpPr/>
            <p:nvPr/>
          </p:nvSpPr>
          <p:spPr>
            <a:xfrm>
              <a:off x="9328" y="214"/>
              <a:ext cx="2016" cy="8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5B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414" y="329"/>
              <a:ext cx="1843" cy="2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1100" b="1" i="0">
                  <a:solidFill>
                    <a:srgbClr val="1A2B3C"/>
                  </a:solidFill>
                  <a:latin typeface="Calibri" panose="020F0502020204030204"/>
                </a:defRPr>
              </a:pP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企业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OA</a:t>
              </a:r>
              <a:r>
                <a:rPr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通知</a:t>
              </a:r>
              <a:endPara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414" y="646"/>
              <a:ext cx="1843" cy="2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 defTabSz="457200">
                <a:defRPr sz="800" b="0" i="0">
                  <a:solidFill>
                    <a:srgbClr val="5F5E5A"/>
                  </a:solidFill>
                  <a:latin typeface="Calibri" panose="020F0502020204030204"/>
                </a:defRPr>
              </a:pPr>
              <a:r>
                <a:rPr>
                  <a:latin typeface="微软雅黑" panose="020B0503020204020204" charset="-122"/>
                  <a:ea typeface="微软雅黑" panose="020B0503020204020204" charset="-122"/>
                </a:rPr>
                <a:t>消息触达</a:t>
              </a: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457200" y="501091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可观测逻辑视角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457200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30352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系统级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530352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A·基础指标→Grafana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2496312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569464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模型级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2569464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B·自建主战场(token/时延)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4535424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608576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业务级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4608576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C·自建主战场(意图/工具)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6574536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647688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 体验级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647688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E·维度规范(满意度)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33" y="18923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整体系统架构：从埋点到前台呈现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2600" y="4648200"/>
            <a:ext cx="4994275" cy="460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/>
            <a:r>
              <a:rPr sz="1200" b="1">
                <a:solidFill>
                  <a:srgbClr val="4B5563"/>
                </a:solidFill>
                <a:latin typeface="微软雅黑" panose="020B0503020204020204" charset="-122"/>
              </a:rPr>
              <a:t>统一数据采集层 + 可观测中台 + 多维度前台：实现对 AI 智能体全链路、可下钻、可对比的观测。</a:t>
            </a:r>
            <a:endParaRPr sz="1200" b="1">
              <a:solidFill>
                <a:srgbClr val="4B5563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90600" y="621665"/>
            <a:ext cx="3600000" cy="4241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手机银行</a:t>
            </a: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业务系统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90600" y="1386205"/>
            <a:ext cx="3600000" cy="4241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数据埋点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457200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（OpenTelemetry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OTel SDK</a:t>
            </a: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90600" y="2150745"/>
            <a:ext cx="3600000" cy="4241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</a:t>
            </a: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OTel Collector
采集/处理/路由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90600" y="2915285"/>
            <a:ext cx="3600000" cy="42418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数据存储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Redis+DB+Victoria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Metrics+Tempo+Loki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4670" y="4159885"/>
            <a:ext cx="837565" cy="424815"/>
          </a:xfrm>
          <a:prstGeom prst="roundRect">
            <a:avLst/>
          </a:prstGeom>
          <a:solidFill>
            <a:srgbClr val="F59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
Metrics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56690" y="4159885"/>
            <a:ext cx="837565" cy="424815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
Session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377440" y="4159885"/>
            <a:ext cx="837565" cy="424815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
链路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98190" y="4159885"/>
            <a:ext cx="837565" cy="424815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
Logs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19575" y="4159885"/>
            <a:ext cx="837565" cy="424815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洞察
Insight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>
            <a:stCxn id="9" idx="2"/>
          </p:cNvCxnSpPr>
          <p:nvPr/>
        </p:nvCxnSpPr>
        <p:spPr>
          <a:xfrm>
            <a:off x="2790825" y="3339465"/>
            <a:ext cx="0" cy="21717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53770" y="3551555"/>
            <a:ext cx="3679825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endCxn id="13" idx="0"/>
          </p:cNvCxnSpPr>
          <p:nvPr/>
        </p:nvCxnSpPr>
        <p:spPr>
          <a:xfrm>
            <a:off x="953770" y="3952875"/>
            <a:ext cx="0" cy="20701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endCxn id="14" idx="0"/>
          </p:cNvCxnSpPr>
          <p:nvPr/>
        </p:nvCxnSpPr>
        <p:spPr>
          <a:xfrm>
            <a:off x="1875155" y="3952875"/>
            <a:ext cx="635" cy="20701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endCxn id="15" idx="0"/>
          </p:cNvCxnSpPr>
          <p:nvPr/>
        </p:nvCxnSpPr>
        <p:spPr>
          <a:xfrm>
            <a:off x="2795905" y="3952875"/>
            <a:ext cx="635" cy="20701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endCxn id="16" idx="0"/>
          </p:cNvCxnSpPr>
          <p:nvPr/>
        </p:nvCxnSpPr>
        <p:spPr>
          <a:xfrm>
            <a:off x="3717290" y="3952875"/>
            <a:ext cx="0" cy="20701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endCxn id="17" idx="0"/>
          </p:cNvCxnSpPr>
          <p:nvPr/>
        </p:nvCxnSpPr>
        <p:spPr>
          <a:xfrm>
            <a:off x="4638675" y="3952875"/>
            <a:ext cx="0" cy="20701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3" idx="2"/>
            <a:endCxn id="4" idx="0"/>
          </p:cNvCxnSpPr>
          <p:nvPr/>
        </p:nvCxnSpPr>
        <p:spPr>
          <a:xfrm>
            <a:off x="2790825" y="1045845"/>
            <a:ext cx="0" cy="34036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4" idx="2"/>
            <a:endCxn id="8" idx="0"/>
          </p:cNvCxnSpPr>
          <p:nvPr/>
        </p:nvCxnSpPr>
        <p:spPr>
          <a:xfrm>
            <a:off x="2790825" y="1810385"/>
            <a:ext cx="0" cy="34036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8" idx="2"/>
            <a:endCxn id="9" idx="0"/>
          </p:cNvCxnSpPr>
          <p:nvPr/>
        </p:nvCxnSpPr>
        <p:spPr>
          <a:xfrm>
            <a:off x="2790825" y="2574925"/>
            <a:ext cx="0" cy="34036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7"/>
          <p:cNvSpPr/>
          <p:nvPr/>
        </p:nvSpPr>
        <p:spPr>
          <a:xfrm>
            <a:off x="396875" y="3593465"/>
            <a:ext cx="3600000" cy="4241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457200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</a:t>
            </a: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OTel Collector
采集/处理/路由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933" y="18923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整体系统架构：从埋点到前台呈现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5755" y="4684395"/>
            <a:ext cx="6690360" cy="2755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/>
            <a:r>
              <a:rPr sz="1200" b="1">
                <a:solidFill>
                  <a:srgbClr val="4B5563"/>
                </a:solidFill>
                <a:latin typeface="微软雅黑" panose="020B0503020204020204" charset="-122"/>
              </a:rPr>
              <a:t>统一数据采集层 + 可观测中台 + 多维度前台：实现对 AI 智能体全链路、可下钻、可对比的观测。</a:t>
            </a:r>
            <a:endParaRPr sz="1200" b="1">
              <a:solidFill>
                <a:srgbClr val="4B5563"/>
              </a:solidFill>
              <a:latin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92430" y="719455"/>
            <a:ext cx="5689600" cy="3864610"/>
            <a:chOff x="618" y="1133"/>
            <a:chExt cx="8960" cy="6086"/>
          </a:xfrm>
        </p:grpSpPr>
        <p:sp>
          <p:nvSpPr>
            <p:cNvPr id="3" name="Rounded Rectangle 2"/>
            <p:cNvSpPr/>
            <p:nvPr/>
          </p:nvSpPr>
          <p:spPr>
            <a:xfrm>
              <a:off x="2386" y="1133"/>
              <a:ext cx="5669" cy="668"/>
            </a:xfrm>
            <a:prstGeom prst="round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lang="zh-CN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手机银行</a:t>
              </a:r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业务系统</a:t>
              </a:r>
              <a:endPara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386" y="2183"/>
              <a:ext cx="5669" cy="668"/>
            </a:xfrm>
            <a:prstGeom prst="roundRect">
              <a:avLst/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数据埋点</a:t>
              </a:r>
              <a:endPara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 defTabSz="457200"/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（OpenTelemetry</a:t>
              </a:r>
              <a:r>
                <a:rPr lang="en-US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OTel SDK</a:t>
              </a:r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endPara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386" y="3219"/>
              <a:ext cx="5669" cy="668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lang="zh-CN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数据采集</a:t>
              </a:r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OTel Collector
采集/处理/路由</a:t>
              </a:r>
              <a:endPara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86" y="4255"/>
              <a:ext cx="5669" cy="668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lang="zh-CN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数据存储</a:t>
              </a:r>
              <a:b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</a:t>
              </a:r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Redis+DB/Victoria</a:t>
              </a:r>
              <a:r>
                <a:rPr lang="en-US" altLang="zh-CN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Metrics/Tempo/Loki</a:t>
              </a:r>
              <a:r>
                <a:rPr lang="zh-CN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）</a:t>
              </a:r>
              <a:endPara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18" y="6551"/>
              <a:ext cx="1319" cy="669"/>
            </a:xfrm>
            <a:prstGeom prst="roundRect">
              <a:avLst/>
            </a:prstGeom>
            <a:solidFill>
              <a:srgbClr val="F5920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
Metrics</a:t>
              </a:r>
              <a:endPara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070" y="6551"/>
              <a:ext cx="1319" cy="669"/>
            </a:xfrm>
            <a:prstGeom prst="roundRect">
              <a:avLst/>
            </a:prstGeom>
            <a:solidFill>
              <a:srgbClr val="3B82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日志
Logs</a:t>
              </a:r>
              <a:endPara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934" y="6551"/>
              <a:ext cx="1319" cy="669"/>
            </a:xfrm>
            <a:prstGeom prst="roundRect">
              <a:avLst/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Trace
链路</a:t>
              </a:r>
              <a:endPara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608" y="6551"/>
              <a:ext cx="1319" cy="669"/>
            </a:xfrm>
            <a:prstGeom prst="roundRect">
              <a:avLst/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会话
Session</a:t>
              </a:r>
              <a:endPara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213" y="6551"/>
              <a:ext cx="1319" cy="669"/>
            </a:xfrm>
            <a:prstGeom prst="roundRect">
              <a:avLst/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 洞察
Insight</a:t>
              </a:r>
              <a:endPara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20" name="Connector 19"/>
            <p:cNvCxnSpPr>
              <a:endCxn id="13" idx="0"/>
            </p:cNvCxnSpPr>
            <p:nvPr/>
          </p:nvCxnSpPr>
          <p:spPr>
            <a:xfrm>
              <a:off x="1278" y="6225"/>
              <a:ext cx="0" cy="326"/>
            </a:xfrm>
            <a:prstGeom prst="line">
              <a:avLst/>
            </a:prstGeom>
            <a:ln w="25400">
              <a:solidFill>
                <a:srgbClr val="3B82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>
              <a:endCxn id="14" idx="0"/>
            </p:cNvCxnSpPr>
            <p:nvPr/>
          </p:nvCxnSpPr>
          <p:spPr>
            <a:xfrm>
              <a:off x="2729" y="6225"/>
              <a:ext cx="1" cy="326"/>
            </a:xfrm>
            <a:prstGeom prst="line">
              <a:avLst/>
            </a:prstGeom>
            <a:ln w="25400">
              <a:solidFill>
                <a:srgbClr val="3B82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>
              <a:endCxn id="15" idx="0"/>
            </p:cNvCxnSpPr>
            <p:nvPr/>
          </p:nvCxnSpPr>
          <p:spPr>
            <a:xfrm>
              <a:off x="5593" y="6225"/>
              <a:ext cx="1" cy="326"/>
            </a:xfrm>
            <a:prstGeom prst="line">
              <a:avLst/>
            </a:prstGeom>
            <a:ln w="25400">
              <a:solidFill>
                <a:srgbClr val="3B82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>
              <a:endCxn id="16" idx="0"/>
            </p:cNvCxnSpPr>
            <p:nvPr/>
          </p:nvCxnSpPr>
          <p:spPr>
            <a:xfrm>
              <a:off x="7268" y="6225"/>
              <a:ext cx="0" cy="326"/>
            </a:xfrm>
            <a:prstGeom prst="line">
              <a:avLst/>
            </a:prstGeom>
            <a:ln w="25400">
              <a:solidFill>
                <a:srgbClr val="3B82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>
              <a:endCxn id="17" idx="0"/>
            </p:cNvCxnSpPr>
            <p:nvPr/>
          </p:nvCxnSpPr>
          <p:spPr>
            <a:xfrm>
              <a:off x="8873" y="6225"/>
              <a:ext cx="0" cy="326"/>
            </a:xfrm>
            <a:prstGeom prst="line">
              <a:avLst/>
            </a:prstGeom>
            <a:ln w="25400">
              <a:solidFill>
                <a:srgbClr val="3B82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3" idx="2"/>
              <a:endCxn id="4" idx="0"/>
            </p:cNvCxnSpPr>
            <p:nvPr/>
          </p:nvCxnSpPr>
          <p:spPr>
            <a:xfrm>
              <a:off x="5221" y="1801"/>
              <a:ext cx="0" cy="38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4" idx="2"/>
              <a:endCxn id="8" idx="0"/>
            </p:cNvCxnSpPr>
            <p:nvPr/>
          </p:nvCxnSpPr>
          <p:spPr>
            <a:xfrm>
              <a:off x="5221" y="2851"/>
              <a:ext cx="0" cy="368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8" idx="2"/>
              <a:endCxn id="9" idx="0"/>
            </p:cNvCxnSpPr>
            <p:nvPr/>
          </p:nvCxnSpPr>
          <p:spPr>
            <a:xfrm>
              <a:off x="5221" y="3887"/>
              <a:ext cx="0" cy="368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7"/>
            <p:cNvSpPr/>
            <p:nvPr/>
          </p:nvSpPr>
          <p:spPr>
            <a:xfrm>
              <a:off x="842" y="5540"/>
              <a:ext cx="5260" cy="668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lang="en-US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Grafana</a:t>
              </a:r>
              <a:r>
                <a:rPr lang="zh-CN" altLang="en-US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大屏</a:t>
              </a:r>
              <a:endPara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" name="Rounded Rectangle 16"/>
            <p:cNvSpPr/>
            <p:nvPr/>
          </p:nvSpPr>
          <p:spPr>
            <a:xfrm>
              <a:off x="3502" y="6541"/>
              <a:ext cx="1319" cy="669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lang="zh-CN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告警</a:t>
              </a:r>
              <a:r>
                <a:rPr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
</a:t>
              </a:r>
              <a:r>
                <a:rPr lang="en-US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Alert</a:t>
              </a:r>
              <a:endPara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6" name="Connector 23"/>
            <p:cNvCxnSpPr>
              <a:endCxn id="5" idx="0"/>
            </p:cNvCxnSpPr>
            <p:nvPr/>
          </p:nvCxnSpPr>
          <p:spPr>
            <a:xfrm>
              <a:off x="4162" y="6215"/>
              <a:ext cx="0" cy="326"/>
            </a:xfrm>
            <a:prstGeom prst="line">
              <a:avLst/>
            </a:prstGeom>
            <a:ln w="25400">
              <a:solidFill>
                <a:srgbClr val="3B82F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ounded Rectangle 7"/>
            <p:cNvSpPr/>
            <p:nvPr/>
          </p:nvSpPr>
          <p:spPr>
            <a:xfrm>
              <a:off x="6504" y="5557"/>
              <a:ext cx="1511" cy="668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lang="en-US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Langfuse</a:t>
              </a:r>
              <a:endPara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Rounded Rectangle 7"/>
            <p:cNvSpPr/>
            <p:nvPr/>
          </p:nvSpPr>
          <p:spPr>
            <a:xfrm>
              <a:off x="8154" y="5557"/>
              <a:ext cx="1425" cy="668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457200"/>
              <a:r>
                <a:rPr lang="zh-CN" altLang="en-US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自研</a:t>
              </a:r>
              <a:r>
                <a:rPr lang="zh-CN" altLang="en-US" sz="12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大屏</a:t>
              </a:r>
              <a:endPara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11" name="直接箭头连接符 10"/>
            <p:cNvCxnSpPr>
              <a:stCxn id="9" idx="2"/>
            </p:cNvCxnSpPr>
            <p:nvPr/>
          </p:nvCxnSpPr>
          <p:spPr>
            <a:xfrm flipH="1">
              <a:off x="3613" y="4923"/>
              <a:ext cx="1608" cy="63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9" idx="2"/>
              <a:endCxn id="7" idx="0"/>
            </p:cNvCxnSpPr>
            <p:nvPr/>
          </p:nvCxnSpPr>
          <p:spPr>
            <a:xfrm>
              <a:off x="5221" y="4923"/>
              <a:ext cx="2039" cy="63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9" idx="2"/>
              <a:endCxn id="10" idx="0"/>
            </p:cNvCxnSpPr>
            <p:nvPr/>
          </p:nvCxnSpPr>
          <p:spPr>
            <a:xfrm>
              <a:off x="5221" y="4923"/>
              <a:ext cx="3646" cy="63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生产架构（V6 目标态）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琥珀色 = 相对 DEMO 的升级点</a:t>
            </a:r>
            <a:endParaRPr lang="en-US" sz="1000" dirty="0"/>
          </a:p>
        </p:txBody>
      </p:sp>
      <p:pic>
        <p:nvPicPr>
          <p:cNvPr id="4" name="Image 0" descr="E:/WorkBuddy/2026-07-16-22-17-49/outputs/ai-observability-arch-PRODUCTION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82880" y="640080"/>
            <a:ext cx="877824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8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生产架构（V6 目标态 · 集群 · 合规 · 双写分治）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琥珀色 = 相对 DEMO 的升级点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" name="Rounded Rectangle 4"/>
          <p:cNvSpPr/>
          <p:nvPr/>
        </p:nvSpPr>
        <p:spPr>
          <a:xfrm>
            <a:off x="548640" y="786384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采集发射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585216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Core 8080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6464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" name="Rectangle 9"/>
          <p:cNvSpPr/>
          <p:nvPr/>
        </p:nvSpPr>
        <p:spPr>
          <a:xfrm>
            <a:off x="1426464" y="694944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" name="TextBox 10"/>
          <p:cNvSpPr txBox="1"/>
          <p:nvPr/>
        </p:nvSpPr>
        <p:spPr>
          <a:xfrm>
            <a:off x="1481328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BankController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HTTP拦截+trace注入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24912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16352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5" name="Rectangle 14"/>
          <p:cNvSpPr/>
          <p:nvPr/>
        </p:nvSpPr>
        <p:spPr>
          <a:xfrm>
            <a:off x="2816352" y="694944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6" name="TextBox 15"/>
          <p:cNvSpPr txBox="1"/>
          <p:nvPr/>
        </p:nvSpPr>
        <p:spPr>
          <a:xfrm>
            <a:off x="2871216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L0~L2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三层主从编排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0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206240" y="694944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0" name="Rectangle 19"/>
          <p:cNvSpPr/>
          <p:nvPr/>
        </p:nvSpPr>
        <p:spPr>
          <a:xfrm>
            <a:off x="4206240" y="694944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1" name="TextBox 20"/>
          <p:cNvSpPr txBox="1"/>
          <p:nvPr/>
        </p:nvSpPr>
        <p:spPr>
          <a:xfrm>
            <a:off x="4261104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ObsChatModel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span+意图+置信度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04688" y="950976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596128" y="694944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5" name="Rectangle 24"/>
          <p:cNvSpPr/>
          <p:nvPr/>
        </p:nvSpPr>
        <p:spPr>
          <a:xfrm>
            <a:off x="5596128" y="694944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26" name="TextBox 25"/>
          <p:cNvSpPr txBox="1"/>
          <p:nvPr/>
        </p:nvSpPr>
        <p:spPr>
          <a:xfrm>
            <a:off x="5650992" y="768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OTel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969264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+SessBridge·脱敏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0" y="1353312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138928" y="136245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17920" y="1353312"/>
            <a:ext cx="0" cy="54864"/>
          </a:xfrm>
          <a:prstGeom prst="line">
            <a:avLst/>
          </a:prstGeom>
          <a:ln w="19050">
            <a:solidFill>
              <a:srgbClr val="185FA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0" y="20848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HTTP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426464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3" name="Rounded Rectangle 32"/>
          <p:cNvSpPr/>
          <p:nvPr/>
        </p:nvSpPr>
        <p:spPr>
          <a:xfrm>
            <a:off x="548640" y="1664208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4" name="TextBox 33"/>
          <p:cNvSpPr txBox="1"/>
          <p:nvPr/>
        </p:nvSpPr>
        <p:spPr>
          <a:xfrm>
            <a:off x="548640" y="1682496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90195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采集管道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14630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OTel Collector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26464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8" name="Rectangle 37"/>
          <p:cNvSpPr/>
          <p:nvPr/>
        </p:nvSpPr>
        <p:spPr>
          <a:xfrm>
            <a:off x="1426464" y="1572768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39" name="TextBox 38"/>
          <p:cNvSpPr txBox="1"/>
          <p:nvPr/>
        </p:nvSpPr>
        <p:spPr>
          <a:xfrm>
            <a:off x="1481328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Receiver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OTLP接收+解码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24912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16352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3" name="Rectangle 42"/>
          <p:cNvSpPr/>
          <p:nvPr/>
        </p:nvSpPr>
        <p:spPr>
          <a:xfrm>
            <a:off x="2816352" y="1572768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4" name="TextBox 43"/>
          <p:cNvSpPr txBox="1"/>
          <p:nvPr/>
        </p:nvSpPr>
        <p:spPr>
          <a:xfrm>
            <a:off x="2871216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Batch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71216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攒批去重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14800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206240" y="1572768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8" name="Rectangle 47"/>
          <p:cNvSpPr/>
          <p:nvPr/>
        </p:nvSpPr>
        <p:spPr>
          <a:xfrm>
            <a:off x="4206240" y="1572768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9" name="TextBox 48"/>
          <p:cNvSpPr txBox="1"/>
          <p:nvPr/>
        </p:nvSpPr>
        <p:spPr>
          <a:xfrm>
            <a:off x="4261104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Filter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1104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过滤噪点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504688" y="1828800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596128" y="1572768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3" name="Rectangle 52"/>
          <p:cNvSpPr/>
          <p:nvPr/>
        </p:nvSpPr>
        <p:spPr>
          <a:xfrm>
            <a:off x="5596128" y="1572768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54" name="TextBox 53"/>
          <p:cNvSpPr txBox="1"/>
          <p:nvPr/>
        </p:nvSpPr>
        <p:spPr>
          <a:xfrm>
            <a:off x="5650992" y="1645920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tail_sampling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50992" y="1847088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分级采样·双写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0" y="2231136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138928" y="224028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OTLP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217920" y="2231136"/>
            <a:ext cx="0" cy="54864"/>
          </a:xfrm>
          <a:prstGeom prst="line">
            <a:avLst/>
          </a:prstGeom>
          <a:ln w="19050">
            <a:solidFill>
              <a:srgbClr val="BA7517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309360" y="296265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t>双写 OTLP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2304288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1" name="Rounded Rectangle 60"/>
          <p:cNvSpPr/>
          <p:nvPr/>
        </p:nvSpPr>
        <p:spPr>
          <a:xfrm>
            <a:off x="548640" y="2542032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2" name="TextBox 61"/>
          <p:cNvSpPr txBox="1"/>
          <p:nvPr/>
        </p:nvSpPr>
        <p:spPr>
          <a:xfrm>
            <a:off x="548640" y="256032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2779776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业务处理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2340864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Backend 9090集群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26464" y="2450592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6" name="Rectangle 65"/>
          <p:cNvSpPr/>
          <p:nvPr/>
        </p:nvSpPr>
        <p:spPr>
          <a:xfrm>
            <a:off x="1426464" y="2450592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67" name="TextBox 66"/>
          <p:cNvSpPr txBox="1"/>
          <p:nvPr/>
        </p:nvSpPr>
        <p:spPr>
          <a:xfrm>
            <a:off x="1481328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SessionService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81328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接入网关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724912" y="2706624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2816352" y="2450592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1" name="Rectangle 70"/>
          <p:cNvSpPr/>
          <p:nvPr/>
        </p:nvSpPr>
        <p:spPr>
          <a:xfrm>
            <a:off x="2816352" y="2450592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2" name="TextBox 71"/>
          <p:cNvSpPr txBox="1"/>
          <p:nvPr/>
        </p:nvSpPr>
        <p:spPr>
          <a:xfrm>
            <a:off x="2871216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Redis+PG集群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71216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自管存储·热温层HA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114800" y="2706624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4206240" y="2450592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6" name="Rectangle 75"/>
          <p:cNvSpPr/>
          <p:nvPr/>
        </p:nvSpPr>
        <p:spPr>
          <a:xfrm>
            <a:off x="4206240" y="2450592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7" name="TextBox 76"/>
          <p:cNvSpPr txBox="1"/>
          <p:nvPr/>
        </p:nvSpPr>
        <p:spPr>
          <a:xfrm>
            <a:off x="4261104" y="2523744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InsightsEngine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61104" y="2724912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双层·告警抑制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3182112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0" name="Rounded Rectangle 79"/>
          <p:cNvSpPr/>
          <p:nvPr/>
        </p:nvSpPr>
        <p:spPr>
          <a:xfrm>
            <a:off x="548640" y="3419856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1" name="TextBox 80"/>
          <p:cNvSpPr txBox="1"/>
          <p:nvPr/>
        </p:nvSpPr>
        <p:spPr>
          <a:xfrm>
            <a:off x="548640" y="3438144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365760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遥测存储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3218688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Tempo/VM/Loki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26464" y="332841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5" name="Rectangle 84"/>
          <p:cNvSpPr/>
          <p:nvPr/>
        </p:nvSpPr>
        <p:spPr>
          <a:xfrm>
            <a:off x="1426464" y="332841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86" name="TextBox 85"/>
          <p:cNvSpPr txBox="1"/>
          <p:nvPr/>
        </p:nvSpPr>
        <p:spPr>
          <a:xfrm>
            <a:off x="1481328" y="34015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Tempo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81328" y="360273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链路·集群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724912" y="3584448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2816352" y="332841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0" name="Rectangle 89"/>
          <p:cNvSpPr/>
          <p:nvPr/>
        </p:nvSpPr>
        <p:spPr>
          <a:xfrm>
            <a:off x="2816352" y="332841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1" name="TextBox 90"/>
          <p:cNvSpPr txBox="1"/>
          <p:nvPr/>
        </p:nvSpPr>
        <p:spPr>
          <a:xfrm>
            <a:off x="2871216" y="34015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VictoriaMetrics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71216" y="360273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指标·集群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114800" y="3584448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4206240" y="3328416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5" name="Rectangle 94"/>
          <p:cNvSpPr/>
          <p:nvPr/>
        </p:nvSpPr>
        <p:spPr>
          <a:xfrm>
            <a:off x="4206240" y="3328416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96" name="TextBox 95"/>
          <p:cNvSpPr txBox="1"/>
          <p:nvPr/>
        </p:nvSpPr>
        <p:spPr>
          <a:xfrm>
            <a:off x="4261104" y="3401568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Loki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61104" y="3602736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日志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029200" y="3986784"/>
            <a:ext cx="0" cy="73152"/>
          </a:xfrm>
          <a:prstGeom prst="line">
            <a:avLst/>
          </a:prstGeom>
          <a:ln w="2540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138928" y="399592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Query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4059936"/>
            <a:ext cx="8229600" cy="804672"/>
          </a:xfrm>
          <a:prstGeom prst="rect">
            <a:avLst/>
          </a:prstGeom>
          <a:solidFill>
            <a:srgbClr val="E6F1FB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1" name="Rounded Rectangle 100"/>
          <p:cNvSpPr/>
          <p:nvPr/>
        </p:nvSpPr>
        <p:spPr>
          <a:xfrm>
            <a:off x="548640" y="4297680"/>
            <a:ext cx="713232" cy="329184"/>
          </a:xfrm>
          <a:prstGeom prst="roundRect">
            <a:avLst>
              <a:gd name="adj" fmla="val 18000"/>
            </a:avLst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2" name="TextBox 101"/>
          <p:cNvSpPr txBox="1"/>
          <p:nvPr/>
        </p:nvSpPr>
        <p:spPr>
          <a:xfrm>
            <a:off x="548640" y="431596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05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453542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900" b="0" i="0">
                <a:solidFill>
                  <a:srgbClr val="E6F1FB"/>
                </a:solidFill>
                <a:latin typeface="Calibri" panose="020F0502020204030204"/>
              </a:defRPr>
            </a:pPr>
            <a:r>
              <a:t>消费触达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366760" y="4096512"/>
            <a:ext cx="320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9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消费与触达·HA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426464" y="4206240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6" name="Rectangle 105"/>
          <p:cNvSpPr/>
          <p:nvPr/>
        </p:nvSpPr>
        <p:spPr>
          <a:xfrm>
            <a:off x="1426464" y="4206240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7" name="TextBox 106"/>
          <p:cNvSpPr txBox="1"/>
          <p:nvPr/>
        </p:nvSpPr>
        <p:spPr>
          <a:xfrm>
            <a:off x="1481328" y="4279392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Grafana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81328" y="448056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运营大屏·HA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2724912" y="4462272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2816352" y="4206240"/>
            <a:ext cx="12801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1" name="Rectangle 110"/>
          <p:cNvSpPr/>
          <p:nvPr/>
        </p:nvSpPr>
        <p:spPr>
          <a:xfrm>
            <a:off x="2816352" y="4206240"/>
            <a:ext cx="128016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2" name="TextBox 111"/>
          <p:cNvSpPr txBox="1"/>
          <p:nvPr/>
        </p:nvSpPr>
        <p:spPr>
          <a:xfrm>
            <a:off x="2871216" y="4279392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t>AI洞察面板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871216" y="448056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异常·根因·趋势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4114800" y="4462272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4206240" y="4206240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6" name="Rectangle 115"/>
          <p:cNvSpPr/>
          <p:nvPr/>
        </p:nvSpPr>
        <p:spPr>
          <a:xfrm>
            <a:off x="4206240" y="4206240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17" name="TextBox 116"/>
          <p:cNvSpPr txBox="1"/>
          <p:nvPr/>
        </p:nvSpPr>
        <p:spPr>
          <a:xfrm>
            <a:off x="4261104" y="4279392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告警面板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261104" y="448056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告警管理·HA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5504688" y="4462272"/>
            <a:ext cx="73152" cy="0"/>
          </a:xfrm>
          <a:prstGeom prst="line">
            <a:avLst/>
          </a:prstGeom>
          <a:ln w="15240">
            <a:solidFill>
              <a:srgbClr val="185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5596128" y="4206240"/>
            <a:ext cx="1280160" cy="512064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1" name="Rectangle 120"/>
          <p:cNvSpPr/>
          <p:nvPr/>
        </p:nvSpPr>
        <p:spPr>
          <a:xfrm>
            <a:off x="5596128" y="4206240"/>
            <a:ext cx="128016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2" name="TextBox 121"/>
          <p:cNvSpPr txBox="1"/>
          <p:nvPr/>
        </p:nvSpPr>
        <p:spPr>
          <a:xfrm>
            <a:off x="5650992" y="4279392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1" i="0">
                <a:solidFill>
                  <a:srgbClr val="633806"/>
                </a:solidFill>
                <a:latin typeface="Calibri" panose="020F0502020204030204"/>
              </a:defRPr>
            </a:pPr>
            <a:r>
              <a:t>钉钉·飞书·邮件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50992" y="4480560"/>
            <a:ext cx="117043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854F0B"/>
                </a:solidFill>
                <a:latin typeface="Calibri" panose="020F0502020204030204"/>
              </a:defRPr>
            </a:pPr>
            <a:r>
              <a:t>多通道·HA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" y="501091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可观测逻辑视角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6" name="TextBox 125"/>
          <p:cNvSpPr txBox="1"/>
          <p:nvPr/>
        </p:nvSpPr>
        <p:spPr>
          <a:xfrm>
            <a:off x="530352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L1 系统级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0352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A·基础指标→Grafana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496312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29" name="TextBox 128"/>
          <p:cNvSpPr txBox="1"/>
          <p:nvPr/>
        </p:nvSpPr>
        <p:spPr>
          <a:xfrm>
            <a:off x="2569464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L2 模型级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569464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B·自建主战场(token/时延)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35424" y="5285232"/>
            <a:ext cx="1920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32" name="TextBox 131"/>
          <p:cNvSpPr txBox="1"/>
          <p:nvPr/>
        </p:nvSpPr>
        <p:spPr>
          <a:xfrm>
            <a:off x="4608576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t>L3 业务级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08576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C·自建主战场(意图/工具)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574536" y="5285232"/>
            <a:ext cx="1920240" cy="621792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35" name="TextBox 134"/>
          <p:cNvSpPr txBox="1"/>
          <p:nvPr/>
        </p:nvSpPr>
        <p:spPr>
          <a:xfrm>
            <a:off x="6647688" y="5358384"/>
            <a:ext cx="177393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0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t>L4 体验级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47688" y="5596128"/>
            <a:ext cx="1773936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BA7517"/>
                </a:solidFill>
                <a:latin typeface="Calibri" panose="020F0502020204030204"/>
              </a:defRPr>
            </a:pPr>
            <a:r>
              <a:t>E·维度规范(+合规审计)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五类数据流全景 — 同路共享 · 异路分支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蓝/绿/灰走OTel共享管道 → 琥珀独立HTTP通道 → 红色自处理层触发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731520"/>
          <a:ext cx="8412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数据类型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采集发射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管道 / 处理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存储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展示消费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TRACE 链路（蓝）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ObsChatModel → OTel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Collector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Recv→Batch→Fltr→Exp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Tempo（遥测）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Grafana Trace 面板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METRICS 指标（绿）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Agent 自动采集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JVM/HTTP/自定义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Collector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（同TRACE共享管道）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VictoriaMetrics（遥测）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Grafana 指标面板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LOGS 日志（灰）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Agent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应用日志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OTel Collector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（同TRACE共享管道）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Loki（遥测）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Grafana 日志面板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SESSION 会话（琥珀）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SessionBridge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HTTP :9090 直发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SessionService</a:t>
                      </a:r>
                    </a:p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（不经过 Collector！）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Redis 热层 + PG 持久化（业务）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Session 看板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ALERT 告警（红）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InsightsEngine 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AlertEngine 判定 + 收敛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PostgreSQL（业务）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2B3C"/>
                          </a:solidFill>
                        </a:defRPr>
                      </a:pPr>
                      <a:r>
                        <a:t>告警面板 + 钉钉/飞书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关键差异：TRACE/METRICS/LOGS 共享 OTel 采集发射+Collector管道 → 到存储层三分支 | SESSION 完全不经过 OT 生态，自建 HTTP 直达 | ALERT 起源于智能处理层，非采集层触发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18872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核心能力模块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21945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六大可观测能力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29260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观测指标体系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五大模块分类，覆盖性能、质量、业务全维度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097280"/>
          <a:ext cx="4114800" cy="1993392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173736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模块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指标名称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A.性能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TTFT / TTAT / E2E延迟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首Token / 总耗时 / 端到端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B.质量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成功率 / 意图识别准确率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回复质量、Routing正确率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C.成本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Token消耗 / 调用次数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输入/输出Token、模型成本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D.业务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会话数/用户数/意图分布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活跃度、业务转化趋势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E.安全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异常频率 / 敏感词命中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475569"/>
                          </a:solidFill>
                        </a:rPr>
                        <a:t>注入攻击、信息泄露预警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92040" y="105156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UI界面截图 — 总览大屏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92040" y="1325880"/>
            <a:ext cx="3794760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五大模块覆盖AI应用全生命周期，从性能诊断到业务决策，一个平台全部搞定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观测指标体系：覆盖系统、模型、语义、业务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718" y="960120"/>
          <a:ext cx="4251960" cy="1593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/>
                <a:gridCol w="2057400"/>
                <a:gridCol w="1303020"/>
              </a:tblGrid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分类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核心指标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作用</a:t>
                      </a:r>
                      <a:endParaRPr sz="825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</a:tr>
              <a:tr h="321310"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系统健康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QPS、耗时、错误率、资源占用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识别系统级瓶颈与稳定性风险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AI 性能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TTFT、Token 量、成本、调用次数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评估模型调用效率与成本结构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21310"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语义质量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意图准确率、改写准确率、Reroute 率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度量 LLM 理解、改写、路由质量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21310"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业务效果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业务完成率、转化率、满意度、ROI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25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把 AI 效果与业务指标挂钩</a:t>
                      </a:r>
                      <a:endParaRPr sz="825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37998" y="960120"/>
            <a:ext cx="377190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生产系统 UI 总览：指标分类看板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v20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998" y="1337310"/>
            <a:ext cx="3771900" cy="2357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998" y="4560570"/>
            <a:ext cx="3771900" cy="2063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/>
            <a:r>
              <a:rPr sz="750" b="0">
                <a:solidFill>
                  <a:srgbClr val="4B5563"/>
                </a:solidFill>
                <a:latin typeface="微软雅黑" panose="020B0503020204020204" charset="-122"/>
              </a:rPr>
              <a:t>数据：从埋点 → 聚合 → 多维可视化，支持按时间/渠道/Agent 下钻。</a:t>
            </a:r>
            <a:endParaRPr sz="750" b="0">
              <a:solidFill>
                <a:srgbClr val="4B556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82296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指标体系选择逻辑 — 六层递进覆盖全链路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从系统能否跑通、到模型回答好不好、到花得值不值、再到用户留不留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54864" cy="53035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系统健康 — 能不能跑通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CPU/内存 / JVM GC / HTTP QPS/P95 / Collector丢span / 可用率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89120" y="1252728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399032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1399032"/>
            <a:ext cx="54864" cy="530352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444752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LLM调用 — 跑得快不快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673352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TTFT首Token / P95耗时 / 成功率 / Input/Output Token / 模型QPS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20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2020824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020824"/>
            <a:ext cx="54864" cy="5303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2066544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Agent编排 — 跑得对不对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2295144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意图路由准确率 / 工具成功率 / 步数分布 / RAG命中召回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89120" y="2496312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2642616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5760" y="2642616"/>
            <a:ext cx="54864" cy="530352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2688336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质量评估 — 答得好不好 (灵魂)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2916936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相关性0-1 / 幻觉率 / 合规违规 / 用户赞踩 / 评估飞轮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120" y="3118104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760" y="3264408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3264408"/>
            <a:ext cx="54864" cy="530352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3310128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成本治理 — 花得值不值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3538728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按意图Token分账 / 日均月均成本 / 单次对话成本 / 异常预警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89120" y="3739896"/>
            <a:ext cx="27432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54864" cy="530352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7863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2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会话体验 — 用得久不久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" y="4160520"/>
            <a:ext cx="7863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DAU/MAU / 会话时长轮次 / 意图切换次数 / 异常退出率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递进逻辑：上层依赖下层。蓝色系=OTel自动采集(零开发)，青/紫/琥珀/红=自研ObsChatModel+InsightsEngine产出。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8229600" cy="338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运营大屏指标布局（Grafana Dashboard）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精选核心指标+多图表类型，一屏覆盖系统健康→业务质量→成本效率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269748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78638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可用率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99.92%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看：日报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46120" y="713232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46120" y="713232"/>
            <a:ext cx="2697480" cy="36576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37560" y="78638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 首Token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37560" y="106070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3B6D11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240ms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37560" y="13075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看：日报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35040" y="713232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35040" y="713232"/>
            <a:ext cx="2697480" cy="36576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0" y="78638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DAU 今日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106070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0F6E56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1,247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0" y="130759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看：日报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" y="17373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1737360"/>
            <a:ext cx="269748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181051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时延趋势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208483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TTFT+P95折线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23317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看：趋势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246120" y="17373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46120" y="1737360"/>
            <a:ext cx="269748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37560" y="181051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意图分布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37560" y="208483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堆叠柱状图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37560" y="23317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看：分布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35040" y="173736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35040" y="1737360"/>
            <a:ext cx="269748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26480" y="181051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Token消耗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26480" y="208483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堆叠面积图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26480" y="233172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看：变化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7432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" y="2743200"/>
            <a:ext cx="2697480" cy="36576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281635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工具成功率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309067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0F6E56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折线+95%红线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333756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看：健康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246120" y="27432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246120" y="2743200"/>
            <a:ext cx="2697480" cy="36576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37560" y="281635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质量得分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37560" y="309067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534AB7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相关性/幻觉双轴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37560" y="333756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看：质量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035040" y="2743200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035040" y="2743200"/>
            <a:ext cx="269748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126480" y="281635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意图成本分布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126480" y="3090672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横向柱状图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26480" y="333756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看：分布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57200" y="3749039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57200" y="3749039"/>
            <a:ext cx="2697480" cy="36576"/>
          </a:xfrm>
          <a:prstGeom prst="rect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8640" y="382219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最近告警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48640" y="409651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A32D2D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表格:级别/组件/时间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8640" y="4343399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看：问题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246120" y="3749039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246120" y="3749039"/>
            <a:ext cx="2697480" cy="36576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337560" y="382219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活跃Session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337560" y="409651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185FA5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面积图DAU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337560" y="4343399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看：粘性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035040" y="3749039"/>
            <a:ext cx="2697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035040" y="3749039"/>
            <a:ext cx="2697480" cy="36576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26480" y="382219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1" i="0">
                <a:solidFill>
                  <a:srgbClr val="1A2B3C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成本日报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126480" y="4096511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defTabSz="457200">
              <a:defRPr sz="1400" b="1" i="0">
                <a:solidFill>
                  <a:srgbClr val="BA7517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今日/昨/环比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26480" y="4343399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8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看：排名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9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质量评估(幻觉率/相关性)不适合实时大字展示——存在打分延迟且需语义理解——放在离线飞轮+趋势回顾面板更合适。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六大核心能力模块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6" name="Text 4"/>
          <p:cNvSpPr/>
          <p:nvPr/>
        </p:nvSpPr>
        <p:spPr>
          <a:xfrm>
            <a:off x="594360" y="13716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链路追踪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多步 Agent/工具调用树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Span 级下钻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0" name="Text 8"/>
          <p:cNvSpPr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指标采集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DAU/QPS/P95/TTFT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成本实时大盘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4" name="Text 12"/>
          <p:cNvSpPr/>
          <p:nvPr/>
        </p:nvSpPr>
        <p:spPr>
          <a:xfrm>
            <a:off x="6263640" y="13716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质量评估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幻觉率/相关性/合规性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LLM-as-judge 自动打分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8" name="Text 16"/>
          <p:cNvSpPr/>
          <p:nvPr/>
        </p:nvSpPr>
        <p:spPr>
          <a:xfrm>
            <a:off x="594360" y="32004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成本治理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按租户/意图分账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异常消费预警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9260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2" name="Text 20"/>
          <p:cNvSpPr/>
          <p:nvPr/>
        </p:nvSpPr>
        <p:spPr>
          <a:xfrm>
            <a:off x="3429000" y="32004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告警洞察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29000" y="36576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洞察引擎 6 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根因推荐 + 告警抑制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560320" cy="155448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256032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6" name="Text 24"/>
          <p:cNvSpPr/>
          <p:nvPr/>
        </p:nvSpPr>
        <p:spPr>
          <a:xfrm>
            <a:off x="6263640" y="320040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数据健康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3657600"/>
            <a:ext cx="2286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数据健康评分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字段级脱敏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质量评估体系 &amp; 成本治理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质量评估飞轮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自动采集：每次 LLM 调用记录对话上下文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LLM-as-judge：评分幻觉/相关性/合规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离线评估集：生产失败 → 回灌测试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预发仿真：上线前全量回归验证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成本治理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按意图/租户 Token 用量分账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异常消费实时预警（阈值触发）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模型对比：性价比排行榜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成本趋势预测（时序建模）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84048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核心价值：将 AI 支出从「黑盒」变为「可度量」，实现 20-40% 降本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会话回放 + Trace 链路追踪：还原用户真实交互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71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会话回放：按 session 查看多轮对话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67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Trace 链路：追踪单次请求 Agent 调用链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v20_ses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18" y="1165860"/>
            <a:ext cx="4046220" cy="2528888"/>
          </a:xfrm>
          <a:prstGeom prst="rect">
            <a:avLst/>
          </a:prstGeom>
        </p:spPr>
      </p:pic>
      <p:pic>
        <p:nvPicPr>
          <p:cNvPr id="6" name="Picture 5" descr="v20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678" y="1165860"/>
            <a:ext cx="4046220" cy="2528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71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按 Session ID 回放完整对话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展示用户消息、AI 回复、调用 Agent、耗时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6367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L0 域路由 → L1 子图 → L2 工具调用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traceId 与 sessionId 关联，问题快速下钻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会话回放 &amp; 链路追踪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逐轮回溯用户交互 + 端到端Trace瀑布图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会话回放完整记录用户每一轮对话的输入、Agent响应、意图路由全过程；链路追踪以L0→L1→L2瀑布图展示请求在各层的耗时分布，快速定位瓶颈。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会话回放界面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664208"/>
            <a:ext cx="3931920" cy="2011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0" y="14630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链路追踪界面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54880" y="1664208"/>
            <a:ext cx="3931920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3840480"/>
            <a:ext cx="2651760" cy="7772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3840480"/>
            <a:ext cx="36576" cy="77724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4" name="Text 10"/>
          <p:cNvSpPr/>
          <p:nvPr/>
        </p:nvSpPr>
        <p:spPr>
          <a:xfrm>
            <a:off x="640080" y="38862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逐轮回放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支持按sessionId查询，完整还原用户多轮对话上下文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91840" y="3840480"/>
            <a:ext cx="2651760" cy="7772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91840" y="3840480"/>
            <a:ext cx="36576" cy="77724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8" name="Text 14"/>
          <p:cNvSpPr/>
          <p:nvPr/>
        </p:nvSpPr>
        <p:spPr>
          <a:xfrm>
            <a:off x="3474720" y="38862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L0/L1/L2分级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7472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DomainRouter→Agent Pipeline→LLM Call 三级Span瀑布展示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26480" y="3840480"/>
            <a:ext cx="2651760" cy="7772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3840480"/>
            <a:ext cx="36576" cy="77724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2" name="Text 18"/>
          <p:cNvSpPr/>
          <p:nvPr/>
        </p:nvSpPr>
        <p:spPr>
          <a:xfrm>
            <a:off x="6309360" y="38862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三件套联动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30936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会话回放 ↔ 链路追踪 ↔ 日志详情无缝跳转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AI 洞察 + 智能洞察：从表象指标到根因与行动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71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AI 洞察：指标下钻与异常定位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67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智能洞察：自动生成优先行动建议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v20_insigh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18" y="1165860"/>
            <a:ext cx="4046220" cy="2528888"/>
          </a:xfrm>
          <a:prstGeom prst="rect">
            <a:avLst/>
          </a:prstGeom>
        </p:spPr>
      </p:pic>
      <p:pic>
        <p:nvPicPr>
          <p:cNvPr id="6" name="Picture 5" descr="v20_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678" y="1165860"/>
            <a:ext cx="4046220" cy="2528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71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意图准确率、改写准确率、失败根因 TOP3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从聚合指标定位到模型 / Prompt / 版本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6367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Top5 优先行动建议，按影响面与风险分级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瓶颈可视化：P95 延迟 vs 错误率联动分析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AI洞察 &amp; 智能洞察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从表面指标到深层根因，AI驱动的问题诊断与对策建议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三大诊断域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65760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36576" cy="713232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0" name="Text 8"/>
          <p:cNvSpPr/>
          <p:nvPr/>
        </p:nvSpPr>
        <p:spPr>
          <a:xfrm>
            <a:off x="640080" y="143560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性能诊断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TTFT飙升？Token消耗异常？自动识别最长Span，定位瓶颈节点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65760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36576" cy="713232"/>
          </a:xfrm>
          <a:prstGeom prst="rect">
            <a:avLst/>
          </a:prstGeom>
          <a:solidFill>
            <a:srgbClr val="2E4A7A"/>
          </a:solidFill>
        </p:spPr>
      </p:sp>
      <p:sp>
        <p:nvSpPr>
          <p:cNvPr id="14" name="Text 12"/>
          <p:cNvSpPr/>
          <p:nvPr/>
        </p:nvSpPr>
        <p:spPr>
          <a:xfrm>
            <a:off x="640080" y="225856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质量诊断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46888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成功率下降？意图识别偏差？关联失败会话分析共性问题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657600" cy="713232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63240"/>
            <a:ext cx="36576" cy="71323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8" name="Text 16"/>
          <p:cNvSpPr/>
          <p:nvPr/>
        </p:nvSpPr>
        <p:spPr>
          <a:xfrm>
            <a:off x="640080" y="308152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业务诊断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回退率/转人工率突增？检测知识库覆盖盲区与模型幻觉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03320"/>
            <a:ext cx="82296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2" name="Text 20"/>
          <p:cNvSpPr/>
          <p:nvPr/>
        </p:nvSpPr>
        <p:spPr>
          <a:xfrm>
            <a:off x="640080" y="37673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智能诊断示例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指标异常：</a:t>
            </a:r>
            <a:r>
              <a:rPr lang="en-US" sz="900" dirty="0">
                <a:solidFill>
                  <a:srgbClr val="475569"/>
                </a:solidFill>
              </a:rPr>
              <a:t>用户投诉“转账失败”增多 → 异常会话占比达15%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4A7A"/>
                </a:solidFill>
              </a:rPr>
              <a:t>根因定位：</a:t>
            </a:r>
            <a:r>
              <a:rPr lang="en-US" sz="900" dirty="0">
                <a:solidFill>
                  <a:srgbClr val="475569"/>
                </a:solidFill>
              </a:rPr>
              <a:t>DomainRouter路由超时 → 后端服务响应&gt;3s → 触发超时回退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行动建议：</a:t>
            </a:r>
            <a:r>
              <a:rPr lang="en-US" sz="900" dirty="0">
                <a:solidFill>
                  <a:srgbClr val="475569"/>
                </a:solidFill>
              </a:rPr>
              <a:t>1.调整路由超时阈值  2.扩容后端推理服务  3.增加降级兜底策略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05156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智能洞察 UI 界面</a:t>
            </a:r>
            <a:endParaRPr lang="en-US" sz="9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0" y="1280160"/>
            <a:ext cx="41148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日志与告警：全链路可追踪、可闭环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71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日志查询：跨会话 / Trace / 调用链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3678" y="822960"/>
            <a:ext cx="404622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告警规则：多维阈值与自动通知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v20_lo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18" y="1165860"/>
            <a:ext cx="4046220" cy="2528888"/>
          </a:xfrm>
          <a:prstGeom prst="rect">
            <a:avLst/>
          </a:prstGeom>
        </p:spPr>
      </p:pic>
      <p:pic>
        <p:nvPicPr>
          <p:cNvPr id="6" name="Picture 5" descr="v20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678" y="1165860"/>
            <a:ext cx="4046220" cy="2528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71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日志支持 session、trace、关键词多维检索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INFO / WARN / ERROR 级别，关联原始请求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63678" y="4354830"/>
            <a:ext cx="4046220" cy="46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LLM 错误率、P95 时延、业务完成率等指标告警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 defTabSz="457200">
              <a:lnSpc>
                <a:spcPct val="130000"/>
              </a:lnSpc>
              <a:spcAft>
                <a:spcPts val="600"/>
              </a:spcAft>
            </a:pPr>
            <a:r>
              <a:rPr sz="750" b="0">
                <a:solidFill>
                  <a:srgbClr val="1F2937"/>
                </a:solidFill>
                <a:latin typeface="微软雅黑" panose="020B0503020204020204" charset="-122"/>
              </a:rPr>
              <a:t>对接企业 IM / 邮件，实现告警闭环</a:t>
            </a:r>
            <a:endParaRPr sz="7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 &amp; 告警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集中日志查询 + 多级告警规则，异常秒级响应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日志管理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全文搜索：按级别/关键词/时间范围快速检索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统计分析：ERROR/WARN/INFO/DEBUG级别分布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关联跳转：日志条目关联到对应Trace/Session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39696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持久存储：底层Loki支持海量日志集中管理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告警规则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2880360"/>
          <a:ext cx="4114800" cy="109728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645920"/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规则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条件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通知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成功率&lt;95%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连续5分钟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飞书/邮件/短信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TTFT&gt;3s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P95延迟超阈值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飞书/邮件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Token消耗异常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日环比&gt;50%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飞书通知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错误率&gt;1%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连续3分钟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电话/飞书/邮件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846320" y="10515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日志查询界面</a:t>
            </a:r>
            <a:endParaRPr lang="en-US" sz="9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46320" y="1280160"/>
            <a:ext cx="3840480" cy="1417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46320" y="283464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告警规则界面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320" y="3063240"/>
            <a:ext cx="384048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48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8872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3600" b="1" i="0">
                <a:solidFill>
                  <a:srgbClr val="FFFFFF"/>
                </a:solidFill>
                <a:latin typeface="Cambria" panose="02040503050406030204"/>
              </a:defRPr>
            </a:pPr>
            <a:r>
              <a:t>选型与案例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600" b="0" i="0">
                <a:solidFill>
                  <a:srgbClr val="90CAF9"/>
                </a:solidFill>
                <a:latin typeface="Calibri" panose="020F0502020204030204"/>
              </a:defRPr>
            </a:pPr>
            <a:r>
              <a:t>平台对比 + 手机银行落地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926080"/>
            <a:ext cx="2743200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6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主流 AI 可观测平台对比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部署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框架绑定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评估深度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合规驻留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Langfuse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开源自托管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OTel 通用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提示词+分数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可控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LangSmith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深度集成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海外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Arize Phoenix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开源自托管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OTel 通用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ML+LLM 双栈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可控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Helicone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SaaS/代理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代理最快接入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基础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海外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Maxim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SaaS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OTel 通用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闭环评估流水线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B3C"/>
                          </a:solidFill>
                        </a:defRPr>
                      </a:pPr>
                      <a:r>
                        <a:t>海外</a:t>
                      </a:r>
                    </a:p>
                  </a:txBody>
                  <a:tcPr>
                    <a:solidFill>
                      <a:srgbClr val="E6F1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7472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选型建议：金融合规场景优先自建（Langfuse + OTel Collector + 自建 Backend）</a:t>
            </a:r>
            <a:br/>
            <a:r>
              <a:t>2026.01 注：Langfuse 已被 ClickHouse 收购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26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案例：手机银行 AI 助手可观测落地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99.92%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系统可用性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09728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7" name="TextBox 6"/>
          <p:cNvSpPr txBox="1"/>
          <p:nvPr/>
        </p:nvSpPr>
        <p:spPr>
          <a:xfrm>
            <a:off x="2651760" y="1188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240ms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TTFT 首Token延迟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09728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数据健康评分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09728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3" name="TextBox 12"/>
          <p:cNvSpPr txBox="1"/>
          <p:nvPr/>
        </p:nvSpPr>
        <p:spPr>
          <a:xfrm>
            <a:off x="7040880" y="11887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3200" b="1" i="0">
                <a:solidFill>
                  <a:srgbClr val="0D47A1"/>
                </a:solidFill>
                <a:latin typeface="Cambria" panose="02040503050406030204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457200">
              <a:defRPr sz="1100" b="0" i="0">
                <a:solidFill>
                  <a:srgbClr val="5F5E5A"/>
                </a:solidFill>
                <a:latin typeface="Calibri" panose="020F0502020204030204"/>
              </a:defRPr>
            </a:pPr>
            <a:r>
              <a:t>意图路由可追踪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85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600" b="1" i="0">
                <a:solidFill>
                  <a:srgbClr val="0D47A1"/>
                </a:solidFill>
                <a:latin typeface="Calibri" panose="020F0502020204030204"/>
              </a:defRPr>
            </a:pPr>
            <a:r>
              <a:t>落地关键路径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A2B3C"/>
                </a:solidFill>
                <a:latin typeface="Calibri" panose="020F0502020204030204"/>
              </a:defRPr>
            </a:pPr>
            <a:r>
              <a:t>1. Core 8080埋点（BankController+ObsChatModel+OTel Agent）自动采集所有LLM调用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A2B3C"/>
                </a:solidFill>
                <a:latin typeface="Calibri" panose="020F0502020204030204"/>
              </a:defRPr>
            </a:pPr>
            <a:r>
              <a:t>2. OTel Collector（batch→filter→export）管道处理，按intent分类写入Backend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A2B3C"/>
                </a:solidFill>
                <a:latin typeface="Calibri" panose="020F0502020204030204"/>
              </a:defRPr>
            </a:pPr>
            <a:r>
              <a:t>3. Backend 9090存储+AI洞察引擎6 Service实时分析，Tempo/VM/Loki标准栈存储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defTabSz="457200">
              <a:defRPr sz="1000" b="0" i="0">
                <a:solidFill>
                  <a:srgbClr val="1A2B3C"/>
                </a:solidFill>
                <a:latin typeface="Calibri" panose="020F0502020204030204"/>
              </a:defRPr>
            </a:pPr>
            <a:r>
              <a:t>4. Grafana运营大屏+AI洞察面板+钉钉自动告警，覆盖运营与开发双场景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718" y="274320"/>
            <a:ext cx="8229600" cy="414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 defTabSz="457200"/>
            <a:r>
              <a:rPr sz="2100" b="1">
                <a:solidFill>
                  <a:srgbClr val="1E3A8A"/>
                </a:solidFill>
                <a:latin typeface="微软雅黑" panose="020B0503020204020204" charset="-122"/>
              </a:rPr>
              <a:t>POC-DEMO 与 生产方案落地差异</a:t>
            </a:r>
            <a:endParaRPr sz="210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718" y="89154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91840"/>
                <a:gridCol w="3840480"/>
              </a:tblGrid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维度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POC-DEMO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生产方案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1E3A8A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目标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功能验证 / 客户演示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支撑千万级、亿级用户量的稳定运行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部署规模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单机 + H2 文件库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多实例 + TiDB / ClickHouse 集群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采集方式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Spring AI 手动埋点 + 自动上报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OTel Java Agent / 全量/采样上报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存储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H2 本地文件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冷热分层、分库分表、TTL 清理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合规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基础审计日志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金融级审计、RBAC、数据脱敏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隐私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本地演示数据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敏感字段脱敏、隐私计算、权限隔离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8FAFC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可扩展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单服务 + 单 Collector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微软雅黑" panose="020B0503020204020204" charset="-122"/>
                        </a:rPr>
                        <a:t>多租户、多 region、弹性扩缩容</a:t>
                      </a:r>
                      <a:endParaRPr sz="900" b="0">
                        <a:solidFill>
                          <a:srgbClr val="1F2937"/>
                        </a:solidFill>
                        <a:latin typeface="微软雅黑" panose="020B0503020204020204" charset="-122"/>
                      </a:endParaRPr>
                    </a:p>
                  </a:txBody>
                  <a:tcPr marL="68580" marR="68580" marT="34290" marB="3429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718" y="4526280"/>
            <a:ext cx="8229600" cy="252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/>
            <a:r>
              <a:rPr sz="1050" b="1">
                <a:solidFill>
                  <a:srgbClr val="1E3A8A"/>
                </a:solidFill>
                <a:latin typeface="微软雅黑" panose="020B0503020204020204" charset="-122"/>
              </a:rPr>
              <a:t>关键设计原则：架构可演进、数据可扩展、合规可审计、隐私可保护。</a:t>
            </a:r>
            <a:endParaRPr sz="1050" b="1">
              <a:solidFill>
                <a:srgbClr val="1E3A8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657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Text 1"/>
          <p:cNvSpPr/>
          <p:nvPr/>
        </p:nvSpPr>
        <p:spPr>
          <a:xfrm>
            <a:off x="658368" y="25603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14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POC-DEMO vs 生产方案对比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我们的方案已充分考虑千万/亿级用户的金融级要求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AI可观测设计方案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DEMO方案快速验证核心观测能力，生产方案在此基础上全面升级至金融级标准，满足合规、安全、高可用要求。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325880"/>
          <a:ext cx="8229600" cy="2615184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POC-DEMO方案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生产方案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5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H2内嵌数据库（2GB）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PostgreSQL集群（TB级）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Span存储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H2单表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时序数据库（ClickHouse/TimescaleDB）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日志存储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本地文件 / 控制台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Loki分布式集群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数据脱敏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未实施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字段级脱敏（手机号/身份证/AUM）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访问控制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无认证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RBAC + SSO + 审计日志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高可用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单节点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多AZ部署 + 主从切换 + 熔断限流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网络传输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HTTP明文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mTLS加密 + VPC隔离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数据留存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无策略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满足监管：会话≥3年 / 日志≥1年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性能基线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单机&lt;100 QPS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集群≥10K QPS，水平可扩展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合规认证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无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等保三级 / 数据出境合规评估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0C1445"/>
          </a:solidFill>
        </p:spPr>
      </p:sp>
      <p:sp>
        <p:nvSpPr>
          <p:cNvPr id="10" name="Shape 7"/>
          <p:cNvSpPr/>
          <p:nvPr/>
        </p:nvSpPr>
        <p:spPr>
          <a:xfrm>
            <a:off x="457200" y="4069080"/>
            <a:ext cx="36576" cy="59436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1" name="Text 8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从DEMO到生产：零架构重构，平滑升级。技术栈完全统一（Spring Boot + OpenTelemetry + Loki），仅需将单机组件替换为分布式高可用版本，业务代码无需改动。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118872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演进路线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828800" y="21945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 DEMO 到生产级 + AIOps 飞轮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292608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版本演进：V1 → V6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5448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65760" y="1188720"/>
            <a:ext cx="155448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6" name="Text 4"/>
          <p:cNvSpPr/>
          <p:nvPr/>
        </p:nvSpPr>
        <p:spPr>
          <a:xfrm>
            <a:off x="36576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V1-V2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原型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埋点 · 基础大屏 · 内存存储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01952" y="19202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1188720"/>
            <a:ext cx="155448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2103120" y="1188720"/>
            <a:ext cx="155448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2" name="Text 10"/>
          <p:cNvSpPr/>
          <p:nvPr/>
        </p:nvSpPr>
        <p:spPr>
          <a:xfrm>
            <a:off x="210312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架构定型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五层架构 · H2 + Redis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9312" y="19202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40480" y="1188720"/>
            <a:ext cx="1554480" cy="228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3840480" y="1188720"/>
            <a:ext cx="1554480" cy="5486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8" name="Text 16"/>
          <p:cNvSpPr/>
          <p:nvPr/>
        </p:nvSpPr>
        <p:spPr>
          <a:xfrm>
            <a:off x="384048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基线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组件自洽 · AI 洞察引擎 · 八页大屏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76672" y="19202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77840" y="1188720"/>
            <a:ext cx="1554480" cy="2286000"/>
          </a:xfrm>
          <a:prstGeom prst="rect">
            <a:avLst/>
          </a:prstGeom>
          <a:solidFill>
            <a:srgbClr val="FAEEDA"/>
          </a:solidFill>
        </p:spPr>
      </p:sp>
      <p:sp>
        <p:nvSpPr>
          <p:cNvPr id="23" name="Shape 21"/>
          <p:cNvSpPr/>
          <p:nvPr/>
        </p:nvSpPr>
        <p:spPr>
          <a:xfrm>
            <a:off x="5577840" y="1188720"/>
            <a:ext cx="1554480" cy="54864"/>
          </a:xfrm>
          <a:prstGeom prst="rect">
            <a:avLst/>
          </a:prstGeom>
          <a:solidFill>
            <a:srgbClr val="BA7517"/>
          </a:solidFill>
        </p:spPr>
      </p:sp>
      <p:sp>
        <p:nvSpPr>
          <p:cNvPr id="24" name="Text 22"/>
          <p:cNvSpPr/>
          <p:nvPr/>
        </p:nvSpPr>
        <p:spPr>
          <a:xfrm>
            <a:off x="557784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生产参考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PG 替代 H2 · 字段脱敏 · RBAC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14032" y="1920240"/>
            <a:ext cx="274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15200" y="1188720"/>
            <a:ext cx="1554480" cy="2286000"/>
          </a:xfrm>
          <a:prstGeom prst="rect">
            <a:avLst/>
          </a:prstGeom>
          <a:solidFill>
            <a:srgbClr val="FAEEDA"/>
          </a:solidFill>
        </p:spPr>
      </p:sp>
      <p:sp>
        <p:nvSpPr>
          <p:cNvPr id="29" name="Shape 27"/>
          <p:cNvSpPr/>
          <p:nvPr/>
        </p:nvSpPr>
        <p:spPr>
          <a:xfrm>
            <a:off x="7315200" y="1188720"/>
            <a:ext cx="1554480" cy="54864"/>
          </a:xfrm>
          <a:prstGeom prst="rect">
            <a:avLst/>
          </a:prstGeom>
          <a:solidFill>
            <a:srgbClr val="BA7517"/>
          </a:solidFill>
        </p:spPr>
      </p:sp>
      <p:sp>
        <p:nvSpPr>
          <p:cNvPr id="30" name="Text 28"/>
          <p:cNvSpPr/>
          <p:nvPr/>
        </p:nvSpPr>
        <p:spPr>
          <a:xfrm>
            <a:off x="7315200" y="137160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1783080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194560"/>
            <a:ext cx="1554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集群 HA · 双写分治 · 分级采样 · 合规审计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74904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V1-V4 = Demo 赛道（内部自洽、不引新组件）  |  V5-V6 = 生产化参考库（脱敏/RBAC/TLS/HA 待上线触发）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7A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可观测数据飞轮 &amp; AIOps 演进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977640" y="1051560"/>
            <a:ext cx="91440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77640" y="1097280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生产失败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24357" y="1379994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1215" y="180976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1215" y="185548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评估数据集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22967" y="260679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2605" y="303655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2605" y="3082278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预发仿真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79392" y="336499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2675" y="303655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2675" y="3082278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回灌监控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35817" y="260679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5F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34065" y="1809762"/>
            <a:ext cx="91440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4065" y="185548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智能诊断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从「监控大屏」升级到「根因直达」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传统: 看大盘 → 排查 → 修复（30min+）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AIOps: 异常自动聚类 → 根因推荐 → 一键回滚（&lt;5min）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参考：DoorDash 通过 AIOps 根因分析提速 87%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总结：可见 · 可控 · 可信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2743200" cy="0"/>
          </a:xfrm>
          <a:prstGeom prst="line">
            <a:avLst/>
          </a:prstGeom>
          <a:noFill/>
          <a:ln w="2540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CAF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可见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233172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全链路追踪：从用户请求到 LLM 回复的完整 Span 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CAF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可控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成本治理：Token 分账 + 异常预警 + 质量飞轮闭环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097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CAF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可信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406908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合规审计：字段脱敏 + RBAC + TLS + 评估可回溯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B5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下一步行动建议：① 完成 Core 8080 埋点对接 ② 搭建 OTel Collector 管道 ③ 推进从 Demo 到生产级的合规改造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07*201"/>
  <p:tag name="TABLE_ENDDRAG_RECT" val="55*66*607*201"/>
</p:tagLst>
</file>

<file path=ppt/tags/tag2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3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4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5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6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7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8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9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0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1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2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3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4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5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6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7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8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19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0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1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2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3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4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ags/tag25.xml><?xml version="1.0" encoding="utf-8"?>
<p:tagLst xmlns:p="http://schemas.openxmlformats.org/presentationml/2006/main">
  <p:tag name="KSO_WM_DIAGRAM_VIRTUALLY_FRAME" val="{&quot;height&quot;:177.84,&quot;left&quot;:72,&quot;top&quot;:131.04000000000002,&quot;width&quot;:59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23954</Words>
  <Application>WPS 演示</Application>
  <PresentationFormat>On-screen Show (16:9)</PresentationFormat>
  <Paragraphs>2716</Paragraphs>
  <Slides>65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65</vt:i4>
      </vt:variant>
    </vt:vector>
  </HeadingPairs>
  <TitlesOfParts>
    <vt:vector size="93" baseType="lpstr">
      <vt:lpstr>Arial</vt:lpstr>
      <vt:lpstr>宋体</vt:lpstr>
      <vt:lpstr>Wingdings</vt:lpstr>
      <vt:lpstr>Arial</vt:lpstr>
      <vt:lpstr>微软雅黑</vt:lpstr>
      <vt:lpstr>Calibri</vt:lpstr>
      <vt:lpstr>Calibri</vt:lpstr>
      <vt:lpstr>Calibri</vt:lpstr>
      <vt:lpstr>Calibri</vt:lpstr>
      <vt:lpstr>Cambria</vt:lpstr>
      <vt:lpstr>Cambria</vt:lpstr>
      <vt:lpstr>Cambria</vt:lpstr>
      <vt:lpstr>Cambria</vt:lpstr>
      <vt:lpstr>Arial Unicode MS</vt:lpstr>
      <vt:lpstr>等线</vt:lpstr>
      <vt:lpstr>-apple-system</vt:lpstr>
      <vt:lpstr>ksdb</vt:lpstr>
      <vt:lpstr>MS PGothic</vt:lpstr>
      <vt:lpstr>Wingdings</vt:lpstr>
      <vt:lpstr>Menlo</vt:lpstr>
      <vt:lpstr>Calibri Light</vt:lpstr>
      <vt:lpstr>Calibri Light</vt:lpstr>
      <vt:lpstr>Calibri Light</vt:lpstr>
      <vt:lpstr>Office Theme</vt:lpstr>
      <vt:lpstr>3_Office Theme</vt:lpstr>
      <vt:lpstr>1_Office Theme</vt:lpstr>
      <vt:lpstr>2_Office Theme</vt:lpstr>
      <vt:lpstr>4_Office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AI可观测设计方案</dc:title>
  <dc:creator>AI可观测团队</dc:creator>
  <dc:subject>PptxGenJS Presentation</dc:subject>
  <cp:lastModifiedBy>Michael Lin</cp:lastModifiedBy>
  <cp:revision>19</cp:revision>
  <dcterms:created xsi:type="dcterms:W3CDTF">2026-07-17T02:24:00Z</dcterms:created>
  <dcterms:modified xsi:type="dcterms:W3CDTF">2026-07-31T07:52:58Z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80A5EE7258354DD4A6932522D3A4F739_12</vt:lpwstr>
  </property>
</Properties>
</file>