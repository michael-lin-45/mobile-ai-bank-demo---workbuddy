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63" r:id="rId4"/>
    <p:sldMasterId id="2147483665" r:id="rId5"/>
  </p:sldMasterIdLst>
  <p:notesMasterIdLst>
    <p:notesMasterId r:id="rId7"/>
  </p:notesMasterIdLst>
  <p:sldIdLst>
    <p:sldId id="256" r:id="rId6"/>
    <p:sldId id="288" r:id="rId8"/>
    <p:sldId id="289" r:id="rId9"/>
    <p:sldId id="257" r:id="rId10"/>
    <p:sldId id="265" r:id="rId11"/>
    <p:sldId id="264" r:id="rId12"/>
    <p:sldId id="297" r:id="rId13"/>
    <p:sldId id="266" r:id="rId14"/>
    <p:sldId id="268" r:id="rId15"/>
    <p:sldId id="258" r:id="rId16"/>
    <p:sldId id="296" r:id="rId17"/>
    <p:sldId id="274" r:id="rId18"/>
    <p:sldId id="298" r:id="rId19"/>
    <p:sldId id="291" r:id="rId20"/>
    <p:sldId id="299" r:id="rId21"/>
    <p:sldId id="275" r:id="rId22"/>
    <p:sldId id="292" r:id="rId23"/>
    <p:sldId id="295" r:id="rId24"/>
    <p:sldId id="278" r:id="rId25"/>
    <p:sldId id="259" r:id="rId26"/>
    <p:sldId id="269" r:id="rId27"/>
    <p:sldId id="293" r:id="rId28"/>
    <p:sldId id="294" r:id="rId29"/>
    <p:sldId id="286" r:id="rId30"/>
    <p:sldId id="287" r:id="rId31"/>
    <p:sldId id="270" r:id="rId32"/>
    <p:sldId id="260" r:id="rId33"/>
    <p:sldId id="271" r:id="rId34"/>
    <p:sldId id="261" r:id="rId35"/>
    <p:sldId id="272" r:id="rId36"/>
    <p:sldId id="262" r:id="rId37"/>
    <p:sldId id="279" r:id="rId38"/>
    <p:sldId id="280" r:id="rId39"/>
    <p:sldId id="281" r:id="rId40"/>
    <p:sldId id="273" r:id="rId41"/>
    <p:sldId id="263" r:id="rId42"/>
    <p:sldId id="282" r:id="rId43"/>
    <p:sldId id="283" r:id="rId44"/>
    <p:sldId id="284" r:id="rId45"/>
    <p:sldId id="285" r:id="rId4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77" y="1597819"/>
            <a:ext cx="5829604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54" y="2914650"/>
            <a:ext cx="480085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63" y="3305175"/>
            <a:ext cx="5829604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63" y="2180035"/>
            <a:ext cx="5829604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18" y="1200150"/>
            <a:ext cx="3029108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332" y="1200150"/>
            <a:ext cx="3029108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18" y="1151335"/>
            <a:ext cx="30302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18" y="1631156"/>
            <a:ext cx="3030299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950" y="1151335"/>
            <a:ext cx="303148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950" y="1631156"/>
            <a:ext cx="3031489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18" y="204788"/>
            <a:ext cx="2256352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427" y="204788"/>
            <a:ext cx="3834012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18" y="1076325"/>
            <a:ext cx="2256352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86" y="3600450"/>
            <a:ext cx="4115014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86" y="459581"/>
            <a:ext cx="4115014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86" y="4025504"/>
            <a:ext cx="4115014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309" y="205979"/>
            <a:ext cx="154313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18" y="205979"/>
            <a:ext cx="4515085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18" y="205979"/>
            <a:ext cx="6172521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18" y="1200150"/>
            <a:ext cx="6172521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18" y="4767263"/>
            <a:ext cx="16002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272" y="4767263"/>
            <a:ext cx="217181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5156" y="4767263"/>
            <a:ext cx="16002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15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342900" rtl="0" eaLnBrk="1" latinLnBrk="0" hangingPunct="1">
        <a:spcBef>
          <a:spcPct val="15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15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15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15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27432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457200" y="10058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en-US" sz="3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全链路可观测性平台</a:t>
            </a:r>
            <a:r>
              <a:rPr lang="en-US" sz="3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设计方案</a:t>
            </a:r>
            <a:endParaRPr lang="en-US" sz="3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8229600" cy="4572"/>
          </a:xfrm>
          <a:prstGeom prst="rect">
            <a:avLst/>
          </a:prstGeom>
          <a:solidFill>
            <a:srgbClr val="C9A84C">
              <a:alpha val="40000"/>
            </a:srgbClr>
          </a:solidFill>
        </p:spPr>
      </p:sp>
      <p:grpSp>
        <p:nvGrpSpPr>
          <p:cNvPr id="15" name="组合 14"/>
          <p:cNvGrpSpPr/>
          <p:nvPr/>
        </p:nvGrpSpPr>
        <p:grpSpPr>
          <a:xfrm>
            <a:off x="400685" y="3130550"/>
            <a:ext cx="8211185" cy="274320"/>
            <a:chOff x="547" y="5760"/>
            <a:chExt cx="12931" cy="432"/>
          </a:xfrm>
        </p:grpSpPr>
        <p:sp>
          <p:nvSpPr>
            <p:cNvPr id="6" name="Text 4"/>
            <p:cNvSpPr/>
            <p:nvPr/>
          </p:nvSpPr>
          <p:spPr>
            <a:xfrm>
              <a:off x="547" y="5760"/>
              <a:ext cx="244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9A84C"/>
                  </a:solidFill>
                </a:rPr>
                <a:t>● </a:t>
              </a: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指标监控</a:t>
              </a:r>
              <a:endParaRPr lang="en-US" sz="11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168" y="5760"/>
              <a:ext cx="244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9A84C"/>
                  </a:solidFill>
                </a:rPr>
                <a:t>● </a:t>
              </a: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会话回放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789" y="5760"/>
              <a:ext cx="244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9A84C"/>
                  </a:solidFill>
                </a:rPr>
                <a:t>● </a:t>
              </a: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链路追踪</a:t>
              </a:r>
              <a:endParaRPr lang="en-US" sz="1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409" y="5760"/>
              <a:ext cx="244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9A84C"/>
                  </a:solidFill>
                </a:rPr>
                <a:t>● </a:t>
              </a: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AI洞察</a:t>
              </a:r>
              <a:endParaRPr lang="en-US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1030" y="5760"/>
              <a:ext cx="244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9A84C"/>
                  </a:solidFill>
                </a:rPr>
                <a:t>● </a:t>
              </a: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日志告警</a:t>
              </a:r>
              <a:endParaRPr lang="en-US" sz="11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7912735" y="0"/>
            <a:ext cx="1231265" cy="5143500"/>
          </a:xfrm>
          <a:prstGeom prst="rect">
            <a:avLst/>
          </a:prstGeom>
          <a:solidFill>
            <a:srgbClr val="1A2A5E"/>
          </a:solidFill>
        </p:spPr>
      </p:sp>
      <p:sp>
        <p:nvSpPr>
          <p:cNvPr id="13" name="Shape 11"/>
          <p:cNvSpPr/>
          <p:nvPr/>
        </p:nvSpPr>
        <p:spPr>
          <a:xfrm>
            <a:off x="7922895" y="52705"/>
            <a:ext cx="54864" cy="51435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4" name="TextBox 2"/>
          <p:cNvSpPr/>
          <p:nvPr/>
        </p:nvSpPr>
        <p:spPr>
          <a:xfrm>
            <a:off x="457200" y="1911668"/>
            <a:ext cx="6400800" cy="24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1600" dirty="0">
                <a:solidFill>
                  <a:srgbClr val="E8D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让智能体「看得见、调得动、信得过」</a:t>
            </a:r>
            <a:endParaRPr lang="en-US" sz="1600" dirty="0">
              <a:solidFill>
                <a:srgbClr val="E8D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400685" y="3687445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400" b="0" i="0">
                <a:solidFill>
                  <a:srgbClr val="90CAF9"/>
                </a:solidFill>
                <a:latin typeface="Calibri" panose="020F0502020204030204"/>
              </a:defRPr>
            </a:pPr>
            <a:r>
              <a:t>从监控大屏到智能诊断 —— 构建生产级 AI 可观测体系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4400" b="1" i="0">
                <a:solidFill>
                  <a:srgbClr val="FFFFFF"/>
                </a:solidFill>
                <a:latin typeface="Cambria" panose="02040503050406030204"/>
              </a:defRPr>
            </a:pPr>
            <a:r>
              <a:t>AI 可观测方案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000" b="0" i="0">
                <a:solidFill>
                  <a:srgbClr val="90CAF9"/>
                </a:solidFill>
                <a:latin typeface="Calibri" panose="020F0502020204030204"/>
              </a:defRPr>
            </a:pPr>
            <a:r>
              <a:t>让智能体「看得见、调得动、信得过」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194560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400" b="0" i="0">
                <a:solidFill>
                  <a:srgbClr val="90CAF9"/>
                </a:solidFill>
                <a:latin typeface="Calibri" panose="020F0502020204030204"/>
              </a:defRPr>
            </a:pPr>
            <a:r>
              <a:t>从监控大屏到智能诊断 —— 构建生产级 AI 可观测体系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64B5F6"/>
                </a:solidFill>
                <a:latin typeface="Calibri" panose="020F0502020204030204"/>
              </a:defRPr>
            </a:pPr>
            <a:r>
              <a:t>基于 IMA「AI可观测」知识库及行业实践  |  2026.07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3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背景与挑战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AI 系统可观测盲区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" name="Rectangle 8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内核与标准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什么是 AI 可观测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方案架构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DEMO 与生产版总览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260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9" name="Rectangle 18"/>
          <p:cNvSpPr/>
          <p:nvPr/>
        </p:nvSpPr>
        <p:spPr>
          <a:xfrm>
            <a:off x="457200" y="29260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核心能力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六大可观测能力模块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4" name="Rectangle 23"/>
          <p:cNvSpPr/>
          <p:nvPr/>
        </p:nvSpPr>
        <p:spPr>
          <a:xfrm>
            <a:off x="3291840" y="29260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5" name="TextBox 24"/>
          <p:cNvSpPr txBox="1"/>
          <p:nvPr/>
        </p:nvSpPr>
        <p:spPr>
          <a:xfrm>
            <a:off x="3474720" y="32004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6576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选型与案例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977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平台对比+手机银行落地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9260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9" name="Rectangle 28"/>
          <p:cNvSpPr/>
          <p:nvPr/>
        </p:nvSpPr>
        <p:spPr>
          <a:xfrm>
            <a:off x="6126480" y="29260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0" name="TextBox 29"/>
          <p:cNvSpPr txBox="1"/>
          <p:nvPr/>
        </p:nvSpPr>
        <p:spPr>
          <a:xfrm>
            <a:off x="6309360" y="32004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6576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演进路线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977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DEMO→生产级+AIOps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AI可观测的必要性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传统APM已无法满足AI应用的可观测需求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9895" y="4247515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02295" y="424751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8845"/>
            <a:ext cx="3840480" cy="310896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8845"/>
            <a:ext cx="3840480" cy="54864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9" name="Text 7"/>
          <p:cNvSpPr/>
          <p:nvPr/>
        </p:nvSpPr>
        <p:spPr>
          <a:xfrm>
            <a:off x="685800" y="1056005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传统APM的三大盲区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558925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1" name="Text 9"/>
          <p:cNvSpPr/>
          <p:nvPr>
            <p:custDataLst>
              <p:tags r:id="rId1"/>
            </p:custDataLst>
          </p:nvPr>
        </p:nvSpPr>
        <p:spPr>
          <a:xfrm>
            <a:off x="914400" y="1531493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LLM调用黑盒</a:t>
            </a:r>
            <a:endParaRPr lang="en-US" sz="1100" dirty="0"/>
          </a:p>
        </p:txBody>
      </p:sp>
      <p:sp>
        <p:nvSpPr>
          <p:cNvPr id="12" name="Text 10"/>
          <p:cNvSpPr/>
          <p:nvPr>
            <p:custDataLst>
              <p:tags r:id="rId2"/>
            </p:custDataLst>
          </p:nvPr>
        </p:nvSpPr>
        <p:spPr>
          <a:xfrm>
            <a:off x="914400" y="176009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无法追踪模型推理耗时、Token消耗、提示词内容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336165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4" name="Text 12"/>
          <p:cNvSpPr/>
          <p:nvPr>
            <p:custDataLst>
              <p:tags r:id="rId3"/>
            </p:custDataLst>
          </p:nvPr>
        </p:nvSpPr>
        <p:spPr>
          <a:xfrm>
            <a:off x="914400" y="2308733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Agent决策不可见</a:t>
            </a:r>
            <a:endParaRPr lang="en-US" sz="1100" dirty="0"/>
          </a:p>
        </p:txBody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914400" y="253733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多步推理链路断裂，中间过程无法回溯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113405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7" name="Text 15"/>
          <p:cNvSpPr/>
          <p:nvPr>
            <p:custDataLst>
              <p:tags r:id="rId5"/>
            </p:custDataLst>
          </p:nvPr>
        </p:nvSpPr>
        <p:spPr>
          <a:xfrm>
            <a:off x="914400" y="3085973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用户体验盲区</a:t>
            </a:r>
            <a:endParaRPr lang="en-US" sz="1100" dirty="0"/>
          </a:p>
        </p:txBody>
      </p:sp>
      <p:sp>
        <p:nvSpPr>
          <p:cNvPr id="18" name="Text 16"/>
          <p:cNvSpPr/>
          <p:nvPr>
            <p:custDataLst>
              <p:tags r:id="rId6"/>
            </p:custDataLst>
          </p:nvPr>
        </p:nvSpPr>
        <p:spPr>
          <a:xfrm>
            <a:off x="914400" y="331457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缺乏会话级观测，无法重现用户真实交互路径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918845"/>
            <a:ext cx="3840480" cy="310896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18845"/>
            <a:ext cx="3840480" cy="54864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21" name="Text 19"/>
          <p:cNvSpPr/>
          <p:nvPr/>
        </p:nvSpPr>
        <p:spPr>
          <a:xfrm>
            <a:off x="5074920" y="1056005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银行AI可观测四大核心需求</a:t>
            </a:r>
            <a:endParaRPr lang="en-US" sz="1400" dirty="0"/>
          </a:p>
        </p:txBody>
      </p:sp>
      <p:sp>
        <p:nvSpPr>
          <p:cNvPr id="22" name="Shape 20"/>
          <p:cNvSpPr/>
          <p:nvPr>
            <p:custDataLst>
              <p:tags r:id="rId7"/>
            </p:custDataLst>
          </p:nvPr>
        </p:nvSpPr>
        <p:spPr>
          <a:xfrm>
            <a:off x="5074920" y="1558925"/>
            <a:ext cx="54864" cy="438912"/>
          </a:xfrm>
          <a:prstGeom prst="rect">
            <a:avLst/>
          </a:prstGeom>
          <a:solidFill>
            <a:srgbClr val="16A34A">
              <a:alpha val="60000"/>
            </a:srgbClr>
          </a:solidFill>
        </p:spPr>
      </p:sp>
      <p:sp>
        <p:nvSpPr>
          <p:cNvPr id="23" name="Text 21"/>
          <p:cNvSpPr/>
          <p:nvPr>
            <p:custDataLst>
              <p:tags r:id="rId8"/>
            </p:custDataLst>
          </p:nvPr>
        </p:nvSpPr>
        <p:spPr>
          <a:xfrm>
            <a:off x="5303520" y="1531493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全链路可见</a:t>
            </a:r>
            <a:endParaRPr lang="en-US" sz="1100" dirty="0"/>
          </a:p>
        </p:txBody>
      </p:sp>
      <p:sp>
        <p:nvSpPr>
          <p:cNvPr id="24" name="Text 22"/>
          <p:cNvSpPr/>
          <p:nvPr>
            <p:custDataLst>
              <p:tags r:id="rId9"/>
            </p:custDataLst>
          </p:nvPr>
        </p:nvSpPr>
        <p:spPr>
          <a:xfrm>
            <a:off x="5303520" y="173266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从用户请求到模型响应，每一跳都可追踪</a:t>
            </a:r>
            <a:endParaRPr lang="en-US" sz="900" dirty="0"/>
          </a:p>
        </p:txBody>
      </p:sp>
      <p:sp>
        <p:nvSpPr>
          <p:cNvPr id="25" name="Shape 23"/>
          <p:cNvSpPr/>
          <p:nvPr>
            <p:custDataLst>
              <p:tags r:id="rId10"/>
            </p:custDataLst>
          </p:nvPr>
        </p:nvSpPr>
        <p:spPr>
          <a:xfrm>
            <a:off x="5074920" y="2153285"/>
            <a:ext cx="54864" cy="438912"/>
          </a:xfrm>
          <a:prstGeom prst="rect">
            <a:avLst/>
          </a:prstGeom>
          <a:solidFill>
            <a:srgbClr val="16A34A">
              <a:alpha val="60000"/>
            </a:srgbClr>
          </a:solidFill>
        </p:spPr>
      </p:sp>
      <p:sp>
        <p:nvSpPr>
          <p:cNvPr id="26" name="Text 24"/>
          <p:cNvSpPr/>
          <p:nvPr>
            <p:custDataLst>
              <p:tags r:id="rId11"/>
            </p:custDataLst>
          </p:nvPr>
        </p:nvSpPr>
        <p:spPr>
          <a:xfrm>
            <a:off x="5303520" y="2125853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合规审计</a:t>
            </a:r>
            <a:endParaRPr lang="en-US" sz="1100" dirty="0"/>
          </a:p>
        </p:txBody>
      </p:sp>
      <p:sp>
        <p:nvSpPr>
          <p:cNvPr id="27" name="Text 25"/>
          <p:cNvSpPr/>
          <p:nvPr>
            <p:custDataLst>
              <p:tags r:id="rId12"/>
            </p:custDataLst>
          </p:nvPr>
        </p:nvSpPr>
        <p:spPr>
          <a:xfrm>
            <a:off x="5303520" y="232702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交互记录完整留存，满足金融监管追溯要求</a:t>
            </a:r>
            <a:endParaRPr lang="en-US" sz="900" dirty="0"/>
          </a:p>
        </p:txBody>
      </p:sp>
      <p:sp>
        <p:nvSpPr>
          <p:cNvPr id="28" name="Shape 26"/>
          <p:cNvSpPr/>
          <p:nvPr>
            <p:custDataLst>
              <p:tags r:id="rId13"/>
            </p:custDataLst>
          </p:nvPr>
        </p:nvSpPr>
        <p:spPr>
          <a:xfrm>
            <a:off x="5074920" y="2747645"/>
            <a:ext cx="54864" cy="438912"/>
          </a:xfrm>
          <a:prstGeom prst="rect">
            <a:avLst/>
          </a:prstGeom>
          <a:solidFill>
            <a:srgbClr val="16A34A">
              <a:alpha val="60000"/>
            </a:srgbClr>
          </a:solidFill>
        </p:spPr>
      </p:sp>
      <p:sp>
        <p:nvSpPr>
          <p:cNvPr id="29" name="Text 27"/>
          <p:cNvSpPr/>
          <p:nvPr>
            <p:custDataLst>
              <p:tags r:id="rId14"/>
            </p:custDataLst>
          </p:nvPr>
        </p:nvSpPr>
        <p:spPr>
          <a:xfrm>
            <a:off x="5303520" y="2720213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智能告警</a:t>
            </a:r>
            <a:endParaRPr lang="en-US" sz="1100" dirty="0"/>
          </a:p>
        </p:txBody>
      </p:sp>
      <p:sp>
        <p:nvSpPr>
          <p:cNvPr id="30" name="Text 28"/>
          <p:cNvSpPr/>
          <p:nvPr>
            <p:custDataLst>
              <p:tags r:id="rId15"/>
            </p:custDataLst>
          </p:nvPr>
        </p:nvSpPr>
        <p:spPr>
          <a:xfrm>
            <a:off x="5303520" y="292138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异常检测 &amp; 根因分析，不等用户投诉先发现问题</a:t>
            </a:r>
            <a:endParaRPr lang="en-US" sz="900" dirty="0"/>
          </a:p>
        </p:txBody>
      </p:sp>
      <p:sp>
        <p:nvSpPr>
          <p:cNvPr id="31" name="Shape 29"/>
          <p:cNvSpPr/>
          <p:nvPr>
            <p:custDataLst>
              <p:tags r:id="rId16"/>
            </p:custDataLst>
          </p:nvPr>
        </p:nvSpPr>
        <p:spPr>
          <a:xfrm>
            <a:off x="5074920" y="3342005"/>
            <a:ext cx="54864" cy="438912"/>
          </a:xfrm>
          <a:prstGeom prst="rect">
            <a:avLst/>
          </a:prstGeom>
          <a:solidFill>
            <a:srgbClr val="16A34A">
              <a:alpha val="60000"/>
            </a:srgbClr>
          </a:solidFill>
        </p:spPr>
      </p:sp>
      <p:sp>
        <p:nvSpPr>
          <p:cNvPr id="32" name="Text 30"/>
          <p:cNvSpPr/>
          <p:nvPr>
            <p:custDataLst>
              <p:tags r:id="rId17"/>
            </p:custDataLst>
          </p:nvPr>
        </p:nvSpPr>
        <p:spPr>
          <a:xfrm>
            <a:off x="5303520" y="3314573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性能优化</a:t>
            </a:r>
            <a:endParaRPr lang="en-US" sz="1100" dirty="0"/>
          </a:p>
        </p:txBody>
      </p:sp>
      <p:sp>
        <p:nvSpPr>
          <p:cNvPr id="33" name="Text 31"/>
          <p:cNvSpPr/>
          <p:nvPr>
            <p:custDataLst>
              <p:tags r:id="rId18"/>
            </p:custDataLst>
          </p:nvPr>
        </p:nvSpPr>
        <p:spPr>
          <a:xfrm>
            <a:off x="5303520" y="351574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Token消耗、延迟瓶颈实时可见，驱动降本增效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/>
        </p:nvGraphicFramePr>
        <p:xfrm>
          <a:off x="429895" y="3790315"/>
          <a:ext cx="8229600" cy="128016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对比维度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传统APM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AI可观测平台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观测粒度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服务级 (HTTP/gRPC)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会话级 + 轮次级 + Span级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LLM可见性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无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Token/延迟/Prompt全量记录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回放能力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不支持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逐轮会话回放 &amp; 重放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根因分析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手动排查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AI驱动的智能洞察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414" y="137287"/>
            <a:ext cx="8229172" cy="5028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2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背景与挑战：AI 系统的可观测盲区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414" y="823051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414" y="823051"/>
            <a:ext cx="54861" cy="621760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5" name="Text 3"/>
          <p:cNvSpPr/>
          <p:nvPr/>
        </p:nvSpPr>
        <p:spPr>
          <a:xfrm>
            <a:off x="731720" y="868769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200 但答非所问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720" y="1143074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全绿，但大模型回复事实错误、幻觉严重。传统监控看不见「答案质量」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414" y="1572820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414" y="1572820"/>
            <a:ext cx="54861" cy="621760"/>
          </a:xfrm>
          <a:prstGeom prst="rect">
            <a:avLst/>
          </a:prstGeom>
          <a:solidFill>
            <a:srgbClr val="F57C00"/>
          </a:solidFill>
        </p:spPr>
      </p:sp>
      <p:sp>
        <p:nvSpPr>
          <p:cNvPr id="9" name="Text 7"/>
          <p:cNvSpPr/>
          <p:nvPr/>
        </p:nvSpPr>
        <p:spPr>
          <a:xfrm>
            <a:off x="731720" y="1618538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成本悄悄翻倍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720" y="1892843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用量无追踪，RAG 检索静默退化，异常调用拖垮预算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414" y="2322589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414" y="2322589"/>
            <a:ext cx="54861" cy="62176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3" name="Text 11"/>
          <p:cNvSpPr/>
          <p:nvPr/>
        </p:nvSpPr>
        <p:spPr>
          <a:xfrm>
            <a:off x="731720" y="2368307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编排失控·自主副作用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720" y="2642612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年案例：自治 Agent 误执行 DROP DATABASE，所有指标全绿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176" y="823051"/>
            <a:ext cx="3657410" cy="1097223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11" y="868769"/>
            <a:ext cx="1097223" cy="10057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36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834" y="960204"/>
            <a:ext cx="2285881" cy="7314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可观测投资</a:t>
            </a:r>
            <a:endParaRPr lang="en-US" sz="1200" dirty="0"/>
          </a:p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2028 年占 GenAI 预算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11" y="1691686"/>
            <a:ext cx="3200234" cy="182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defTabSz="914400">
              <a:buNone/>
            </a:pPr>
            <a:r>
              <a:rPr lang="en-US" sz="9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Gartner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176" y="2103145"/>
            <a:ext cx="3657410" cy="1097223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11" y="2148862"/>
            <a:ext cx="1097223" cy="10057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36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834" y="2240297"/>
            <a:ext cx="2285881" cy="7314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年当前占比</a:t>
            </a:r>
            <a:endParaRPr lang="en-US" sz="1200" dirty="0"/>
          </a:p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增长空间巨大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11" y="2971779"/>
            <a:ext cx="3200234" cy="182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defTabSz="914400">
              <a:buNone/>
            </a:pPr>
            <a:r>
              <a:rPr lang="en-US" sz="9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Gartner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176" y="3383238"/>
            <a:ext cx="3657410" cy="1097223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11" y="3428955"/>
            <a:ext cx="1097223" cy="10057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36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21%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217834" y="3520391"/>
            <a:ext cx="2285881" cy="7314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组织对 Agent</a:t>
            </a:r>
            <a:endParaRPr lang="en-US" sz="1200" dirty="0"/>
          </a:p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有实时可见性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11" y="4251872"/>
            <a:ext cx="3200234" cy="182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defTabSz="914400">
              <a:buNone/>
            </a:pPr>
            <a:r>
              <a:rPr lang="en-US" sz="9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行业调研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414" y="3200367"/>
            <a:ext cx="8229172" cy="1645835"/>
          </a:xfrm>
          <a:prstGeom prst="rect">
            <a:avLst/>
          </a:prstGeom>
          <a:solidFill>
            <a:srgbClr val="E6F1FB"/>
          </a:solidFill>
        </p:spPr>
      </p:sp>
      <p:sp>
        <p:nvSpPr>
          <p:cNvPr id="28" name="Text 26"/>
          <p:cNvSpPr/>
          <p:nvPr/>
        </p:nvSpPr>
        <p:spPr>
          <a:xfrm>
            <a:off x="640285" y="3246085"/>
            <a:ext cx="1828705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核心洞察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285" y="3566108"/>
            <a:ext cx="7863431" cy="11886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1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 APM 三支柱（Metrics / Logs / Traces）无法回答 AI 系统特有的问题：</a:t>
            </a:r>
            <a:endParaRPr lang="en-US" sz="1100" dirty="0"/>
          </a:p>
          <a:p>
            <a:pPr marL="0" indent="0" defTabSz="914400">
              <a:buNone/>
            </a:pPr>
            <a:r>
              <a:rPr lang="en-US" sz="11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「答对了吗？」「花了多少钱？」「哪个意图出了问题？」</a:t>
            </a:r>
            <a:endParaRPr lang="en-US" sz="1100" dirty="0"/>
          </a:p>
          <a:p>
            <a:pPr marL="0" indent="0" defTabSz="914400">
              <a:buNone/>
            </a:pPr>
            <a:r>
              <a:rPr lang="en-US" sz="11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Gartner 预测 2028 年 LLM 可观测投资将占 GenAI 部署 50%，2026 年仅 15%——窗口期紧迫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为什么需要 AI 可观测？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718" y="1028700"/>
          <a:ext cx="5143500" cy="1577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2057400"/>
                <a:gridCol w="2057400"/>
              </a:tblGrid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维度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传统可观测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AI 可观测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观测对象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应用、中间件、基础设施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LLM 调用、Agent 链路、意图语义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问题类型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错误、延迟、吞吐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幻觉、意图漂移、Token 成本、转化率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根因定位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日志堆栈、链路耗时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多轮会话、Prompt 效果、模型版本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决策支持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告警 + 人工排障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智能洞察 + 行动建议 + 自动闭环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60958" y="1028700"/>
            <a:ext cx="2948940" cy="275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200" b="1">
                <a:solidFill>
                  <a:srgbClr val="1E3A8A"/>
                </a:solidFill>
                <a:latin typeface="微软雅黑" panose="020B0503020204020204" charset="-122"/>
              </a:rPr>
              <a:t>用户痛点与需求</a:t>
            </a:r>
            <a:endParaRPr sz="12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958" y="1440180"/>
            <a:ext cx="2948940" cy="1296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黑盒：不知道 AI 真实在生产环境里给了什么答案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贵：每次调用都在烧钱，却无法衡量投入产出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慢：用户抱怨卡，但瓶颈在 LLM 还是 Prompt？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失控：多 Agent 协作时，调用路径与责任边界不清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合规：敏感会话、金融数据需要可追溯、可审计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97113" y="892810"/>
            <a:ext cx="2948940" cy="275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200" b="1">
                <a:solidFill>
                  <a:srgbClr val="1E3A8A"/>
                </a:solidFill>
                <a:latin typeface="微软雅黑" panose="020B0503020204020204" charset="-122"/>
              </a:rPr>
              <a:t>用户痛点与需求</a:t>
            </a:r>
            <a:endParaRPr sz="12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7113" y="1304290"/>
            <a:ext cx="2948940" cy="1296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黑盒：不知道 AI 真实在生产环境里给了什么答案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贵：每次调用都在烧钱，却无法衡量投入产出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慢：用户抱怨卡，但瓶颈在 LLM 还是 Prompt？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失控：多 Agent 协作时，调用路径与责任边界不清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合规：敏感会话、金融数据需要可追溯、可审计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6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7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AI可观测的必要性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197475" y="433070"/>
            <a:ext cx="3840480" cy="310896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97475" y="433070"/>
            <a:ext cx="3840480" cy="54864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0" name="Text 7"/>
          <p:cNvSpPr/>
          <p:nvPr/>
        </p:nvSpPr>
        <p:spPr>
          <a:xfrm>
            <a:off x="5426075" y="57023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传统APM的三大盲区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26075" y="1073150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2" name="Text 9"/>
          <p:cNvSpPr/>
          <p:nvPr>
            <p:custDataLst>
              <p:tags r:id="rId1"/>
            </p:custDataLst>
          </p:nvPr>
        </p:nvSpPr>
        <p:spPr>
          <a:xfrm>
            <a:off x="5654675" y="104571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LLM调用黑盒</a:t>
            </a:r>
            <a:endParaRPr lang="en-US" sz="1100" dirty="0"/>
          </a:p>
        </p:txBody>
      </p:sp>
      <p:sp>
        <p:nvSpPr>
          <p:cNvPr id="13" name="Text 10"/>
          <p:cNvSpPr/>
          <p:nvPr>
            <p:custDataLst>
              <p:tags r:id="rId2"/>
            </p:custDataLst>
          </p:nvPr>
        </p:nvSpPr>
        <p:spPr>
          <a:xfrm>
            <a:off x="5654675" y="127431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无法追踪模型推理耗时、Token消耗、提示词内容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26075" y="1850390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5" name="Text 12"/>
          <p:cNvSpPr/>
          <p:nvPr>
            <p:custDataLst>
              <p:tags r:id="rId3"/>
            </p:custDataLst>
          </p:nvPr>
        </p:nvSpPr>
        <p:spPr>
          <a:xfrm>
            <a:off x="5654675" y="182295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Agent决策不可见</a:t>
            </a:r>
            <a:endParaRPr lang="en-US" sz="1100" dirty="0"/>
          </a:p>
        </p:txBody>
      </p:sp>
      <p:sp>
        <p:nvSpPr>
          <p:cNvPr id="16" name="Text 13"/>
          <p:cNvSpPr/>
          <p:nvPr>
            <p:custDataLst>
              <p:tags r:id="rId4"/>
            </p:custDataLst>
          </p:nvPr>
        </p:nvSpPr>
        <p:spPr>
          <a:xfrm>
            <a:off x="5654675" y="205155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多步推理链路断裂，中间过程无法回溯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26075" y="2627630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8" name="Text 15"/>
          <p:cNvSpPr/>
          <p:nvPr>
            <p:custDataLst>
              <p:tags r:id="rId5"/>
            </p:custDataLst>
          </p:nvPr>
        </p:nvSpPr>
        <p:spPr>
          <a:xfrm>
            <a:off x="5654675" y="260019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用户体验盲区</a:t>
            </a:r>
            <a:endParaRPr lang="en-US" sz="1100" dirty="0"/>
          </a:p>
        </p:txBody>
      </p:sp>
      <p:sp>
        <p:nvSpPr>
          <p:cNvPr id="19" name="Text 16"/>
          <p:cNvSpPr/>
          <p:nvPr>
            <p:custDataLst>
              <p:tags r:id="rId6"/>
            </p:custDataLst>
          </p:nvPr>
        </p:nvSpPr>
        <p:spPr>
          <a:xfrm>
            <a:off x="5654675" y="282879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缺乏会话级观测，无法重现用户真实交互路径</a:t>
            </a:r>
            <a:endParaRPr lang="en-US" sz="900" dirty="0"/>
          </a:p>
        </p:txBody>
      </p:sp>
      <p:sp>
        <p:nvSpPr>
          <p:cNvPr id="20" name="Shape 1"/>
          <p:cNvSpPr/>
          <p:nvPr/>
        </p:nvSpPr>
        <p:spPr>
          <a:xfrm>
            <a:off x="397089" y="2917281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2"/>
          <p:cNvSpPr/>
          <p:nvPr/>
        </p:nvSpPr>
        <p:spPr>
          <a:xfrm>
            <a:off x="397089" y="2917281"/>
            <a:ext cx="54861" cy="621760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22" name="Text 3"/>
          <p:cNvSpPr/>
          <p:nvPr/>
        </p:nvSpPr>
        <p:spPr>
          <a:xfrm>
            <a:off x="671395" y="2962999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200 但答非所问</a:t>
            </a:r>
            <a:endParaRPr lang="en-US" sz="1400" dirty="0"/>
          </a:p>
        </p:txBody>
      </p:sp>
      <p:sp>
        <p:nvSpPr>
          <p:cNvPr id="23" name="Text 4"/>
          <p:cNvSpPr/>
          <p:nvPr/>
        </p:nvSpPr>
        <p:spPr>
          <a:xfrm>
            <a:off x="671395" y="3237304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全绿，但大模型回复事实错误、幻觉严重。传统监控看不见「答案质量」</a:t>
            </a:r>
            <a:endParaRPr lang="en-US" sz="1000" dirty="0"/>
          </a:p>
        </p:txBody>
      </p:sp>
      <p:sp>
        <p:nvSpPr>
          <p:cNvPr id="24" name="Shape 5"/>
          <p:cNvSpPr/>
          <p:nvPr/>
        </p:nvSpPr>
        <p:spPr>
          <a:xfrm>
            <a:off x="397089" y="3667050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6"/>
          <p:cNvSpPr/>
          <p:nvPr/>
        </p:nvSpPr>
        <p:spPr>
          <a:xfrm>
            <a:off x="397089" y="3667050"/>
            <a:ext cx="54861" cy="621760"/>
          </a:xfrm>
          <a:prstGeom prst="rect">
            <a:avLst/>
          </a:prstGeom>
          <a:solidFill>
            <a:srgbClr val="F57C00"/>
          </a:solidFill>
        </p:spPr>
      </p:sp>
      <p:sp>
        <p:nvSpPr>
          <p:cNvPr id="26" name="Text 7"/>
          <p:cNvSpPr/>
          <p:nvPr/>
        </p:nvSpPr>
        <p:spPr>
          <a:xfrm>
            <a:off x="671395" y="3712768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成本悄悄翻倍</a:t>
            </a:r>
            <a:endParaRPr lang="en-US" sz="1400" dirty="0"/>
          </a:p>
        </p:txBody>
      </p:sp>
      <p:sp>
        <p:nvSpPr>
          <p:cNvPr id="27" name="Text 8"/>
          <p:cNvSpPr/>
          <p:nvPr/>
        </p:nvSpPr>
        <p:spPr>
          <a:xfrm>
            <a:off x="671395" y="3987073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用量无追踪，RAG 检索静默退化，异常调用拖垮预算</a:t>
            </a:r>
            <a:endParaRPr lang="en-US" sz="1000" dirty="0"/>
          </a:p>
        </p:txBody>
      </p:sp>
      <p:sp>
        <p:nvSpPr>
          <p:cNvPr id="28" name="Shape 9"/>
          <p:cNvSpPr/>
          <p:nvPr/>
        </p:nvSpPr>
        <p:spPr>
          <a:xfrm>
            <a:off x="397089" y="4416819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10"/>
          <p:cNvSpPr/>
          <p:nvPr/>
        </p:nvSpPr>
        <p:spPr>
          <a:xfrm>
            <a:off x="397089" y="4416819"/>
            <a:ext cx="54861" cy="62176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0" name="Text 11"/>
          <p:cNvSpPr/>
          <p:nvPr/>
        </p:nvSpPr>
        <p:spPr>
          <a:xfrm>
            <a:off x="671395" y="4462537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编排失控·自主副作用</a:t>
            </a:r>
            <a:endParaRPr lang="en-US" sz="1400" dirty="0"/>
          </a:p>
        </p:txBody>
      </p:sp>
      <p:sp>
        <p:nvSpPr>
          <p:cNvPr id="31" name="Text 12"/>
          <p:cNvSpPr/>
          <p:nvPr/>
        </p:nvSpPr>
        <p:spPr>
          <a:xfrm>
            <a:off x="671395" y="4736842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年案例：自治 Agent 误执行 DROP DATABASE，所有指标全绿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850" y="1097357"/>
            <a:ext cx="1097223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4800" b="1" i="0">
                <a:solidFill>
                  <a:srgbClr val="FFFFFF"/>
                </a:solidFill>
                <a:latin typeface="Cambria" panose="02040503050406030204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943" y="1188792"/>
            <a:ext cx="6400467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3600" b="1" i="0">
                <a:solidFill>
                  <a:srgbClr val="FFFFFF"/>
                </a:solidFill>
                <a:latin typeface="Cambria" panose="02040503050406030204"/>
              </a:defRPr>
            </a:pPr>
            <a:r>
              <a:t>内核与标准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943" y="2194580"/>
            <a:ext cx="6400467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600" b="0" i="0">
                <a:solidFill>
                  <a:srgbClr val="90CAF9"/>
                </a:solidFill>
                <a:latin typeface="Calibri" panose="020F0502020204030204"/>
              </a:defRPr>
            </a:pPr>
            <a:r>
              <a:t>什么是 AI 可观测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943" y="2926061"/>
            <a:ext cx="2743058" cy="3657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内核与标准：什么是 AI 可观测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4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传统三支柱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05840" cy="6858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2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185FA5"/>
                </a:solidFill>
                <a:latin typeface="Calibri" panose="020F0502020204030204"/>
              </a:defRPr>
            </a:pPr>
            <a:r>
              <a:t>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143000"/>
            <a:ext cx="1005840" cy="6858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" name="TextBox 8"/>
          <p:cNvSpPr txBox="1"/>
          <p:nvPr/>
        </p:nvSpPr>
        <p:spPr>
          <a:xfrm>
            <a:off x="1828800" y="1170432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2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5819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185FA5"/>
                </a:solidFill>
                <a:latin typeface="Calibri" panose="020F0502020204030204"/>
              </a:defRPr>
            </a:pPr>
            <a:r>
              <a:t>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143000"/>
            <a:ext cx="1005840" cy="6858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" name="TextBox 11"/>
          <p:cNvSpPr txBox="1"/>
          <p:nvPr/>
        </p:nvSpPr>
        <p:spPr>
          <a:xfrm>
            <a:off x="3017520" y="1170432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2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5819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185FA5"/>
                </a:solidFill>
                <a:latin typeface="Calibri" panose="020F0502020204030204"/>
              </a:defRPr>
            </a:pPr>
            <a:r>
              <a:t>Traces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系统级监控：CPU、内存、QPS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定位「发生了什么」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68580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7" name="TextBox 16"/>
          <p:cNvSpPr txBox="1"/>
          <p:nvPr/>
        </p:nvSpPr>
        <p:spPr>
          <a:xfrm>
            <a:off x="4754880" y="74980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4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四大 AI 原语（新增）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115568"/>
            <a:ext cx="3749039" cy="3291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9" name="TextBox 18"/>
          <p:cNvSpPr txBox="1"/>
          <p:nvPr/>
        </p:nvSpPr>
        <p:spPr>
          <a:xfrm>
            <a:off x="4846320" y="11430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评估分数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430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幻觉率/相关性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481328"/>
            <a:ext cx="3749039" cy="3291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2" name="TextBox 21"/>
          <p:cNvSpPr txBox="1"/>
          <p:nvPr/>
        </p:nvSpPr>
        <p:spPr>
          <a:xfrm>
            <a:off x="4846320" y="15087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Prompt 快照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5087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版本追踪回放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847088"/>
            <a:ext cx="3749039" cy="3291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5" name="TextBox 24"/>
          <p:cNvSpPr txBox="1"/>
          <p:nvPr/>
        </p:nvSpPr>
        <p:spPr>
          <a:xfrm>
            <a:off x="4846320" y="1874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Token 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745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按意图分账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212848"/>
            <a:ext cx="3749039" cy="3291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8" name="TextBox 27"/>
          <p:cNvSpPr txBox="1"/>
          <p:nvPr/>
        </p:nvSpPr>
        <p:spPr>
          <a:xfrm>
            <a:off x="4846320" y="22402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工具调用树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240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Agent 编排链路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57860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185FA5"/>
                </a:solidFill>
                <a:latin typeface="Calibri" panose="020F0502020204030204"/>
              </a:defRPr>
            </a:pPr>
            <a:r>
              <a:t>回答「够不够好、该修什么」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2" name="TextBox 31"/>
          <p:cNvSpPr txBox="1"/>
          <p:nvPr/>
        </p:nvSpPr>
        <p:spPr>
          <a:xfrm>
            <a:off x="640080" y="2926080"/>
            <a:ext cx="7680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标准锚点：OpenTelemetry GenAI 语义约定 2026 年初稳定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20040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gen_ai.system · gen_ai.request.model · gen_ai.usage.input_tokens 等标准属性，确保跨厂商观测一致性。一条 Agent 请求 = 一棵 Span 树：Root → LLM Completion → Tool Call → 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5" name="TextBox 34"/>
          <p:cNvSpPr txBox="1"/>
          <p:nvPr/>
        </p:nvSpPr>
        <p:spPr>
          <a:xfrm>
            <a:off x="640080" y="388620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0D47A1"/>
                </a:solidFill>
                <a:latin typeface="Calibri" panose="020F0502020204030204"/>
              </a:defRPr>
            </a:pPr>
            <a:r>
              <a:t>设计原则：不改造 LLM SDK → OTel Java Agent 自动拦截 → 标准 OTLP 导出 → 与 Tempo/VM/Loki 统一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AI可观测整体架构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端到端数据流：埋点 → 采集 → 处理 → 存储 → 呈现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3931920" cy="36576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9" name="Text 7"/>
          <p:cNvSpPr/>
          <p:nvPr/>
        </p:nvSpPr>
        <p:spPr>
          <a:xfrm>
            <a:off x="594360" y="1371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业务埋点层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6824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Core服务OTel SDK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javaagent自动注入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Span/指标/日志导出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128016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280160"/>
            <a:ext cx="3931920" cy="36576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15" name="Text 13"/>
          <p:cNvSpPr/>
          <p:nvPr/>
        </p:nvSpPr>
        <p:spPr>
          <a:xfrm>
            <a:off x="2423160" y="1371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数据采集层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16824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OTel Collector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1938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OTLP协议接收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23160" y="21945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批量压缩&amp;转发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28016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80160"/>
            <a:ext cx="3931920" cy="36576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21" name="Text 19"/>
          <p:cNvSpPr/>
          <p:nvPr/>
        </p:nvSpPr>
        <p:spPr>
          <a:xfrm>
            <a:off x="5166360" y="1371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数据处理层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16824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Backend API服务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1938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Span解析&amp;关联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21945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汇聚持久化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3931920" cy="36576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27" name="Text 25"/>
          <p:cNvSpPr/>
          <p:nvPr/>
        </p:nvSpPr>
        <p:spPr>
          <a:xfrm>
            <a:off x="594360" y="3108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数据存储层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41985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H2 / PostgreSQL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6758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时序指标库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931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日志: Loki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301752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3017520"/>
            <a:ext cx="3931920" cy="36576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33" name="Text 31"/>
          <p:cNvSpPr/>
          <p:nvPr/>
        </p:nvSpPr>
        <p:spPr>
          <a:xfrm>
            <a:off x="4709160" y="3108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前端呈现层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41985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总览大屏 / 指标看板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36758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会话回放 / Trace链路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3931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AI洞察 / 日志告警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28800" y="1828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251960" y="1828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423160" y="25146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</a:rPr>
              <a:t>↓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114800" y="3566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标准技术栈：Spring Boot 3 + Spring AI + OpenTelemetry JavaAgent + OTLP Collector + Loki + Grafana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arch-targ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575" y="584835"/>
            <a:ext cx="4871720" cy="43237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DEMO 架构（V4 开发基线）</a:t>
            </a:r>
            <a:endParaRPr lang="en-US" sz="2200" dirty="0"/>
          </a:p>
        </p:txBody>
      </p:sp>
      <p:pic>
        <p:nvPicPr>
          <p:cNvPr id="3" name="Image 0" descr="E:/WorkBuddy/2026-07-16-22-17-49/outputs/ai-observability-arch-DEMO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82880" y="156845"/>
            <a:ext cx="8247380" cy="46678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8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DEMO 架构（V4 开发基线 · 单体自洽）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" name="Rounded Rectangle 3"/>
          <p:cNvSpPr/>
          <p:nvPr/>
        </p:nvSpPr>
        <p:spPr>
          <a:xfrm>
            <a:off x="548640" y="786384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" name="TextBox 5"/>
          <p:cNvSpPr txBox="1"/>
          <p:nvPr/>
        </p:nvSpPr>
        <p:spPr>
          <a:xfrm>
            <a:off x="644525" y="89585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采集发射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1885" y="585470"/>
            <a:ext cx="1127125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Core 8080</a:t>
            </a:r>
          </a:p>
        </p:txBody>
      </p:sp>
      <p:sp>
        <p:nvSpPr>
          <p:cNvPr id="8" name="Rectangle 7"/>
          <p:cNvSpPr/>
          <p:nvPr/>
        </p:nvSpPr>
        <p:spPr>
          <a:xfrm>
            <a:off x="1426464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" name="TextBox 9"/>
          <p:cNvSpPr txBox="1"/>
          <p:nvPr/>
        </p:nvSpPr>
        <p:spPr>
          <a:xfrm>
            <a:off x="1481328" y="768096"/>
            <a:ext cx="1170432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 lang="zh-CN"/>
              <a:t>银行</a:t>
            </a:r>
            <a:r>
              <a:rPr lang="zh-CN"/>
              <a:t>智能体</a:t>
            </a:r>
            <a:endParaRPr lang="zh-CN"/>
          </a:p>
        </p:txBody>
      </p:sp>
      <p:sp>
        <p:nvSpPr>
          <p:cNvPr id="11" name="TextBox 10"/>
          <p:cNvSpPr txBox="1"/>
          <p:nvPr/>
        </p:nvSpPr>
        <p:spPr>
          <a:xfrm>
            <a:off x="1481328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HTTP拦截+trace注入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24912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14800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206240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0" name="TextBox 19"/>
          <p:cNvSpPr txBox="1"/>
          <p:nvPr/>
        </p:nvSpPr>
        <p:spPr>
          <a:xfrm>
            <a:off x="4261104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ObsChatModel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span+意图+置信度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04688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596128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5" name="TextBox 24"/>
          <p:cNvSpPr txBox="1"/>
          <p:nvPr/>
        </p:nvSpPr>
        <p:spPr>
          <a:xfrm>
            <a:off x="5650992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OTel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+SessionBridge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0" y="1353312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38928" y="136245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OTLP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0" y="1353312"/>
            <a:ext cx="0" cy="54864"/>
          </a:xfrm>
          <a:prstGeom prst="line">
            <a:avLst/>
          </a:prstGeom>
          <a:ln w="19050">
            <a:solidFill>
              <a:srgbClr val="185FA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9360" y="20848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HTTP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426464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2" name="Rounded Rectangle 31"/>
          <p:cNvSpPr/>
          <p:nvPr/>
        </p:nvSpPr>
        <p:spPr>
          <a:xfrm>
            <a:off x="548640" y="1664208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3" name="TextBox 32"/>
          <p:cNvSpPr txBox="1"/>
          <p:nvPr/>
        </p:nvSpPr>
        <p:spPr>
          <a:xfrm>
            <a:off x="548640" y="1682496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190195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采集管道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0145" y="1463040"/>
            <a:ext cx="1078865" cy="1765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OTel Collector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26464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8" name="TextBox 37"/>
          <p:cNvSpPr txBox="1"/>
          <p:nvPr/>
        </p:nvSpPr>
        <p:spPr>
          <a:xfrm>
            <a:off x="1481328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Receiver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OTLP接收+解码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24912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816352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3" name="TextBox 42"/>
          <p:cNvSpPr txBox="1"/>
          <p:nvPr/>
        </p:nvSpPr>
        <p:spPr>
          <a:xfrm>
            <a:off x="2871216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Batch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71216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攒批去重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14800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206240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8" name="TextBox 47"/>
          <p:cNvSpPr txBox="1"/>
          <p:nvPr/>
        </p:nvSpPr>
        <p:spPr>
          <a:xfrm>
            <a:off x="4261104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Filter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61104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过滤噪点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504688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596128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3" name="TextBox 52"/>
          <p:cNvSpPr txBox="1"/>
          <p:nvPr/>
        </p:nvSpPr>
        <p:spPr>
          <a:xfrm>
            <a:off x="5650992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Export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50992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导出（单路）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029200" y="2231136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138928" y="224028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OTLP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304288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8" name="Rounded Rectangle 57"/>
          <p:cNvSpPr/>
          <p:nvPr/>
        </p:nvSpPr>
        <p:spPr>
          <a:xfrm>
            <a:off x="548640" y="2542032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9" name="TextBox 58"/>
          <p:cNvSpPr txBox="1"/>
          <p:nvPr/>
        </p:nvSpPr>
        <p:spPr>
          <a:xfrm>
            <a:off x="548640" y="256032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2779776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业务处理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87005" y="2304415"/>
            <a:ext cx="802005" cy="2190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Backend 9090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26464" y="2450592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3" name="Rectangle 62"/>
          <p:cNvSpPr/>
          <p:nvPr/>
        </p:nvSpPr>
        <p:spPr>
          <a:xfrm>
            <a:off x="1426464" y="2450592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4" name="TextBox 63"/>
          <p:cNvSpPr txBox="1"/>
          <p:nvPr/>
        </p:nvSpPr>
        <p:spPr>
          <a:xfrm>
            <a:off x="1481328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SessionService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81328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接入网关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724912" y="2706624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2816352" y="2450592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8" name="Rectangle 67"/>
          <p:cNvSpPr/>
          <p:nvPr/>
        </p:nvSpPr>
        <p:spPr>
          <a:xfrm>
            <a:off x="2816352" y="2450592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9" name="TextBox 68"/>
          <p:cNvSpPr txBox="1"/>
          <p:nvPr/>
        </p:nvSpPr>
        <p:spPr>
          <a:xfrm>
            <a:off x="2871216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Redis + H2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71216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自管存储·热温层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114800" y="2706624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4206240" y="2450592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3" name="Rectangle 72"/>
          <p:cNvSpPr/>
          <p:nvPr/>
        </p:nvSpPr>
        <p:spPr>
          <a:xfrm>
            <a:off x="4206240" y="2450592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4" name="TextBox 73"/>
          <p:cNvSpPr txBox="1"/>
          <p:nvPr/>
        </p:nvSpPr>
        <p:spPr>
          <a:xfrm>
            <a:off x="4261104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InsightsEngine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61104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单层分析引擎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3182112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7" name="Rounded Rectangle 76"/>
          <p:cNvSpPr/>
          <p:nvPr/>
        </p:nvSpPr>
        <p:spPr>
          <a:xfrm>
            <a:off x="548640" y="3489706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8" name="TextBox 77"/>
          <p:cNvSpPr txBox="1"/>
          <p:nvPr/>
        </p:nvSpPr>
        <p:spPr>
          <a:xfrm>
            <a:off x="548640" y="3507994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3727450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遥测存储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40015" y="3218815"/>
            <a:ext cx="848995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Tempo/VM/Loki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26464" y="339826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2" name="Rectangle 81"/>
          <p:cNvSpPr/>
          <p:nvPr/>
        </p:nvSpPr>
        <p:spPr>
          <a:xfrm>
            <a:off x="1426464" y="339826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3" name="TextBox 82"/>
          <p:cNvSpPr txBox="1"/>
          <p:nvPr/>
        </p:nvSpPr>
        <p:spPr>
          <a:xfrm>
            <a:off x="1481328" y="347141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Tempo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81328" y="367258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链路存储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724912" y="3654298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816352" y="339826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7" name="Rectangle 86"/>
          <p:cNvSpPr/>
          <p:nvPr/>
        </p:nvSpPr>
        <p:spPr>
          <a:xfrm>
            <a:off x="2816352" y="339826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8" name="TextBox 87"/>
          <p:cNvSpPr txBox="1"/>
          <p:nvPr/>
        </p:nvSpPr>
        <p:spPr>
          <a:xfrm>
            <a:off x="2871216" y="347141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VictoriaMetrics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71216" y="367258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指标存储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114800" y="3654298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4206240" y="339826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2" name="Rectangle 91"/>
          <p:cNvSpPr/>
          <p:nvPr/>
        </p:nvSpPr>
        <p:spPr>
          <a:xfrm>
            <a:off x="4206240" y="339826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3" name="TextBox 92"/>
          <p:cNvSpPr txBox="1"/>
          <p:nvPr/>
        </p:nvSpPr>
        <p:spPr>
          <a:xfrm>
            <a:off x="4261104" y="347141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Loki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61104" y="367258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日志存储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029200" y="3986784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138928" y="399592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Query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4192905"/>
            <a:ext cx="8229600" cy="671830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8" name="Rounded Rectangle 97"/>
          <p:cNvSpPr/>
          <p:nvPr/>
        </p:nvSpPr>
        <p:spPr>
          <a:xfrm>
            <a:off x="548640" y="4360545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9" name="TextBox 98"/>
          <p:cNvSpPr txBox="1"/>
          <p:nvPr/>
        </p:nvSpPr>
        <p:spPr>
          <a:xfrm>
            <a:off x="548640" y="4378833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4598289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消费触达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07325" y="4257040"/>
            <a:ext cx="781685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消费与触达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426464" y="4269105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3" name="Rectangle 102"/>
          <p:cNvSpPr/>
          <p:nvPr/>
        </p:nvSpPr>
        <p:spPr>
          <a:xfrm>
            <a:off x="1426464" y="4269105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4" name="TextBox 103"/>
          <p:cNvSpPr txBox="1"/>
          <p:nvPr/>
        </p:nvSpPr>
        <p:spPr>
          <a:xfrm>
            <a:off x="1481328" y="4342257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Grafana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81328" y="4543425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运营大屏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2724912" y="4525137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2816352" y="4269105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8" name="Rectangle 107"/>
          <p:cNvSpPr/>
          <p:nvPr/>
        </p:nvSpPr>
        <p:spPr>
          <a:xfrm>
            <a:off x="2816352" y="4269105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9" name="TextBox 108"/>
          <p:cNvSpPr txBox="1"/>
          <p:nvPr/>
        </p:nvSpPr>
        <p:spPr>
          <a:xfrm>
            <a:off x="2871216" y="4342257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AI洞察面板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71216" y="4543425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异常·根因·趋势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4114800" y="4525137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4206240" y="4269105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3" name="Rectangle 112"/>
          <p:cNvSpPr/>
          <p:nvPr/>
        </p:nvSpPr>
        <p:spPr>
          <a:xfrm>
            <a:off x="4206240" y="4269105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4" name="TextBox 113"/>
          <p:cNvSpPr txBox="1"/>
          <p:nvPr/>
        </p:nvSpPr>
        <p:spPr>
          <a:xfrm>
            <a:off x="4261104" y="4342257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告警面板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61104" y="4543425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告警管理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504688" y="4525137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5596128" y="4269105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8" name="Rectangle 117"/>
          <p:cNvSpPr/>
          <p:nvPr/>
        </p:nvSpPr>
        <p:spPr>
          <a:xfrm>
            <a:off x="5596128" y="4269105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9" name="TextBox 118"/>
          <p:cNvSpPr txBox="1"/>
          <p:nvPr/>
        </p:nvSpPr>
        <p:spPr>
          <a:xfrm>
            <a:off x="5650992" y="4342257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钉钉通知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50992" y="4543425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消息触达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" y="501091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可观测逻辑视角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3" name="TextBox 122"/>
          <p:cNvSpPr txBox="1"/>
          <p:nvPr/>
        </p:nvSpPr>
        <p:spPr>
          <a:xfrm>
            <a:off x="530352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L1 系统级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0352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A·基础指标→Grafana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496312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6" name="TextBox 125"/>
          <p:cNvSpPr txBox="1"/>
          <p:nvPr/>
        </p:nvSpPr>
        <p:spPr>
          <a:xfrm>
            <a:off x="2569464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L2 模型级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69464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B·自建主战场(token/时延)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35424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9" name="TextBox 128"/>
          <p:cNvSpPr txBox="1"/>
          <p:nvPr/>
        </p:nvSpPr>
        <p:spPr>
          <a:xfrm>
            <a:off x="4608576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L3 业务级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08576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C·自建主战场(意图/工具)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74536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32" name="TextBox 131"/>
          <p:cNvSpPr txBox="1"/>
          <p:nvPr/>
        </p:nvSpPr>
        <p:spPr>
          <a:xfrm>
            <a:off x="6647688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L4 体验级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647688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E·维度规范(满意度)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"/>
            <a:ext cx="82296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8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DEMO 架构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69350" y="695452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79078" y="70459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OTLP</a:t>
            </a:r>
          </a:p>
        </p:txBody>
      </p:sp>
      <p:grpSp>
        <p:nvGrpSpPr>
          <p:cNvPr id="139" name="组合 138"/>
          <p:cNvGrpSpPr/>
          <p:nvPr/>
        </p:nvGrpSpPr>
        <p:grpSpPr>
          <a:xfrm>
            <a:off x="432435" y="4002405"/>
            <a:ext cx="8229600" cy="859536"/>
            <a:chOff x="720" y="864"/>
            <a:chExt cx="12960" cy="1354"/>
          </a:xfrm>
        </p:grpSpPr>
        <p:sp>
          <p:nvSpPr>
            <p:cNvPr id="3" name="Rectangle 2"/>
            <p:cNvSpPr/>
            <p:nvPr/>
          </p:nvSpPr>
          <p:spPr>
            <a:xfrm>
              <a:off x="720" y="864"/>
              <a:ext cx="12960" cy="1267"/>
            </a:xfrm>
            <a:prstGeom prst="rect">
              <a:avLst/>
            </a:prstGeom>
            <a:solidFill>
              <a:srgbClr val="E6F1FB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864" y="1238"/>
              <a:ext cx="1123" cy="518"/>
            </a:xfrm>
            <a:prstGeom prst="roundRect">
              <a:avLst>
                <a:gd name="adj" fmla="val 18000"/>
              </a:avLst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72" y="1411"/>
              <a:ext cx="1123" cy="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900" b="0" i="0">
                  <a:solidFill>
                    <a:srgbClr val="E6F1FB"/>
                  </a:solidFill>
                  <a:latin typeface="Calibri" panose="020F0502020204030204"/>
                </a:defRPr>
              </a:pPr>
              <a:r>
                <a:rPr lang="en-US"/>
                <a:t>01 </a:t>
              </a:r>
              <a:r>
                <a:t>采集发射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751" y="922"/>
              <a:ext cx="1775" cy="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 defTabSz="457200">
                <a:defRPr sz="900" b="1" i="0">
                  <a:solidFill>
                    <a:srgbClr val="185FA5"/>
                  </a:solidFill>
                  <a:latin typeface="Calibri" panose="020F0502020204030204"/>
                </a:defRPr>
              </a:pPr>
              <a:r>
                <a:t>Core 8080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46" y="109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33" y="1210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BankController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33" y="152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HTTP拦截+trace注入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4291" y="1498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480" y="1498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6624" y="109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10" y="1210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ObsChatModel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10" y="152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span+意图+置信度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8669" y="1498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8813" y="109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99" y="1210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OTel Agent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899" y="152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+SessionBridge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9792" y="2131"/>
              <a:ext cx="0" cy="86"/>
            </a:xfrm>
            <a:prstGeom prst="line">
              <a:avLst/>
            </a:prstGeom>
            <a:ln w="19050">
              <a:solidFill>
                <a:srgbClr val="185FA5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6309360" y="20848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HTTP</a:t>
            </a:r>
          </a:p>
        </p:txBody>
      </p:sp>
      <p:grpSp>
        <p:nvGrpSpPr>
          <p:cNvPr id="138" name="组合 137"/>
          <p:cNvGrpSpPr/>
          <p:nvPr/>
        </p:nvGrpSpPr>
        <p:grpSpPr>
          <a:xfrm>
            <a:off x="432435" y="3074924"/>
            <a:ext cx="8229600" cy="804672"/>
            <a:chOff x="720" y="2246"/>
            <a:chExt cx="12960" cy="1267"/>
          </a:xfrm>
        </p:grpSpPr>
        <p:sp>
          <p:nvSpPr>
            <p:cNvPr id="31" name="Rectangle 30"/>
            <p:cNvSpPr/>
            <p:nvPr/>
          </p:nvSpPr>
          <p:spPr>
            <a:xfrm>
              <a:off x="720" y="2246"/>
              <a:ext cx="12960" cy="1267"/>
            </a:xfrm>
            <a:prstGeom prst="rect">
              <a:avLst/>
            </a:prstGeom>
            <a:solidFill>
              <a:srgbClr val="E6F1FB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64" y="2621"/>
              <a:ext cx="1123" cy="518"/>
            </a:xfrm>
            <a:prstGeom prst="roundRect">
              <a:avLst>
                <a:gd name="adj" fmla="val 18000"/>
              </a:avLst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64" y="2786"/>
              <a:ext cx="1123" cy="20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900" b="0" i="0">
                  <a:solidFill>
                    <a:srgbClr val="E6F1FB"/>
                  </a:solidFill>
                  <a:latin typeface="Calibri" panose="020F0502020204030204"/>
                </a:defRPr>
              </a:pPr>
              <a:r>
                <a:t>采集管道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827" y="2304"/>
              <a:ext cx="1699" cy="27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r" defTabSz="457200">
                <a:defRPr sz="900" b="1" i="0">
                  <a:solidFill>
                    <a:srgbClr val="185FA5"/>
                  </a:solidFill>
                  <a:latin typeface="Calibri" panose="020F0502020204030204"/>
                </a:defRPr>
              </a:pPr>
              <a:r>
                <a:t>OTel Collector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246" y="2477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333" y="2592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Receiver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33" y="2909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OTLP接收+解码</a:t>
              </a:r>
            </a:p>
          </p:txBody>
        </p:sp>
        <p:cxnSp>
          <p:nvCxnSpPr>
            <p:cNvPr id="40" name="Connector 39"/>
            <p:cNvCxnSpPr/>
            <p:nvPr/>
          </p:nvCxnSpPr>
          <p:spPr>
            <a:xfrm>
              <a:off x="4291" y="2880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4435" y="2477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522" y="2592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Batch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22" y="2909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攒批去重</a:t>
              </a:r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6480" y="2880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6624" y="2477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710" y="2592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Filter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10" y="2909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过滤噪点</a:t>
              </a:r>
            </a:p>
          </p:txBody>
        </p:sp>
        <p:cxnSp>
          <p:nvCxnSpPr>
            <p:cNvPr id="50" name="Connector 49"/>
            <p:cNvCxnSpPr/>
            <p:nvPr/>
          </p:nvCxnSpPr>
          <p:spPr>
            <a:xfrm>
              <a:off x="8669" y="2880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8813" y="2477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899" y="2592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Export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899" y="2909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导出（单路）</a:t>
              </a:r>
            </a:p>
          </p:txBody>
        </p:sp>
      </p:grpSp>
      <p:cxnSp>
        <p:nvCxnSpPr>
          <p:cNvPr id="55" name="Connector 54"/>
          <p:cNvCxnSpPr/>
          <p:nvPr/>
        </p:nvCxnSpPr>
        <p:spPr>
          <a:xfrm>
            <a:off x="5029200" y="2231136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138928" y="224028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OTLP</a:t>
            </a:r>
          </a:p>
        </p:txBody>
      </p:sp>
      <p:grpSp>
        <p:nvGrpSpPr>
          <p:cNvPr id="137" name="组合 136"/>
          <p:cNvGrpSpPr/>
          <p:nvPr/>
        </p:nvGrpSpPr>
        <p:grpSpPr>
          <a:xfrm>
            <a:off x="432435" y="2102993"/>
            <a:ext cx="8229600" cy="804672"/>
            <a:chOff x="720" y="3629"/>
            <a:chExt cx="12960" cy="1267"/>
          </a:xfrm>
        </p:grpSpPr>
        <p:sp>
          <p:nvSpPr>
            <p:cNvPr id="57" name="Rectangle 56"/>
            <p:cNvSpPr/>
            <p:nvPr/>
          </p:nvSpPr>
          <p:spPr>
            <a:xfrm>
              <a:off x="720" y="3629"/>
              <a:ext cx="12960" cy="1267"/>
            </a:xfrm>
            <a:prstGeom prst="rect">
              <a:avLst/>
            </a:prstGeom>
            <a:solidFill>
              <a:srgbClr val="E6F1FB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864" y="4003"/>
              <a:ext cx="1123" cy="518"/>
            </a:xfrm>
            <a:prstGeom prst="roundRect">
              <a:avLst>
                <a:gd name="adj" fmla="val 18000"/>
              </a:avLst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64" y="4147"/>
              <a:ext cx="1123" cy="20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900" b="0" i="0">
                  <a:solidFill>
                    <a:srgbClr val="E6F1FB"/>
                  </a:solidFill>
                  <a:latin typeface="Calibri" panose="020F0502020204030204"/>
                </a:defRPr>
              </a:pPr>
              <a:r>
                <a:t>业务处理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2263" y="3629"/>
              <a:ext cx="1263" cy="345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r" defTabSz="457200">
                <a:defRPr sz="900" b="1" i="0">
                  <a:solidFill>
                    <a:srgbClr val="185FA5"/>
                  </a:solidFill>
                  <a:latin typeface="Calibri" panose="020F0502020204030204"/>
                </a:defRPr>
              </a:pPr>
              <a:r>
                <a:t>Backend 9090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246" y="3859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246" y="3859"/>
              <a:ext cx="2016" cy="58"/>
            </a:xfrm>
            <a:prstGeom prst="rect">
              <a:avLst/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333" y="3974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SessionService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333" y="4291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接入网关</a:t>
              </a:r>
            </a:p>
          </p:txBody>
        </p:sp>
        <p:cxnSp>
          <p:nvCxnSpPr>
            <p:cNvPr id="66" name="Connector 65"/>
            <p:cNvCxnSpPr/>
            <p:nvPr/>
          </p:nvCxnSpPr>
          <p:spPr>
            <a:xfrm>
              <a:off x="4291" y="4262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/>
            <p:cNvSpPr/>
            <p:nvPr/>
          </p:nvSpPr>
          <p:spPr>
            <a:xfrm>
              <a:off x="4435" y="3859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435" y="3859"/>
              <a:ext cx="2016" cy="58"/>
            </a:xfrm>
            <a:prstGeom prst="rect">
              <a:avLst/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522" y="3974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Redis + H2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522" y="4291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自管存储·热温层</a:t>
              </a:r>
            </a:p>
          </p:txBody>
        </p:sp>
        <p:cxnSp>
          <p:nvCxnSpPr>
            <p:cNvPr id="71" name="Connector 70"/>
            <p:cNvCxnSpPr/>
            <p:nvPr/>
          </p:nvCxnSpPr>
          <p:spPr>
            <a:xfrm>
              <a:off x="6480" y="4262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6624" y="3859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624" y="3859"/>
              <a:ext cx="2016" cy="58"/>
            </a:xfrm>
            <a:prstGeom prst="rect">
              <a:avLst/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710" y="3974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InsightsEngine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710" y="4291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单层分析引擎</a:t>
              </a: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432435" y="1132967"/>
            <a:ext cx="8229600" cy="804672"/>
            <a:chOff x="720" y="5011"/>
            <a:chExt cx="12960" cy="1267"/>
          </a:xfrm>
        </p:grpSpPr>
        <p:sp>
          <p:nvSpPr>
            <p:cNvPr id="76" name="Rectangle 75"/>
            <p:cNvSpPr/>
            <p:nvPr/>
          </p:nvSpPr>
          <p:spPr>
            <a:xfrm>
              <a:off x="720" y="5011"/>
              <a:ext cx="12960" cy="1267"/>
            </a:xfrm>
            <a:prstGeom prst="rect">
              <a:avLst/>
            </a:prstGeom>
            <a:solidFill>
              <a:srgbClr val="E6F1FB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864" y="5496"/>
              <a:ext cx="1123" cy="518"/>
            </a:xfrm>
            <a:prstGeom prst="roundRect">
              <a:avLst>
                <a:gd name="adj" fmla="val 18000"/>
              </a:avLst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64" y="5650"/>
              <a:ext cx="1123" cy="20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900" b="0" i="0">
                  <a:solidFill>
                    <a:srgbClr val="E6F1FB"/>
                  </a:solidFill>
                  <a:latin typeface="Calibri" panose="020F0502020204030204"/>
                </a:defRPr>
              </a:pPr>
              <a:r>
                <a:t>遥测存储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2189" y="5069"/>
              <a:ext cx="1337" cy="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 defTabSz="457200">
                <a:defRPr sz="900" b="1" i="0">
                  <a:solidFill>
                    <a:srgbClr val="185FA5"/>
                  </a:solidFill>
                  <a:latin typeface="Calibri" panose="020F0502020204030204"/>
                </a:defRPr>
              </a:pPr>
              <a:r>
                <a:t>Tempo/VM/Loki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2246" y="5352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333" y="5467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Tempo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33" y="5784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链路存储</a:t>
              </a:r>
            </a:p>
          </p:txBody>
        </p:sp>
        <p:cxnSp>
          <p:nvCxnSpPr>
            <p:cNvPr id="85" name="Connector 84"/>
            <p:cNvCxnSpPr/>
            <p:nvPr/>
          </p:nvCxnSpPr>
          <p:spPr>
            <a:xfrm>
              <a:off x="4291" y="5755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4435" y="5352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522" y="5467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VictoriaMetrics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522" y="5784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指标存储</a:t>
              </a:r>
            </a:p>
          </p:txBody>
        </p:sp>
        <p:cxnSp>
          <p:nvCxnSpPr>
            <p:cNvPr id="90" name="Connector 89"/>
            <p:cNvCxnSpPr/>
            <p:nvPr/>
          </p:nvCxnSpPr>
          <p:spPr>
            <a:xfrm>
              <a:off x="6480" y="5755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tangle 90"/>
            <p:cNvSpPr/>
            <p:nvPr/>
          </p:nvSpPr>
          <p:spPr>
            <a:xfrm>
              <a:off x="6624" y="5352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710" y="5467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Loki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710" y="5784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日志存储</a:t>
              </a:r>
            </a:p>
          </p:txBody>
        </p:sp>
      </p:grpSp>
      <p:cxnSp>
        <p:nvCxnSpPr>
          <p:cNvPr id="95" name="Connector 94"/>
          <p:cNvCxnSpPr/>
          <p:nvPr/>
        </p:nvCxnSpPr>
        <p:spPr>
          <a:xfrm>
            <a:off x="5029200" y="3986784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138928" y="399592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Query</a:t>
            </a:r>
          </a:p>
        </p:txBody>
      </p:sp>
      <p:grpSp>
        <p:nvGrpSpPr>
          <p:cNvPr id="134" name="组合 133"/>
          <p:cNvGrpSpPr/>
          <p:nvPr/>
        </p:nvGrpSpPr>
        <p:grpSpPr>
          <a:xfrm>
            <a:off x="432435" y="318135"/>
            <a:ext cx="8229600" cy="671830"/>
            <a:chOff x="1235" y="94"/>
            <a:chExt cx="12960" cy="1058"/>
          </a:xfrm>
        </p:grpSpPr>
        <p:sp>
          <p:nvSpPr>
            <p:cNvPr id="97" name="Rectangle 96"/>
            <p:cNvSpPr/>
            <p:nvPr/>
          </p:nvSpPr>
          <p:spPr>
            <a:xfrm>
              <a:off x="1235" y="94"/>
              <a:ext cx="12960" cy="1058"/>
            </a:xfrm>
            <a:prstGeom prst="rect">
              <a:avLst/>
            </a:prstGeom>
            <a:solidFill>
              <a:srgbClr val="E6F1FB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1379" y="358"/>
              <a:ext cx="1123" cy="518"/>
            </a:xfrm>
            <a:prstGeom prst="roundRect">
              <a:avLst>
                <a:gd name="adj" fmla="val 18000"/>
              </a:avLst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379" y="512"/>
              <a:ext cx="1123" cy="20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900" b="0" i="0">
                  <a:solidFill>
                    <a:srgbClr val="E6F1FB"/>
                  </a:solidFill>
                  <a:latin typeface="Calibri" panose="020F0502020204030204"/>
                </a:defRPr>
              </a:pPr>
              <a:r>
                <a:t>消费触达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810" y="195"/>
              <a:ext cx="1231" cy="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 defTabSz="457200">
                <a:defRPr sz="900" b="1" i="0">
                  <a:solidFill>
                    <a:srgbClr val="185FA5"/>
                  </a:solidFill>
                  <a:latin typeface="Calibri" panose="020F0502020204030204"/>
                </a:defRPr>
              </a:pPr>
              <a:r>
                <a:t>消费与触达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761" y="21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848" y="329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Grafana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848" y="64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运营大屏</a:t>
              </a:r>
            </a:p>
          </p:txBody>
        </p:sp>
        <p:cxnSp>
          <p:nvCxnSpPr>
            <p:cNvPr id="106" name="Connector 105"/>
            <p:cNvCxnSpPr/>
            <p:nvPr/>
          </p:nvCxnSpPr>
          <p:spPr>
            <a:xfrm>
              <a:off x="4806" y="617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ectangle 106"/>
            <p:cNvSpPr/>
            <p:nvPr/>
          </p:nvSpPr>
          <p:spPr>
            <a:xfrm>
              <a:off x="4950" y="21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5037" y="329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AI洞察面板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037" y="64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异常·根因·趋势</a:t>
              </a:r>
            </a:p>
          </p:txBody>
        </p:sp>
        <p:cxnSp>
          <p:nvCxnSpPr>
            <p:cNvPr id="111" name="Connector 110"/>
            <p:cNvCxnSpPr/>
            <p:nvPr/>
          </p:nvCxnSpPr>
          <p:spPr>
            <a:xfrm>
              <a:off x="6995" y="617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/>
            <p:cNvSpPr/>
            <p:nvPr/>
          </p:nvSpPr>
          <p:spPr>
            <a:xfrm>
              <a:off x="7139" y="21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225" y="329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告警面板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225" y="64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告警管理</a:t>
              </a:r>
            </a:p>
          </p:txBody>
        </p:sp>
        <p:cxnSp>
          <p:nvCxnSpPr>
            <p:cNvPr id="116" name="Connector 115"/>
            <p:cNvCxnSpPr/>
            <p:nvPr/>
          </p:nvCxnSpPr>
          <p:spPr>
            <a:xfrm>
              <a:off x="9184" y="617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 116"/>
            <p:cNvSpPr/>
            <p:nvPr/>
          </p:nvSpPr>
          <p:spPr>
            <a:xfrm>
              <a:off x="9328" y="21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414" y="329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t>钉钉通知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9414" y="64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t>消息触达</a:t>
              </a:r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457200" y="501091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可观测逻辑视角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3" name="TextBox 122"/>
          <p:cNvSpPr txBox="1"/>
          <p:nvPr/>
        </p:nvSpPr>
        <p:spPr>
          <a:xfrm>
            <a:off x="530352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L1 系统级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0352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A·基础指标→Grafana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496312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6" name="TextBox 125"/>
          <p:cNvSpPr txBox="1"/>
          <p:nvPr/>
        </p:nvSpPr>
        <p:spPr>
          <a:xfrm>
            <a:off x="2569464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L2 模型级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69464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B·自建主战场(token/时延)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35424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9" name="TextBox 128"/>
          <p:cNvSpPr txBox="1"/>
          <p:nvPr/>
        </p:nvSpPr>
        <p:spPr>
          <a:xfrm>
            <a:off x="4608576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L3 业务级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08576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C·自建主战场(意图/工具)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74536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32" name="TextBox 131"/>
          <p:cNvSpPr txBox="1"/>
          <p:nvPr/>
        </p:nvSpPr>
        <p:spPr>
          <a:xfrm>
            <a:off x="6647688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L4 体验级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647688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E·维度规范(满意度)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整体系统架构：从埋点到前台呈现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878" y="1165860"/>
            <a:ext cx="1303020" cy="58293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825" b="1">
                <a:solidFill>
                  <a:srgbClr val="FFFFFF"/>
                </a:solidFill>
                <a:latin typeface="微软雅黑" panose="020B0503020204020204" charset="-122"/>
              </a:rPr>
              <a:t>业务系统
App / 小程序 / H5</a:t>
            </a:r>
            <a:endParaRPr sz="825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91928" y="1165860"/>
            <a:ext cx="1303020" cy="58293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825" b="1">
                <a:solidFill>
                  <a:srgbClr val="FFFFFF"/>
                </a:solidFill>
                <a:latin typeface="微软雅黑" panose="020B0503020204020204" charset="-122"/>
              </a:rPr>
              <a:t>数据埋点
（OpenTelemetry）</a:t>
            </a:r>
            <a:endParaRPr sz="825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34978" y="1165860"/>
            <a:ext cx="1303020" cy="582930"/>
          </a:xfrm>
          <a:prstGeom prst="roundRect">
            <a:avLst/>
          </a:prstGeom>
          <a:solidFill>
            <a:srgbClr val="F59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825" b="1">
                <a:solidFill>
                  <a:srgbClr val="FFFFFF"/>
                </a:solidFill>
                <a:latin typeface="微软雅黑" panose="020B0503020204020204" charset="-122"/>
              </a:rPr>
              <a:t>OTel SDK
自动/手动埋点</a:t>
            </a:r>
            <a:endParaRPr sz="825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851898" y="1457325"/>
            <a:ext cx="24003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394948" y="1457325"/>
            <a:ext cx="24003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20478" y="2125980"/>
            <a:ext cx="1303020" cy="58293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825" b="1">
                <a:solidFill>
                  <a:srgbClr val="FFFFFF"/>
                </a:solidFill>
                <a:latin typeface="微软雅黑" panose="020B0503020204020204" charset="-122"/>
              </a:rPr>
              <a:t>OTel Collector
采集/处理/路由</a:t>
            </a:r>
            <a:endParaRPr sz="825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34978" y="2125980"/>
            <a:ext cx="1303020" cy="58293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825" b="1">
                <a:solidFill>
                  <a:srgbClr val="FFFFFF"/>
                </a:solidFill>
                <a:latin typeface="微软雅黑" panose="020B0503020204020204" charset="-122"/>
              </a:rPr>
              <a:t>可观测后端
存储/聚合/查询</a:t>
            </a:r>
            <a:endParaRPr sz="825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223498" y="2417445"/>
            <a:ext cx="41148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34978" y="2846070"/>
            <a:ext cx="1303020" cy="3219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/>
            <a:r>
              <a:rPr sz="750" b="0">
                <a:solidFill>
                  <a:srgbClr val="4B5563"/>
                </a:solidFill>
                <a:latin typeface="微软雅黑" panose="020B0503020204020204" charset="-122"/>
              </a:rPr>
              <a:t>H2 / MySQL / TiDB / ClickHouse</a:t>
            </a:r>
            <a:endParaRPr sz="750" b="0">
              <a:solidFill>
                <a:srgbClr val="4B5563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71988" y="1748790"/>
            <a:ext cx="1714500" cy="37719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878" y="4046220"/>
            <a:ext cx="1028700" cy="514350"/>
          </a:xfrm>
          <a:prstGeom prst="roundRect">
            <a:avLst/>
          </a:prstGeom>
          <a:solidFill>
            <a:srgbClr val="F59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750" b="1">
                <a:solidFill>
                  <a:srgbClr val="FFFFFF"/>
                </a:solidFill>
                <a:latin typeface="微软雅黑" panose="020B0503020204020204" charset="-122"/>
              </a:rPr>
              <a:t>指标
Metrics</a:t>
            </a:r>
            <a:endParaRPr sz="7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80448" y="4046220"/>
            <a:ext cx="1028700" cy="51435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750" b="1">
                <a:solidFill>
                  <a:srgbClr val="FFFFFF"/>
                </a:solidFill>
                <a:latin typeface="微软雅黑" panose="020B0503020204020204" charset="-122"/>
              </a:rPr>
              <a:t>会话
Session</a:t>
            </a:r>
            <a:endParaRPr sz="7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812018" y="4046220"/>
            <a:ext cx="1028700" cy="51435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750" b="1">
                <a:solidFill>
                  <a:srgbClr val="FFFFFF"/>
                </a:solidFill>
                <a:latin typeface="微软雅黑" panose="020B0503020204020204" charset="-122"/>
              </a:rPr>
              <a:t>Trace
链路</a:t>
            </a:r>
            <a:endParaRPr sz="7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43588" y="4046220"/>
            <a:ext cx="1028700" cy="51435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750" b="1">
                <a:solidFill>
                  <a:srgbClr val="FFFFFF"/>
                </a:solidFill>
                <a:latin typeface="微软雅黑" panose="020B0503020204020204" charset="-122"/>
              </a:rPr>
              <a:t>日志
Logs</a:t>
            </a:r>
            <a:endParaRPr sz="7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75158" y="4046220"/>
            <a:ext cx="1028700" cy="51435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750" b="1">
                <a:solidFill>
                  <a:srgbClr val="FFFFFF"/>
                </a:solidFill>
                <a:latin typeface="微软雅黑" panose="020B0503020204020204" charset="-122"/>
              </a:rPr>
              <a:t>AI 洞察
Insight</a:t>
            </a:r>
            <a:endParaRPr sz="7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286488" y="2708910"/>
            <a:ext cx="0" cy="120015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377803" y="3909060"/>
            <a:ext cx="908685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3228" y="3909060"/>
            <a:ext cx="0" cy="1371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94798" y="3909060"/>
            <a:ext cx="0" cy="1371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326368" y="3909060"/>
            <a:ext cx="0" cy="1371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57938" y="3909060"/>
            <a:ext cx="0" cy="1371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89508" y="3909060"/>
            <a:ext cx="0" cy="1371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718" y="4663440"/>
            <a:ext cx="8229600" cy="2298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/>
            <a:r>
              <a:rPr sz="900" b="0">
                <a:solidFill>
                  <a:srgbClr val="4B5563"/>
                </a:solidFill>
                <a:latin typeface="微软雅黑" panose="020B0503020204020204" charset="-122"/>
              </a:rPr>
              <a:t>统一数据采集层 + 可观测中台 + 多维度前台：实现对 AI 智能体全链路、可下钻、可对比的观测。</a:t>
            </a:r>
            <a:endParaRPr sz="900" b="0">
              <a:solidFill>
                <a:srgbClr val="4B556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生产架构（V6 目标态）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琥珀色 = 相对 DEMO 的升级点</a:t>
            </a:r>
            <a:endParaRPr lang="en-US" sz="1000" dirty="0"/>
          </a:p>
        </p:txBody>
      </p:sp>
      <p:pic>
        <p:nvPicPr>
          <p:cNvPr id="4" name="Image 0" descr="E:/WorkBuddy/2026-07-16-22-17-49/outputs/ai-observability-arch-PRODUCTION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82880" y="640080"/>
            <a:ext cx="877824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8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生产架构（V6 目标态 · 集群 · 合规 · 双写分治）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琥珀色 = 相对 DEMO 的升级点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" name="Rounded Rectangle 4"/>
          <p:cNvSpPr/>
          <p:nvPr/>
        </p:nvSpPr>
        <p:spPr>
          <a:xfrm>
            <a:off x="548640" y="786384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采集发射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5852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Core 8080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6464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" name="Rectangle 9"/>
          <p:cNvSpPr/>
          <p:nvPr/>
        </p:nvSpPr>
        <p:spPr>
          <a:xfrm>
            <a:off x="1426464" y="694944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" name="TextBox 10"/>
          <p:cNvSpPr txBox="1"/>
          <p:nvPr/>
        </p:nvSpPr>
        <p:spPr>
          <a:xfrm>
            <a:off x="1481328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BankController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HTTP拦截+trace注入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24912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16352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5" name="Rectangle 14"/>
          <p:cNvSpPr/>
          <p:nvPr/>
        </p:nvSpPr>
        <p:spPr>
          <a:xfrm>
            <a:off x="2816352" y="694944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6" name="TextBox 15"/>
          <p:cNvSpPr txBox="1"/>
          <p:nvPr/>
        </p:nvSpPr>
        <p:spPr>
          <a:xfrm>
            <a:off x="2871216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L0~L2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三层主从编排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206240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0" name="Rectangle 19"/>
          <p:cNvSpPr/>
          <p:nvPr/>
        </p:nvSpPr>
        <p:spPr>
          <a:xfrm>
            <a:off x="4206240" y="694944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1" name="TextBox 20"/>
          <p:cNvSpPr txBox="1"/>
          <p:nvPr/>
        </p:nvSpPr>
        <p:spPr>
          <a:xfrm>
            <a:off x="4261104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ObsChatModel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span+意图+置信度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04688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596128" y="694944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5" name="Rectangle 24"/>
          <p:cNvSpPr/>
          <p:nvPr/>
        </p:nvSpPr>
        <p:spPr>
          <a:xfrm>
            <a:off x="5596128" y="694944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6" name="TextBox 25"/>
          <p:cNvSpPr txBox="1"/>
          <p:nvPr/>
        </p:nvSpPr>
        <p:spPr>
          <a:xfrm>
            <a:off x="5650992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OTel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+SessBridge·脱敏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0" y="1353312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38928" y="136245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OTLP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17920" y="1353312"/>
            <a:ext cx="0" cy="54864"/>
          </a:xfrm>
          <a:prstGeom prst="line">
            <a:avLst/>
          </a:prstGeom>
          <a:ln w="19050">
            <a:solidFill>
              <a:srgbClr val="185FA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9360" y="20848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HTTP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426464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3" name="Rounded Rectangle 32"/>
          <p:cNvSpPr/>
          <p:nvPr/>
        </p:nvSpPr>
        <p:spPr>
          <a:xfrm>
            <a:off x="548640" y="1664208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4" name="TextBox 33"/>
          <p:cNvSpPr txBox="1"/>
          <p:nvPr/>
        </p:nvSpPr>
        <p:spPr>
          <a:xfrm>
            <a:off x="548640" y="1682496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90195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采集管道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14630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OTel Collector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26464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8" name="Rectangle 37"/>
          <p:cNvSpPr/>
          <p:nvPr/>
        </p:nvSpPr>
        <p:spPr>
          <a:xfrm>
            <a:off x="1426464" y="1572768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9" name="TextBox 38"/>
          <p:cNvSpPr txBox="1"/>
          <p:nvPr/>
        </p:nvSpPr>
        <p:spPr>
          <a:xfrm>
            <a:off x="1481328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Receiver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OTLP接收+解码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24912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16352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3" name="Rectangle 42"/>
          <p:cNvSpPr/>
          <p:nvPr/>
        </p:nvSpPr>
        <p:spPr>
          <a:xfrm>
            <a:off x="2816352" y="1572768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4" name="TextBox 43"/>
          <p:cNvSpPr txBox="1"/>
          <p:nvPr/>
        </p:nvSpPr>
        <p:spPr>
          <a:xfrm>
            <a:off x="2871216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Batch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71216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攒批去重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14800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206240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8" name="Rectangle 47"/>
          <p:cNvSpPr/>
          <p:nvPr/>
        </p:nvSpPr>
        <p:spPr>
          <a:xfrm>
            <a:off x="4206240" y="1572768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9" name="TextBox 48"/>
          <p:cNvSpPr txBox="1"/>
          <p:nvPr/>
        </p:nvSpPr>
        <p:spPr>
          <a:xfrm>
            <a:off x="4261104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Filter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61104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过滤噪点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504688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596128" y="1572768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3" name="Rectangle 52"/>
          <p:cNvSpPr/>
          <p:nvPr/>
        </p:nvSpPr>
        <p:spPr>
          <a:xfrm>
            <a:off x="5596128" y="1572768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4" name="TextBox 53"/>
          <p:cNvSpPr txBox="1"/>
          <p:nvPr/>
        </p:nvSpPr>
        <p:spPr>
          <a:xfrm>
            <a:off x="5650992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tail_sampling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50992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分级采样·双写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0" y="2231136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138928" y="224028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OTLP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217920" y="2231136"/>
            <a:ext cx="0" cy="54864"/>
          </a:xfrm>
          <a:prstGeom prst="line">
            <a:avLst/>
          </a:prstGeom>
          <a:ln w="19050">
            <a:solidFill>
              <a:srgbClr val="BA751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309360" y="296265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BA7517"/>
                </a:solidFill>
                <a:latin typeface="Calibri" panose="020F0502020204030204"/>
              </a:defRPr>
            </a:pPr>
            <a:r>
              <a:t>双写 OTLP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2304288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1" name="Rounded Rectangle 60"/>
          <p:cNvSpPr/>
          <p:nvPr/>
        </p:nvSpPr>
        <p:spPr>
          <a:xfrm>
            <a:off x="548640" y="2542032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2" name="TextBox 61"/>
          <p:cNvSpPr txBox="1"/>
          <p:nvPr/>
        </p:nvSpPr>
        <p:spPr>
          <a:xfrm>
            <a:off x="548640" y="256032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2779776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业务处理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2340864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Backend 9090集群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26464" y="2450592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6" name="Rectangle 65"/>
          <p:cNvSpPr/>
          <p:nvPr/>
        </p:nvSpPr>
        <p:spPr>
          <a:xfrm>
            <a:off x="1426464" y="2450592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7" name="TextBox 66"/>
          <p:cNvSpPr txBox="1"/>
          <p:nvPr/>
        </p:nvSpPr>
        <p:spPr>
          <a:xfrm>
            <a:off x="1481328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SessionService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81328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接入网关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724912" y="2706624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2816352" y="2450592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1" name="Rectangle 70"/>
          <p:cNvSpPr/>
          <p:nvPr/>
        </p:nvSpPr>
        <p:spPr>
          <a:xfrm>
            <a:off x="2816352" y="2450592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2" name="TextBox 71"/>
          <p:cNvSpPr txBox="1"/>
          <p:nvPr/>
        </p:nvSpPr>
        <p:spPr>
          <a:xfrm>
            <a:off x="2871216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Redis+PG集群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71216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自管存储·热温层HA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114800" y="2706624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4206240" y="2450592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6" name="Rectangle 75"/>
          <p:cNvSpPr/>
          <p:nvPr/>
        </p:nvSpPr>
        <p:spPr>
          <a:xfrm>
            <a:off x="4206240" y="2450592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7" name="TextBox 76"/>
          <p:cNvSpPr txBox="1"/>
          <p:nvPr/>
        </p:nvSpPr>
        <p:spPr>
          <a:xfrm>
            <a:off x="4261104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InsightsEngine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61104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双层·告警抑制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3182112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0" name="Rounded Rectangle 79"/>
          <p:cNvSpPr/>
          <p:nvPr/>
        </p:nvSpPr>
        <p:spPr>
          <a:xfrm>
            <a:off x="548640" y="3419856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1" name="TextBox 80"/>
          <p:cNvSpPr txBox="1"/>
          <p:nvPr/>
        </p:nvSpPr>
        <p:spPr>
          <a:xfrm>
            <a:off x="548640" y="3438144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3657600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遥测存储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321868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Tempo/VM/Loki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26464" y="332841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5" name="Rectangle 84"/>
          <p:cNvSpPr/>
          <p:nvPr/>
        </p:nvSpPr>
        <p:spPr>
          <a:xfrm>
            <a:off x="1426464" y="332841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6" name="TextBox 85"/>
          <p:cNvSpPr txBox="1"/>
          <p:nvPr/>
        </p:nvSpPr>
        <p:spPr>
          <a:xfrm>
            <a:off x="1481328" y="34015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Tempo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81328" y="360273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链路·集群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724912" y="3584448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2816352" y="332841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0" name="Rectangle 89"/>
          <p:cNvSpPr/>
          <p:nvPr/>
        </p:nvSpPr>
        <p:spPr>
          <a:xfrm>
            <a:off x="2816352" y="332841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1" name="TextBox 90"/>
          <p:cNvSpPr txBox="1"/>
          <p:nvPr/>
        </p:nvSpPr>
        <p:spPr>
          <a:xfrm>
            <a:off x="2871216" y="34015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VictoriaMetrics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71216" y="360273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指标·集群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114800" y="3584448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4206240" y="332841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5" name="Rectangle 94"/>
          <p:cNvSpPr/>
          <p:nvPr/>
        </p:nvSpPr>
        <p:spPr>
          <a:xfrm>
            <a:off x="4206240" y="332841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6" name="TextBox 95"/>
          <p:cNvSpPr txBox="1"/>
          <p:nvPr/>
        </p:nvSpPr>
        <p:spPr>
          <a:xfrm>
            <a:off x="4261104" y="34015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Loki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61104" y="360273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日志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029200" y="3986784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138928" y="399592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Query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4059936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1" name="Rounded Rectangle 100"/>
          <p:cNvSpPr/>
          <p:nvPr/>
        </p:nvSpPr>
        <p:spPr>
          <a:xfrm>
            <a:off x="548640" y="4297680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2" name="TextBox 101"/>
          <p:cNvSpPr txBox="1"/>
          <p:nvPr/>
        </p:nvSpPr>
        <p:spPr>
          <a:xfrm>
            <a:off x="548640" y="431596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453542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消费触达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366760" y="40965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消费与触达·HA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426464" y="4206240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6" name="Rectangle 105"/>
          <p:cNvSpPr/>
          <p:nvPr/>
        </p:nvSpPr>
        <p:spPr>
          <a:xfrm>
            <a:off x="1426464" y="4206240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7" name="TextBox 106"/>
          <p:cNvSpPr txBox="1"/>
          <p:nvPr/>
        </p:nvSpPr>
        <p:spPr>
          <a:xfrm>
            <a:off x="1481328" y="4279392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Grafana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81328" y="448056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运营大屏·HA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2724912" y="4462272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2816352" y="4206240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1" name="Rectangle 110"/>
          <p:cNvSpPr/>
          <p:nvPr/>
        </p:nvSpPr>
        <p:spPr>
          <a:xfrm>
            <a:off x="2816352" y="4206240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2" name="TextBox 111"/>
          <p:cNvSpPr txBox="1"/>
          <p:nvPr/>
        </p:nvSpPr>
        <p:spPr>
          <a:xfrm>
            <a:off x="2871216" y="4279392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AI洞察面板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871216" y="448056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异常·根因·趋势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4114800" y="4462272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4206240" y="4206240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6" name="Rectangle 115"/>
          <p:cNvSpPr/>
          <p:nvPr/>
        </p:nvSpPr>
        <p:spPr>
          <a:xfrm>
            <a:off x="4206240" y="4206240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7" name="TextBox 116"/>
          <p:cNvSpPr txBox="1"/>
          <p:nvPr/>
        </p:nvSpPr>
        <p:spPr>
          <a:xfrm>
            <a:off x="4261104" y="4279392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告警面板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261104" y="448056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告警管理·HA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5504688" y="4462272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5596128" y="4206240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1" name="Rectangle 120"/>
          <p:cNvSpPr/>
          <p:nvPr/>
        </p:nvSpPr>
        <p:spPr>
          <a:xfrm>
            <a:off x="5596128" y="4206240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2" name="TextBox 121"/>
          <p:cNvSpPr txBox="1"/>
          <p:nvPr/>
        </p:nvSpPr>
        <p:spPr>
          <a:xfrm>
            <a:off x="5650992" y="4279392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钉钉·飞书·邮件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650992" y="448056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多通道·HA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" y="501091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可观测逻辑视角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6" name="TextBox 125"/>
          <p:cNvSpPr txBox="1"/>
          <p:nvPr/>
        </p:nvSpPr>
        <p:spPr>
          <a:xfrm>
            <a:off x="530352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L1 系统级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0352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A·基础指标→Grafana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496312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9" name="TextBox 128"/>
          <p:cNvSpPr txBox="1"/>
          <p:nvPr/>
        </p:nvSpPr>
        <p:spPr>
          <a:xfrm>
            <a:off x="2569464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L2 模型级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569464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B·自建主战场(token/时延)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35424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32" name="TextBox 131"/>
          <p:cNvSpPr txBox="1"/>
          <p:nvPr/>
        </p:nvSpPr>
        <p:spPr>
          <a:xfrm>
            <a:off x="4608576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L3 业务级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608576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C·自建主战场(意图/工具)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574536" y="5285232"/>
            <a:ext cx="1920240" cy="621792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35" name="TextBox 134"/>
          <p:cNvSpPr txBox="1"/>
          <p:nvPr/>
        </p:nvSpPr>
        <p:spPr>
          <a:xfrm>
            <a:off x="6647688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BA7517"/>
                </a:solidFill>
                <a:latin typeface="Calibri" panose="020F0502020204030204"/>
              </a:defRPr>
            </a:pPr>
            <a:r>
              <a:t>L4 体验级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47688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BA7517"/>
                </a:solidFill>
                <a:latin typeface="Calibri" panose="020F0502020204030204"/>
              </a:defRPr>
            </a:pPr>
            <a:r>
              <a:t>E·维度规范(+合规审计)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五类数据流全景 — 同路共享 · 异路分支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蓝/绿/灰走OTel共享管道 → 琥珀独立HTTP通道 → 红色自处理层触发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73152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数据类型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采集发射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管道 / 处理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存储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展示消费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TRACE 链路（蓝）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ObsChatModel → OTel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OTel Collector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Recv→Batch→Fltr→Exp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Tempo（遥测）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Grafana Trace 面板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METRICS 指标（绿）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OTel Agent 自动采集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JVM/HTTP/自定义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OTel Collector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（同TRACE共享管道）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VictoriaMetrics（遥测）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Grafana 指标面板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LOGS 日志（灰）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OTel Agent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应用日志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OTel Collector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（同TRACE共享管道）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Loki（遥测）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Grafana 日志面板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SESSION 会话（琥珀）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SessionBridge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HTTP :9090 直发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SessionService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（不经过 Collector！）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Redis 热层 + PG 持久化（业务）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Session 看板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ALERT 告警（红）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InsightsEngine 触发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AlertEngine 判定 + 收敛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PostgreSQL（业务）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告警面板 + 钉钉/飞书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关键差异：TRACE/METRICS/LOGS 共享 OTel 采集发射+Collector管道 → 到存储层三分支 | SESSION 完全不经过 OT 生态，自建 HTTP 直达 | ALERT 起源于智能处理层，非采集层触发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18872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核心能力模块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21945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六大可观测能力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29260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观测指标体系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五大模块分类，覆盖性能、质量、业务全维度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097280"/>
          <a:ext cx="4114800" cy="1993392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173736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模块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指标名称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A.性能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TTFT / TTAT / E2E延迟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首Token / 总耗时 / 端到端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B.质量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成功率 / 意图识别准确率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回复质量、Routing正确率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C.成本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Token消耗 / 调用次数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输入/输出Token、模型成本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D.业务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会话数/用户数/意图分布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活跃度、业务转化趋势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E.安全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异常频率 / 敏感词命中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注入攻击、信息泄露预警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92040" y="105156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UI界面截图 — 总览大屏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92040" y="1325880"/>
            <a:ext cx="3794760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五大模块覆盖AI应用全生命周期，从性能诊断到业务决策，一个平台全部搞定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观测指标体系：覆盖系统、模型、语义、业务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718" y="960120"/>
          <a:ext cx="4251960" cy="1593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/>
                <a:gridCol w="2057400"/>
                <a:gridCol w="1303020"/>
              </a:tblGrid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分类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核心指标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作用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</a:tr>
              <a:tr h="321310"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系统健康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QPS、耗时、错误率、资源占用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识别系统级瓶颈与稳定性风险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21310"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AI 性能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TTFT、Token 量、成本、调用次数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评估模型调用效率与成本结构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  <a:tr h="321310"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语义质量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意图准确率、改写准确率、Reroute 率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度量 LLM 理解、改写、路由质量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21310"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业务效果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业务完成率、转化率、满意度、ROI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把 AI 效果与业务指标挂钩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37998" y="960120"/>
            <a:ext cx="377190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生产系统 UI 总览：指标分类看板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v20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998" y="1337310"/>
            <a:ext cx="3771900" cy="2357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998" y="4560570"/>
            <a:ext cx="3771900" cy="206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/>
            <a:r>
              <a:rPr sz="750" b="0">
                <a:solidFill>
                  <a:srgbClr val="4B5563"/>
                </a:solidFill>
                <a:latin typeface="微软雅黑" panose="020B0503020204020204" charset="-122"/>
              </a:rPr>
              <a:t>数据：从埋点 → 聚合 → 多维可视化，支持按时间/渠道/Agent 下钻。</a:t>
            </a:r>
            <a:endParaRPr sz="750" b="0">
              <a:solidFill>
                <a:srgbClr val="4B556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82296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指标体系选择逻辑 — 六层递进覆盖全链路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从系统能否跑通、到模型回答好不好、到花得值不值、再到用户留不留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54864" cy="53035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系统健康 — 能不能跑通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CPU/内存 / JVM GC / HTTP QPS/P95 / Collector丢span / 可用率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1252728"/>
            <a:ext cx="2743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399032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1399032"/>
            <a:ext cx="54864" cy="530352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444752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LLM调用 — 跑得快不快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6733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TTFT首Token / P95耗时 / 成功率 / Input/Output Token / 模型QPS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20"/>
            <a:ext cx="2743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2020824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020824"/>
            <a:ext cx="54864" cy="53035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2066544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Agent编排 — 跑得对不对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2295144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意图路由准确率 / 工具成功率 / 步数分布 / RAG命中召回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89120" y="2496312"/>
            <a:ext cx="2743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2642616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2642616"/>
            <a:ext cx="54864" cy="530352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2688336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质量评估 — 答得好不好 (灵魂)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2916936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相关性0-1 / 幻觉率 / 合规违规 / 用户赞踩 / 评估飞轮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89120" y="3118104"/>
            <a:ext cx="2743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760" y="3264408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" y="3264408"/>
            <a:ext cx="54864" cy="530352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3310128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成本治理 — 花得值不值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3538728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按意图Token分账 / 日均月均成本 / 单次对话成本 / 异常预警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89120" y="3739896"/>
            <a:ext cx="2743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54864" cy="530352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会话体验 — 用得久不久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" y="4160520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DAU/MAU / 会话时长轮次 / 意图切换次数 / 异常退出率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递进逻辑：上层依赖下层。蓝色系=OTel自动采集(零开发)，青/紫/琥珀/红=自研ObsChatModel+InsightsEngine产出。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82296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运营大屏指标布局（Grafana Dashboard）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精选核心指标+多图表类型，一屏覆盖系统健康→业务质量→成本效率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269748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可用率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99.92%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看：日报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46120" y="713232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46120" y="713232"/>
            <a:ext cx="2697480" cy="36576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37560" y="78638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 首Token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37560" y="106070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3B6D11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240ms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37560" y="130759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看：日报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35040" y="713232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35040" y="713232"/>
            <a:ext cx="2697480" cy="36576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78638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DAU 今日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106070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0F6E56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1,247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130759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看：日报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7373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1737360"/>
            <a:ext cx="269748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181051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时延趋势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208483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TTFT+P95折线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233172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看：趋势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46120" y="17373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46120" y="1737360"/>
            <a:ext cx="269748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37560" y="181051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意图分布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37560" y="208483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堆叠柱状图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37560" y="233172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看：分布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35040" y="17373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35040" y="1737360"/>
            <a:ext cx="269748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26480" y="181051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Token消耗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26480" y="208483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BA7517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堆叠面积图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26480" y="233172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看：变化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7432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" y="2743200"/>
            <a:ext cx="2697480" cy="36576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281635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工具成功率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309067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0F6E56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折线+95%红线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333756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看：健康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246120" y="27432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46120" y="2743200"/>
            <a:ext cx="2697480" cy="3657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37560" y="281635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质量得分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37560" y="309067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534AB7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相关性/幻觉双轴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337560" y="333756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看：质量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035040" y="27432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035040" y="2743200"/>
            <a:ext cx="269748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126480" y="281635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意图成本分布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126480" y="309067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BA7517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横向柱状图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26480" y="333756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看：分布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7200" y="3749039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7200" y="3749039"/>
            <a:ext cx="2697480" cy="36576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8640" y="382219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最近告警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48640" y="409651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A32D2D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表格:级别/组件/时间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8640" y="4343399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看：问题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246120" y="3749039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246120" y="3749039"/>
            <a:ext cx="269748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337560" y="382219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活跃Session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337560" y="409651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面积图DAU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337560" y="4343399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看：粘性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035040" y="3749039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035040" y="3749039"/>
            <a:ext cx="269748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126480" y="382219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成本日报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126480" y="409651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BA7517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今日/昨/环比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26480" y="4343399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看：排名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质量评估(幻觉率/相关性)不适合实时大字展示——存在打分延迟且需语义理解——放在离线飞轮+趋势回顾面板更合适。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六大核心能力模块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6" name="Text 4"/>
          <p:cNvSpPr/>
          <p:nvPr/>
        </p:nvSpPr>
        <p:spPr>
          <a:xfrm>
            <a:off x="594360" y="13716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链路追踪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多步 Agent/工具调用树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 级下钻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0" name="Text 8"/>
          <p:cNvSpPr/>
          <p:nvPr/>
        </p:nvSpPr>
        <p:spPr>
          <a:xfrm>
            <a:off x="3429000" y="13716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指标采集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DAU/QPS/P95/TTFT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成本实时大盘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4" name="Text 12"/>
          <p:cNvSpPr/>
          <p:nvPr/>
        </p:nvSpPr>
        <p:spPr>
          <a:xfrm>
            <a:off x="6263640" y="13716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质量评估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幻觉率/相关性/合规性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LLM-as-judge 自动打分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8" name="Text 16"/>
          <p:cNvSpPr/>
          <p:nvPr/>
        </p:nvSpPr>
        <p:spPr>
          <a:xfrm>
            <a:off x="594360" y="32004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成本治理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按租户/意图分账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异常消费预警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260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22" name="Text 20"/>
          <p:cNvSpPr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告警洞察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36576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洞察引擎 6 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根因推荐 + 告警抑制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260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26" name="Text 24"/>
          <p:cNvSpPr/>
          <p:nvPr/>
        </p:nvSpPr>
        <p:spPr>
          <a:xfrm>
            <a:off x="6263640" y="32004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数据健康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36576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数据健康评分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字段级脱敏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质量评估体系 &amp; 成本治理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质量评估飞轮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自动采集：每次 LLM 调用记录对话上下文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LLM-as-judge：评分幻觉/相关性/合规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离线评估集：生产失败 → 回灌测试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预发仿真：上线前全量回归验证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成本治理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按意图/租户 Token 用量分账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异常消费实时预警（阈值触发）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模型对比：性价比排行榜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2461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成本趋势预测（时序建模）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84048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核心价值：将 AI 支出从「黑盒」变为「可度量」，实现 20-40% 降本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会话回放 + Trace 链路追踪：还原用户真实交互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71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会话回放：按 session 查看多轮对话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67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Trace 链路：追踪单次请求 Agent 调用链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v20_ses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718" y="1165860"/>
            <a:ext cx="4046220" cy="2528888"/>
          </a:xfrm>
          <a:prstGeom prst="rect">
            <a:avLst/>
          </a:prstGeom>
        </p:spPr>
      </p:pic>
      <p:pic>
        <p:nvPicPr>
          <p:cNvPr id="6" name="Picture 5" descr="v20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678" y="1165860"/>
            <a:ext cx="4046220" cy="2528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71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按 Session ID 回放完整对话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展示用户消息、AI 回复、调用 Agent、耗时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6367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L0 域路由 → L1 子图 → L2 工具调用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traceId 与 sessionId 关联，问题快速下钻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会话回放 &amp; 链路追踪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逐轮回溯用户交互 + 端到端Trace瀑布图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会话回放完整记录用户每一轮对话的输入、Agent响应、意图路由全过程；链路追踪以L0→L1→L2瀑布图展示请求在各层的耗时分布，快速定位瓶颈。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会话回放界面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664208"/>
            <a:ext cx="3931920" cy="2011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0" y="146304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链路追踪界面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54880" y="1664208"/>
            <a:ext cx="3931920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3840480"/>
            <a:ext cx="2651760" cy="7772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3840480"/>
            <a:ext cx="36576" cy="77724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4" name="Text 10"/>
          <p:cNvSpPr/>
          <p:nvPr/>
        </p:nvSpPr>
        <p:spPr>
          <a:xfrm>
            <a:off x="640080" y="38862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逐轮回放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支持按sessionId查询，完整还原用户多轮对话上下文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91840" y="3840480"/>
            <a:ext cx="2651760" cy="7772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91840" y="3840480"/>
            <a:ext cx="36576" cy="77724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8" name="Text 14"/>
          <p:cNvSpPr/>
          <p:nvPr/>
        </p:nvSpPr>
        <p:spPr>
          <a:xfrm>
            <a:off x="3474720" y="38862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L0/L1/L2分级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7472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DomainRouter→Agent Pipeline→LLM Call 三级Span瀑布展示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26480" y="3840480"/>
            <a:ext cx="2651760" cy="7772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3840480"/>
            <a:ext cx="36576" cy="77724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2" name="Text 18"/>
          <p:cNvSpPr/>
          <p:nvPr/>
        </p:nvSpPr>
        <p:spPr>
          <a:xfrm>
            <a:off x="6309360" y="38862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三件套联动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30936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会话回放 ↔ 链路追踪 ↔ 日志详情无缝跳转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AI 洞察 + 智能洞察：从表象指标到根因与行动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71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AI 洞察：指标下钻与异常定位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67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智能洞察：自动生成优先行动建议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v20_ins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718" y="1165860"/>
            <a:ext cx="4046220" cy="2528888"/>
          </a:xfrm>
          <a:prstGeom prst="rect">
            <a:avLst/>
          </a:prstGeom>
        </p:spPr>
      </p:pic>
      <p:pic>
        <p:nvPicPr>
          <p:cNvPr id="6" name="Picture 5" descr="v20_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678" y="1165860"/>
            <a:ext cx="4046220" cy="2528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71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意图准确率、改写准确率、失败根因 TOP3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从聚合指标定位到模型 / Prompt / 版本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6367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Top5 优先行动建议，按影响面与风险分级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瓶颈可视化：P95 延迟 vs 错误率联动分析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AI洞察 &amp; 智能洞察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从表面指标到深层根因，AI驱动的问题诊断与对策建议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三大诊断域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65760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36576" cy="71323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0" name="Text 8"/>
          <p:cNvSpPr/>
          <p:nvPr/>
        </p:nvSpPr>
        <p:spPr>
          <a:xfrm>
            <a:off x="640080" y="143560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性能诊断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TTFT飙升？Token消耗异常？自动识别最长Span，定位瓶颈节点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65760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0280"/>
            <a:ext cx="36576" cy="713232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14" name="Text 12"/>
          <p:cNvSpPr/>
          <p:nvPr/>
        </p:nvSpPr>
        <p:spPr>
          <a:xfrm>
            <a:off x="640080" y="225856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质量诊断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46888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成功率下降？意图识别偏差？关联失败会话分析共性问题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65760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36576" cy="71323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8" name="Text 16"/>
          <p:cNvSpPr/>
          <p:nvPr/>
        </p:nvSpPr>
        <p:spPr>
          <a:xfrm>
            <a:off x="640080" y="308152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业务诊断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回退率/转人工率突增？检测知识库覆盖盲区与模型幻觉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03320"/>
            <a:ext cx="82296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2" name="Text 20"/>
          <p:cNvSpPr/>
          <p:nvPr/>
        </p:nvSpPr>
        <p:spPr>
          <a:xfrm>
            <a:off x="640080" y="37673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智能诊断示例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指标异常：</a:t>
            </a:r>
            <a:r>
              <a:rPr lang="en-US" sz="900" dirty="0">
                <a:solidFill>
                  <a:srgbClr val="475569"/>
                </a:solidFill>
              </a:rPr>
              <a:t>用户投诉“转账失败”增多 → 异常会话占比达15%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4A7A"/>
                </a:solidFill>
              </a:rPr>
              <a:t>根因定位：</a:t>
            </a:r>
            <a:r>
              <a:rPr lang="en-US" sz="900" dirty="0">
                <a:solidFill>
                  <a:srgbClr val="475569"/>
                </a:solidFill>
              </a:rPr>
              <a:t>DomainRouter路由超时 → 后端服务响应&gt;3s → 触发超时回退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行动建议：</a:t>
            </a:r>
            <a:r>
              <a:rPr lang="en-US" sz="900" dirty="0">
                <a:solidFill>
                  <a:srgbClr val="475569"/>
                </a:solidFill>
              </a:rPr>
              <a:t>1.调整路由超时阈值  2.扩容后端推理服务  3.增加降级兜底策略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05156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智能洞察 UI 界面</a:t>
            </a:r>
            <a:endParaRPr lang="en-US" sz="9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0" y="1280160"/>
            <a:ext cx="411480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日志与告警：全链路可追踪、可闭环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71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日志查询：跨会话 / Trace / 调用链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67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告警规则：多维阈值与自动通知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v20_lo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718" y="1165860"/>
            <a:ext cx="4046220" cy="2528888"/>
          </a:xfrm>
          <a:prstGeom prst="rect">
            <a:avLst/>
          </a:prstGeom>
        </p:spPr>
      </p:pic>
      <p:pic>
        <p:nvPicPr>
          <p:cNvPr id="6" name="Picture 5" descr="v20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678" y="1165860"/>
            <a:ext cx="4046220" cy="2528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71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日志支持 session、trace、关键词多维检索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INFO / WARN / ERROR 级别，关联原始请求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6367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LLM 错误率、P95 时延、业务完成率等指标告警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对接企业 IM / 邮件，实现告警闭环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 &amp; 告警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集中日志查询 + 多级告警规则，异常秒级响应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日志管理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全文搜索：按级别/关键词/时间范围快速检索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统计分析：ERROR/WARN/INFO/DEBUG级别分布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关联跳转：日志条目关联到对应Trace/Session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396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 持久存储：底层Loki支持海量日志集中管理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告警规则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2880360"/>
          <a:ext cx="4114800" cy="109728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645920"/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规则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条件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通知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成功率&lt;95%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连续5分钟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飞书/邮件/短信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TTFT&gt;3s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P95延迟超阈值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飞书/邮件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Token消耗异常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日环比&gt;50%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飞书通知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错误率&gt;1%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连续3分钟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电话/飞书/邮件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846320" y="10515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日志查询界面</a:t>
            </a:r>
            <a:endParaRPr lang="en-US" sz="9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46320" y="1280160"/>
            <a:ext cx="3840480" cy="1417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283464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告警规则界面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320" y="3063240"/>
            <a:ext cx="384048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4800" b="1" i="0">
                <a:solidFill>
                  <a:srgbClr val="FFFFFF"/>
                </a:solidFill>
                <a:latin typeface="Cambria" panose="02040503050406030204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8872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3600" b="1" i="0">
                <a:solidFill>
                  <a:srgbClr val="FFFFFF"/>
                </a:solidFill>
                <a:latin typeface="Cambria" panose="02040503050406030204"/>
              </a:defRPr>
            </a:pPr>
            <a:r>
              <a:t>选型与案例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9456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600" b="0" i="0">
                <a:solidFill>
                  <a:srgbClr val="90CAF9"/>
                </a:solidFill>
                <a:latin typeface="Calibri" panose="020F0502020204030204"/>
              </a:defRPr>
            </a:pPr>
            <a:r>
              <a:t>平台对比 + 手机银行落地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926080"/>
            <a:ext cx="2743200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6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主流 AI 可观测平台对比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部署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框架绑定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评估深度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合规驻留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Langfuse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开源自托管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OTel 通用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提示词+分数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可控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深度集成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海外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Arize Phoenix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开源自托管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OTel 通用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ML+LLM 双栈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可控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Helicone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SaaS/代理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代理最快接入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海外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Maxim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SaaS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OTel 通用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闭环评估流水线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海外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7472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选型建议：金融合规场景优先自建（Langfuse + OTel Collector + 自建 Backend）</a:t>
            </a:r>
            <a:br/>
            <a:r>
              <a:t>2026.01 注：Langfuse 已被 ClickHouse 收购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6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案例：手机银行 AI 助手可观测落地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3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99.92%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系统可用性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09728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" name="TextBox 6"/>
          <p:cNvSpPr txBox="1"/>
          <p:nvPr/>
        </p:nvSpPr>
        <p:spPr>
          <a:xfrm>
            <a:off x="2651760" y="1188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3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240ms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TTFT 首Token延迟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09728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" name="TextBox 9"/>
          <p:cNvSpPr txBox="1"/>
          <p:nvPr/>
        </p:nvSpPr>
        <p:spPr>
          <a:xfrm>
            <a:off x="4846320" y="1188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3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数据健康评分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09728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3" name="TextBox 12"/>
          <p:cNvSpPr txBox="1"/>
          <p:nvPr/>
        </p:nvSpPr>
        <p:spPr>
          <a:xfrm>
            <a:off x="7040880" y="1188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3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意图路由可追踪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6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落地关键路径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1A2B3C"/>
                </a:solidFill>
                <a:latin typeface="Calibri" panose="020F0502020204030204"/>
              </a:defRPr>
            </a:pPr>
            <a:r>
              <a:t>1. Core 8080埋点（BankController+ObsChatModel+OTel Agent）自动采集所有LLM调用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1A2B3C"/>
                </a:solidFill>
                <a:latin typeface="Calibri" panose="020F0502020204030204"/>
              </a:defRPr>
            </a:pPr>
            <a:r>
              <a:t>2. OTel Collector（batch→filter→export）管道处理，按intent分类写入Backend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1A2B3C"/>
                </a:solidFill>
                <a:latin typeface="Calibri" panose="020F0502020204030204"/>
              </a:defRPr>
            </a:pPr>
            <a:r>
              <a:t>3. Backend 9090存储+AI洞察引擎6 Service实时分析，Tempo/VM/Loki标准栈存储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1A2B3C"/>
                </a:solidFill>
                <a:latin typeface="Calibri" panose="020F0502020204030204"/>
              </a:defRPr>
            </a:pPr>
            <a:r>
              <a:t>4. Grafana运营大屏+AI洞察面板+钉钉自动告警，覆盖运营与开发双场景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POC-DEMO 与 生产方案落地差异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718" y="89154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91840"/>
                <a:gridCol w="3840480"/>
              </a:tblGrid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维度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POC-DEMO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生产方案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目标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功能验证 / 客户演示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支撑千万级、亿级用户量的稳定运行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部署规模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单机 + H2 文件库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多实例 + TiDB / ClickHouse 集群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采集方式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Spring AI 手动埋点 + 自动上报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OTel Java Agent / 全量/采样上报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存储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H2 本地文件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冷热分层、分库分表、TTL 清理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合规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基础审计日志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金融级审计、RBAC、数据脱敏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隐私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本地演示数据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敏感字段脱敏、隐私计算、权限隔离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可扩展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单服务 + 单 Collector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多租户、多 region、弹性扩缩容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718" y="4526280"/>
            <a:ext cx="822960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关键设计原则：架构可演进、数据可扩展、合规可审计、隐私可保护。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POC-DEMO vs 生产方案对比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我们的方案已充分考虑千万/亿级用户的金融级要求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DEMO方案快速验证核心观测能力，生产方案在此基础上全面升级至金融级标准，满足合规、安全、高可用要求。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325880"/>
          <a:ext cx="8229600" cy="2615184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POC-DEMO方案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生产方案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H2内嵌数据库（2GB）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PostgreSQL集群（TB级）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Span存储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H2单表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时序数据库（ClickHouse/TimescaleDB）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日志存储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本地文件 / 控制台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Loki分布式集群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数据脱敏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未实施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字段级脱敏（手机号/身份证/AUM）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无认证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RBAC + SSO + 审计日志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高可用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单节点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多AZ部署 + 主从切换 + 熔断限流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网络传输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HTTP明文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mTLS加密 + VPC隔离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数据留存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无策略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满足监管：会话≥3年 / 日志≥1年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性能基线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单机&lt;100 QPS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集群≥10K QPS，水平可扩展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合规认证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无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等保三级 / 数据出境合规评估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0C1445"/>
          </a:solidFill>
        </p:spPr>
      </p:sp>
      <p:sp>
        <p:nvSpPr>
          <p:cNvPr id="10" name="Shape 7"/>
          <p:cNvSpPr/>
          <p:nvPr/>
        </p:nvSpPr>
        <p:spPr>
          <a:xfrm>
            <a:off x="457200" y="4069080"/>
            <a:ext cx="36576" cy="5943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1" name="Text 8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从DEMO到生产：零架构重构，平滑升级。技术栈完全统一（Spring Boot + OpenTelemetry + Loki），仅需将单机组件替换为分布式高可用版本，业务代码无需改动。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18872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演进路线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21945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 DEMO 到生产级 + AIOps 飞轮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29260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版本演进：V1 → V6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54480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65760" y="1188720"/>
            <a:ext cx="155448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6" name="Text 4"/>
          <p:cNvSpPr/>
          <p:nvPr/>
        </p:nvSpPr>
        <p:spPr>
          <a:xfrm>
            <a:off x="36576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V1-V2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原型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554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埋点 · 基础大屏 · 内存存储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01952" y="19202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03120" y="1188720"/>
            <a:ext cx="1554480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2103120" y="1188720"/>
            <a:ext cx="155448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2" name="Text 10"/>
          <p:cNvSpPr/>
          <p:nvPr/>
        </p:nvSpPr>
        <p:spPr>
          <a:xfrm>
            <a:off x="210312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1783080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架构定型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1554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五层架构 · H2 + Redis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9312" y="19202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40480" y="1188720"/>
            <a:ext cx="1554480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3840480" y="1188720"/>
            <a:ext cx="155448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8" name="Text 16"/>
          <p:cNvSpPr/>
          <p:nvPr/>
        </p:nvSpPr>
        <p:spPr>
          <a:xfrm>
            <a:off x="384048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1783080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基线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194560"/>
            <a:ext cx="1554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组件自洽 · AI 洞察引擎 · 八页大屏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76672" y="19202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77840" y="1188720"/>
            <a:ext cx="1554480" cy="2286000"/>
          </a:xfrm>
          <a:prstGeom prst="rect">
            <a:avLst/>
          </a:prstGeom>
          <a:solidFill>
            <a:srgbClr val="FAEEDA"/>
          </a:solidFill>
        </p:spPr>
      </p:sp>
      <p:sp>
        <p:nvSpPr>
          <p:cNvPr id="23" name="Shape 21"/>
          <p:cNvSpPr/>
          <p:nvPr/>
        </p:nvSpPr>
        <p:spPr>
          <a:xfrm>
            <a:off x="5577840" y="1188720"/>
            <a:ext cx="1554480" cy="54864"/>
          </a:xfrm>
          <a:prstGeom prst="rect">
            <a:avLst/>
          </a:prstGeom>
          <a:solidFill>
            <a:srgbClr val="BA7517"/>
          </a:solidFill>
        </p:spPr>
      </p:sp>
      <p:sp>
        <p:nvSpPr>
          <p:cNvPr id="24" name="Text 22"/>
          <p:cNvSpPr/>
          <p:nvPr/>
        </p:nvSpPr>
        <p:spPr>
          <a:xfrm>
            <a:off x="557784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1783080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生产参考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194560"/>
            <a:ext cx="1554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 替代 H2 · 字段脱敏 · RBAC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14032" y="19202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1554480" cy="2286000"/>
          </a:xfrm>
          <a:prstGeom prst="rect">
            <a:avLst/>
          </a:prstGeom>
          <a:solidFill>
            <a:srgbClr val="FAEEDA"/>
          </a:solidFill>
        </p:spPr>
      </p:sp>
      <p:sp>
        <p:nvSpPr>
          <p:cNvPr id="29" name="Shape 27"/>
          <p:cNvSpPr/>
          <p:nvPr/>
        </p:nvSpPr>
        <p:spPr>
          <a:xfrm>
            <a:off x="7315200" y="1188720"/>
            <a:ext cx="1554480" cy="54864"/>
          </a:xfrm>
          <a:prstGeom prst="rect">
            <a:avLst/>
          </a:prstGeom>
          <a:solidFill>
            <a:srgbClr val="BA7517"/>
          </a:solidFill>
        </p:spPr>
      </p:sp>
      <p:sp>
        <p:nvSpPr>
          <p:cNvPr id="30" name="Text 28"/>
          <p:cNvSpPr/>
          <p:nvPr/>
        </p:nvSpPr>
        <p:spPr>
          <a:xfrm>
            <a:off x="731520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1783080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194560"/>
            <a:ext cx="1554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集群 HA · 双写分治 · 分级采样 · 合规审计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74904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V1-V4 = Demo 赛道（内部自洽、不引新组件）  |  V5-V6 = 生产化参考库（脱敏/RBAC/TLS/HA 待上线触发）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可观测数据飞轮 &amp; AIOps 演进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977640" y="1051560"/>
            <a:ext cx="91440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77640" y="10972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生产失败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24357" y="1379994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1215" y="180976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1215" y="185548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评估数据集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22967" y="260679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2605" y="303655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2605" y="3082278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预发仿真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79392" y="336499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2675" y="303655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2675" y="3082278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回灌监控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35817" y="260679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34065" y="1809762"/>
            <a:ext cx="91440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4065" y="185548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智能诊断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从「监控大屏」升级到「根因直达」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传统: 看大盘 → 排查 → 修复（30min+）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AIOps: 异常自动聚类 → 根因推荐 → 一键回滚（&lt;5min）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参考：DoorDash 通过 AIOps 根因分析提速 87%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总结：可见 · 可控 · 可信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0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CAF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可见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233172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全链路追踪：从用户请求到 LLM 回复的完整 Span 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CAF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可控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32004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成本治理：Token 分账 + 异常预警 + 质量飞轮闭环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CAF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可信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406908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合规审计：字段脱敏 + RBAC + TLS + 评估可回溯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B5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下一步行动建议：① 完成 Core 8080 埋点对接 ② 搭建 OTel Collector 管道 ③ 推进从 Demo 到生产级的合规改造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3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4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5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6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7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8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9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0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1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2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3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4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5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6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7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8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9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0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1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2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3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4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9623</Words>
  <Application>WPS 演示</Application>
  <PresentationFormat>On-screen Show (16:9)</PresentationFormat>
  <Paragraphs>1580</Paragraphs>
  <Slides>40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40</vt:i4>
      </vt:variant>
    </vt:vector>
  </HeadingPairs>
  <TitlesOfParts>
    <vt:vector size="59" baseType="lpstr">
      <vt:lpstr>Arial</vt:lpstr>
      <vt:lpstr>宋体</vt:lpstr>
      <vt:lpstr>Wingdings</vt:lpstr>
      <vt:lpstr>Calibri</vt:lpstr>
      <vt:lpstr>Calibri</vt:lpstr>
      <vt:lpstr>Calibri</vt:lpstr>
      <vt:lpstr>微软雅黑</vt:lpstr>
      <vt:lpstr>Arial Unicode MS</vt:lpstr>
      <vt:lpstr>等线</vt:lpstr>
      <vt:lpstr>Cambria</vt:lpstr>
      <vt:lpstr>Cambria</vt:lpstr>
      <vt:lpstr>Cambria</vt:lpstr>
      <vt:lpstr>Cambria</vt:lpstr>
      <vt:lpstr>Calibri</vt:lpstr>
      <vt:lpstr>Arial</vt:lpstr>
      <vt:lpstr>Office Theme</vt:lpstr>
      <vt:lpstr>3_Office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AI可观测设计方案</dc:title>
  <dc:creator>AI可观测团队</dc:creator>
  <dc:subject>PptxGenJS Presentation</dc:subject>
  <cp:lastModifiedBy>Michael Lin</cp:lastModifiedBy>
  <cp:revision>5</cp:revision>
  <dcterms:created xsi:type="dcterms:W3CDTF">2026-07-17T02:24:00Z</dcterms:created>
  <dcterms:modified xsi:type="dcterms:W3CDTF">2026-07-21T13:46:33Z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80A5EE7258354DD4A6932522D3A4F739_12</vt:lpwstr>
  </property>
</Properties>
</file>