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14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731520"/>
            <a:ext cx="27432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058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AI可观测设计方案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7373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D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移动银行AI智能助手 · 全链路可观测性平台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8229600" cy="4572"/>
          </a:xfrm>
          <a:prstGeom prst="rect">
            <a:avLst/>
          </a:prstGeom>
          <a:solidFill>
            <a:srgbClr val="C9A84C">
              <a:alpha val="40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A84C"/>
                </a:solidFill>
              </a:rPr>
              <a:t>●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指标监控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21408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A84C"/>
                </a:solidFill>
              </a:rPr>
              <a:t>●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会话回放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785616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A84C"/>
                </a:solidFill>
              </a:rPr>
              <a:t>●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链路追踪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49824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A84C"/>
                </a:solidFill>
              </a:rPr>
              <a:t>●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AI洞察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14032" y="25603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A84C"/>
                </a:solidFill>
              </a:rPr>
              <a:t>●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日志告警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4114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面向银行金融行业的AI应用观测 · 方案汇报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98080" y="0"/>
            <a:ext cx="1645920" cy="5143500"/>
          </a:xfrm>
          <a:prstGeom prst="rect">
            <a:avLst/>
          </a:prstGeom>
          <a:solidFill>
            <a:srgbClr val="1A2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0" y="0"/>
            <a:ext cx="54864" cy="5143500"/>
          </a:xfrm>
          <a:prstGeom prst="rect">
            <a:avLst/>
          </a:prstGeom>
          <a:solidFill>
            <a:srgbClr val="C9A84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AI可观测的必要性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传统APM已无法满足AI应用的可观测需求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051560"/>
            <a:ext cx="38404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传统APM的三大盲区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5800" y="1691640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66420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LLM调用黑盒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189280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无法追踪模型推理耗时、Token消耗、提示词内容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85800" y="2468880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4414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Agent决策不可见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26700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多步推理链路断裂，中间过程无法回溯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5800" y="3246120"/>
            <a:ext cx="54864" cy="548640"/>
          </a:xfrm>
          <a:prstGeom prst="rect">
            <a:avLst/>
          </a:prstGeom>
          <a:solidFill>
            <a:srgbClr val="DC2626">
              <a:alpha val="6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21868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用户体验盲区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14400" y="344728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缺乏会话级观测，无法重现用户真实交互路径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46320" y="1051560"/>
            <a:ext cx="3840480" cy="3108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846320" y="1051560"/>
            <a:ext cx="38404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Text 19"/>
          <p:cNvSpPr/>
          <p:nvPr/>
        </p:nvSpPr>
        <p:spPr>
          <a:xfrm>
            <a:off x="5074920" y="11887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银行AI可观测四大核心需求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74920" y="1691640"/>
            <a:ext cx="54864" cy="438912"/>
          </a:xfrm>
          <a:prstGeom prst="rect">
            <a:avLst/>
          </a:prstGeom>
          <a:solidFill>
            <a:srgbClr val="16A34A">
              <a:alpha val="60000"/>
            </a:srgbClr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0" y="166420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全链路可见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303520" y="18653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从用户请求到模型响应，每一跳都可追踪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074920" y="2286000"/>
            <a:ext cx="54864" cy="438912"/>
          </a:xfrm>
          <a:prstGeom prst="rect">
            <a:avLst/>
          </a:prstGeom>
          <a:solidFill>
            <a:srgbClr val="16A34A">
              <a:alpha val="60000"/>
            </a:srgbClr>
          </a:solidFill>
          <a:ln/>
        </p:spPr>
      </p:sp>
      <p:sp>
        <p:nvSpPr>
          <p:cNvPr id="26" name="Text 24"/>
          <p:cNvSpPr/>
          <p:nvPr/>
        </p:nvSpPr>
        <p:spPr>
          <a:xfrm>
            <a:off x="5303520" y="225856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合规审计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303520" y="245973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交互记录完整留存，满足金融监管追溯要求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074920" y="2880360"/>
            <a:ext cx="54864" cy="438912"/>
          </a:xfrm>
          <a:prstGeom prst="rect">
            <a:avLst/>
          </a:prstGeom>
          <a:solidFill>
            <a:srgbClr val="16A34A">
              <a:alpha val="6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303520" y="285292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智能告警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303520" y="3054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异常检测 &amp; 根因分析，不等用户投诉先发现问题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074920" y="3474720"/>
            <a:ext cx="54864" cy="438912"/>
          </a:xfrm>
          <a:prstGeom prst="rect">
            <a:avLst/>
          </a:prstGeom>
          <a:solidFill>
            <a:srgbClr val="16A34A">
              <a:alpha val="6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303520" y="34472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性能优化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03520" y="364845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Token消耗、延迟瓶颈实时可见，驱动降本增效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519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200400"/>
                <a:gridCol w="32004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对比维度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传统APM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AI可观测平台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观测粒度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75569"/>
                          </a:solidFill>
                        </a:rPr>
                        <a:t>服务级 (HTTP/gRPC)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会话级 + 轮次级 + Span级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LLM可见性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</a:rPr>
                        <a:t>无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Token/延迟/Prompt全量记录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回放能力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</a:rPr>
                        <a:t>不支持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逐轮会话回放 &amp; 重放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根因分析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DC2626"/>
                          </a:solidFill>
                        </a:rPr>
                        <a:t>手动排查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6A34A"/>
                          </a:solidFill>
                        </a:rPr>
                        <a:t>AI驱动的智能洞察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AI可观测整体架构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端到端数据流：埋点 → 采集 → 处理 → 存储 → 呈现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280160"/>
            <a:ext cx="3931920" cy="36576"/>
          </a:xfrm>
          <a:prstGeom prst="rect">
            <a:avLst/>
          </a:prstGeom>
          <a:solidFill>
            <a:srgbClr val="2E4A7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业务埋点层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168249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Core服务OTel SDK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938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javaagent自动注入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Span/指标/日志导出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286000" y="12801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0" y="1280160"/>
            <a:ext cx="3931920" cy="36576"/>
          </a:xfrm>
          <a:prstGeom prst="rect">
            <a:avLst/>
          </a:prstGeom>
          <a:solidFill>
            <a:srgbClr val="2E4A7A"/>
          </a:solidFill>
          <a:ln/>
        </p:spPr>
      </p:sp>
      <p:sp>
        <p:nvSpPr>
          <p:cNvPr id="15" name="Text 13"/>
          <p:cNvSpPr/>
          <p:nvPr/>
        </p:nvSpPr>
        <p:spPr>
          <a:xfrm>
            <a:off x="242316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数据采集层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423160" y="168249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OTel Collector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423160" y="1938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OTLP协议接收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42316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批量压缩&amp;转发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0" y="12801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029200" y="1280160"/>
            <a:ext cx="3931920" cy="36576"/>
          </a:xfrm>
          <a:prstGeom prst="rect">
            <a:avLst/>
          </a:prstGeom>
          <a:solidFill>
            <a:srgbClr val="2E4A7A"/>
          </a:solidFill>
          <a:ln/>
        </p:spPr>
      </p:sp>
      <p:sp>
        <p:nvSpPr>
          <p:cNvPr id="21" name="Text 19"/>
          <p:cNvSpPr/>
          <p:nvPr/>
        </p:nvSpPr>
        <p:spPr>
          <a:xfrm>
            <a:off x="5166360" y="13716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数据处理层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166360" y="168249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Backend API服务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166360" y="19385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Span解析&amp;关联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166360" y="21945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汇聚持久化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" y="3017520"/>
            <a:ext cx="3931920" cy="36576"/>
          </a:xfrm>
          <a:prstGeom prst="rect">
            <a:avLst/>
          </a:prstGeom>
          <a:solidFill>
            <a:srgbClr val="2E4A7A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108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数据存储层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4198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H2 / PostgreSQL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94360" y="36758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时序指标库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3931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日志: Loki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572000" y="301752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4572000" y="3017520"/>
            <a:ext cx="3931920" cy="36576"/>
          </a:xfrm>
          <a:prstGeom prst="rect">
            <a:avLst/>
          </a:prstGeom>
          <a:solidFill>
            <a:srgbClr val="2E4A7A"/>
          </a:solidFill>
          <a:ln/>
        </p:spPr>
      </p:sp>
      <p:sp>
        <p:nvSpPr>
          <p:cNvPr id="33" name="Text 31"/>
          <p:cNvSpPr/>
          <p:nvPr/>
        </p:nvSpPr>
        <p:spPr>
          <a:xfrm>
            <a:off x="4709160" y="3108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前端呈现层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09160" y="3419856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总览大屏 / 指标看板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709160" y="367588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会话回放 / Trace链路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09160" y="3931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AI洞察 / 日志告警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828800" y="1828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4251960" y="182880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242316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</a:rPr>
              <a:t>↓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4114800" y="356616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A84C"/>
                </a:solidFill>
              </a:rPr>
              <a:t>→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标准技术栈：Spring Boot 3 + Spring AI + OpenTelemetry JavaAgent + OTLP Collector + Loki + Grafana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观测指标体系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五大模块分类，覆盖性能、质量、业务全维度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4</a:t>
            </a:r>
            <a:endParaRPr lang="en-US" sz="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554480"/>
                <a:gridCol w="173736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模块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指标名称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说明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A.性能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TTFT / TTAT / E2E延迟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首Token / 总耗时 / 端到端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B.质量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成功率 / 意图识别准确率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回复质量、Routing正确率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C.成本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Token消耗 / 调用次数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输入/输出Token、模型成本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D.业务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会话数/用户数/意图分布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活跃度、业务转化趋势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E.安全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异常频率 / 敏感词命中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75569"/>
                          </a:solidFill>
                        </a:rPr>
                        <a:t>注入攻击、信息泄露预警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892040" y="1051560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UI界面截图 — 总览大屏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1325880"/>
            <a:ext cx="3794760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457200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五大模块覆盖AI应用全生命周期，从性能诊断到业务决策，一个平台全部搞定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会话回放 &amp; 链路追踪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逐轮回溯用户交互 + 端到端Trace瀑布图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5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会话回放完整记录用户每一轮对话的输入、Agent响应、意图路由全过程；链路追踪以L0→L1→L2瀑布图展示请求在各层的耗时分布，快速定位瓶颈。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会话回放界面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664208"/>
            <a:ext cx="3931920" cy="20116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754880" y="146304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链路追踪界面</a:t>
            </a:r>
            <a:endParaRPr lang="en-US" sz="9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664208"/>
            <a:ext cx="3931920" cy="20116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" y="384048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57200" y="3840480"/>
            <a:ext cx="36576" cy="7772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4" name="Text 10"/>
          <p:cNvSpPr/>
          <p:nvPr/>
        </p:nvSpPr>
        <p:spPr>
          <a:xfrm>
            <a:off x="640080" y="3886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逐轮回放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4008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支持按sessionId查询，完整还原用户多轮对话上下文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3291840" y="384048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291840" y="3840480"/>
            <a:ext cx="36576" cy="7772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8" name="Text 14"/>
          <p:cNvSpPr/>
          <p:nvPr/>
        </p:nvSpPr>
        <p:spPr>
          <a:xfrm>
            <a:off x="3474720" y="3886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L0/L1/L2分级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347472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DomainRouter→Agent Pipeline→LLM Call 三级Span瀑布展示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6126480" y="3840480"/>
            <a:ext cx="2651760" cy="7772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126480" y="3840480"/>
            <a:ext cx="36576" cy="77724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2" name="Text 18"/>
          <p:cNvSpPr/>
          <p:nvPr/>
        </p:nvSpPr>
        <p:spPr>
          <a:xfrm>
            <a:off x="6309360" y="388620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三件套联动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6309360" y="41148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会话回放 ↔ 链路追踪 ↔ 日志详情无缝跳转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AI洞察 &amp; 智能洞察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从表面指标到深层根因，AI驱动的问题诊断与对策建议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三大诊断域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65760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17320"/>
            <a:ext cx="36576" cy="71323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43560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性能诊断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16459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TTFT飙升？Token消耗异常？自动识别最长Span，定位瓶颈节点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365760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240280"/>
            <a:ext cx="36576" cy="713232"/>
          </a:xfrm>
          <a:prstGeom prst="rect">
            <a:avLst/>
          </a:prstGeom>
          <a:solidFill>
            <a:srgbClr val="2E4A7A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25856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质量诊断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0080" y="24688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成功率下降？意图识别偏差？关联失败会话分析共性问题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063240"/>
            <a:ext cx="3657600" cy="71323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063240"/>
            <a:ext cx="36576" cy="713232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08152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业务诊断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" y="32918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回退率/转人工率突增？检测知识库覆盖盲区与模型幻觉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703320"/>
            <a:ext cx="822960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127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703320"/>
            <a:ext cx="82296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3767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智能诊断示例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" y="397764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C2626"/>
                </a:solidFill>
              </a:rPr>
              <a:t>指标异常：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用户投诉“转账失败”增多 → 异常会话占比达15%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0080" y="416052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4A7A"/>
                </a:solidFill>
              </a:rPr>
              <a:t>根因定位：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DomainRouter路由超时 → 后端服务响应&gt;3s → 触发超时回退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4343400"/>
            <a:ext cx="7772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6A34A"/>
                </a:solidFill>
              </a:rPr>
              <a:t>行动建议：</a:t>
            </a:r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</a:rPr>
              <a:t>1.调整路由超时阈值  2.扩容后端推理服务  3.增加降级兜底策略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0" y="105156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智能洞察 UI 界面</a:t>
            </a:r>
            <a:endParaRPr lang="en-US" sz="9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1280160"/>
            <a:ext cx="4114800" cy="23317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 &amp; 告警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集中日志查询 + 多级告警规则，异常秒级响应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7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日志管理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全文搜索：按级别/关键词/时间范围快速检索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627632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统计分析：ERROR/WARN/INFO/DEBUG级别分布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88366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关联跳转：日志条目关联到对应Trace/Session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139696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💾 持久存储：底层Loki支持海量日志集中管理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7200" y="2560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告警规则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41148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371600"/>
                <a:gridCol w="164592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规则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条件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通知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成功率&lt;95%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连续5分钟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飞书/邮件/短信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TTFT&gt;3s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P95延迟超阈值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飞书/邮件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Token消耗异常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日环比&gt;50%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飞书通知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错误率&gt;1%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连续3分钟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电话/飞书/邮件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4846320" y="105156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日志查询界面</a:t>
            </a:r>
            <a:endParaRPr lang="en-US" sz="900" dirty="0"/>
          </a:p>
        </p:txBody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1280160"/>
            <a:ext cx="3840480" cy="14173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46320" y="2834640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告警规则界面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3063240"/>
            <a:ext cx="384048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4864" cy="3657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658368" y="25603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14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POC-DEMO vs 生产方案对比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58368" y="65836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我们的方案已充分考虑千万/亿级用户的金融级要求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AI可观测设计方案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229600" y="47091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</a:rPr>
              <a:t>8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DEMO方案快速验证核心观测能力，生产方案在此基础上全面升级至金融级标准，满足合规、安全、高可用要求。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3657600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维度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POC-DEMO方案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生产方案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A5E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H2内嵌数据库（2GB）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PostgreSQL集群（TB级）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Span存储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H2单表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时序数据库（ClickHouse/TimescaleDB）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日志存储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本地文件 / 控制台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Loki分布式集群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数据脱敏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未实施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字段级脱敏（手机号/身份证/AUM）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访问控制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无认证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RBAC + SSO + 审计日志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高可用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单节点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多AZ部署 + 主从切换 + 熔断限流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网络传输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HTTP明文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mTLS加密 + VPC隔离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数据留存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无策略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满足监管：会话≥3年 / 日志≥1年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性能基线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单机&lt;100 QPS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集群≥10K QPS，水平可扩展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合规认证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无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等保三级 / 数据出境合规评估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0C1445"/>
          </a:solidFill>
          <a:ln/>
        </p:spPr>
      </p:sp>
      <p:sp>
        <p:nvSpPr>
          <p:cNvPr id="10" name="Shape 7"/>
          <p:cNvSpPr/>
          <p:nvPr/>
        </p:nvSpPr>
        <p:spPr>
          <a:xfrm>
            <a:off x="457200" y="4069080"/>
            <a:ext cx="36576" cy="59436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411480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从DEMO到生产：零架构重构，平滑升级。技术栈完全统一（Spring Boot + OpenTelemetry + Loki），仅需将单机组件替换为分布式高可用版本，业务代码无需改动。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AI可观测设计方案</dc:title>
  <dc:subject>PptxGenJS Presentation</dc:subject>
  <dc:creator>AI可观测团队</dc:creator>
  <cp:lastModifiedBy>AI可观测团队</cp:lastModifiedBy>
  <cp:revision>1</cp:revision>
  <dcterms:created xsi:type="dcterms:W3CDTF">2026-07-17T02:24:03Z</dcterms:created>
  <dcterms:modified xsi:type="dcterms:W3CDTF">2026-07-17T02:24:03Z</dcterms:modified>
</cp:coreProperties>
</file>