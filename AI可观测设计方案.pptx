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4114800" cy="4114800"/>
          </a:xfrm>
          <a:prstGeom prst="ellipse">
            <a:avLst/>
          </a:prstGeom>
          <a:solidFill>
            <a:srgbClr val="25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4400" b="1" ns0:eastAsia="Microsoft YaHei">
                <a:solidFill>
                  <a:srgbClr val="FFFFFF"/>
                </a:solidFill>
                <a:latin typeface="Microsoft YaHei"/>
              </a:rPr>
              <a:t>AI 可观测设计方案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2200" b="0" ns1:eastAsia="Microsoft YaHei">
                <a:solidFill>
                  <a:srgbClr val="BFDBFE"/>
                </a:solidFill>
                <a:latin typeface="Microsoft YaHei"/>
              </a:rPr>
              <a:t>面向银行场景的 AI 智能体可观测体系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ns2:eastAsia="Microsoft YaHei">
                <a:solidFill>
                  <a:srgbClr val="93C5FD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为什么需要 AI 可观测？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85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7432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="http://schemas.openxmlformats.org/wordprocessingml/2006/main" sz="1200" b="1" ns1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="http://schemas.openxmlformats.org/wordprocessingml/2006/main" sz="1200" b="1" ns2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传统可观测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3="http://schemas.openxmlformats.org/wordprocessingml/2006/main" sz="1200" b="1" ns3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AI 可观测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4="http://schemas.openxmlformats.org/wordprocessingml/2006/main" sz="1200" b="0" ns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观测对象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5="http://schemas.openxmlformats.org/wordprocessingml/2006/main" sz="1200" b="0" ns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应用、中间件、基础设施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6="http://schemas.openxmlformats.org/wordprocessingml/2006/main" sz="1200" b="0" ns6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LLM 调用、Agent 链路、意图语义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7="http://schemas.openxmlformats.org/wordprocessingml/2006/main" sz="1200" b="0" ns7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问题类型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8="http://schemas.openxmlformats.org/wordprocessingml/2006/main" sz="1200" b="0" ns8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错误、延迟、吞吐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9="http://schemas.openxmlformats.org/wordprocessingml/2006/main" sz="1200" b="0" ns9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幻觉、意图漂移、Token 成本、转化率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0="http://schemas.openxmlformats.org/wordprocessingml/2006/main" sz="1200" b="0" ns10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根因定位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1="http://schemas.openxmlformats.org/wordprocessingml/2006/main" sz="1200" b="0" ns11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日志堆栈、链路耗时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2="http://schemas.openxmlformats.org/wordprocessingml/2006/main" sz="1200" b="0" ns12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多轮会话、Prompt 效果、模型版本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3="http://schemas.openxmlformats.org/wordprocessingml/2006/main" sz="1200" b="0" ns13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决策支持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4="http://schemas.openxmlformats.org/wordprocessingml/2006/main" sz="1200" b="0" ns1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告警 + 人工排障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5="http://schemas.openxmlformats.org/wordprocessingml/2006/main" sz="1200" b="0" ns1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智能洞察 + 行动建议 + 自动闭环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13716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600" b="1" ns16:eastAsia="Microsoft YaHei">
                <a:solidFill>
                  <a:srgbClr val="1E3A8A"/>
                </a:solidFill>
                <a:latin typeface="Microsoft YaHei"/>
              </a:rPr>
              <a:t>用户痛点与需求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9202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17="http://schemas.openxmlformats.org/wordprocessingml/2006/main" sz="1200" b="0" ns17:eastAsia="Microsoft YaHei">
                <a:solidFill>
                  <a:srgbClr val="1F2937"/>
                </a:solidFill>
                <a:latin typeface="Microsoft YaHei"/>
              </a:rPr>
              <a:t>• 黑盒：不知道 AI 真实在生产环境里给了什么答案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18="http://schemas.openxmlformats.org/wordprocessingml/2006/main" sz="1200" b="0" ns18:eastAsia="Microsoft YaHei">
                <a:solidFill>
                  <a:srgbClr val="1F2937"/>
                </a:solidFill>
                <a:latin typeface="Microsoft YaHei"/>
              </a:rPr>
              <a:t>• 贵：每次调用都在烧钱，却无法衡量投入产出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19="http://schemas.openxmlformats.org/wordprocessingml/2006/main" sz="1200" b="0" ns19:eastAsia="Microsoft YaHei">
                <a:solidFill>
                  <a:srgbClr val="1F2937"/>
                </a:solidFill>
                <a:latin typeface="Microsoft YaHei"/>
              </a:rPr>
              <a:t>• 慢：用户抱怨卡，但瓶颈在 LLM 还是 Prompt？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20="http://schemas.openxmlformats.org/wordprocessingml/2006/main" sz="1200" b="0" ns20:eastAsia="Microsoft YaHei">
                <a:solidFill>
                  <a:srgbClr val="1F2937"/>
                </a:solidFill>
                <a:latin typeface="Microsoft YaHei"/>
              </a:rPr>
              <a:t>• 失控：多 Agent 协作时，调用路径与责任边界不清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21="http://schemas.openxmlformats.org/wordprocessingml/2006/main" sz="1200" b="0" ns21:eastAsia="Microsoft YaHei">
                <a:solidFill>
                  <a:srgbClr val="1F2937"/>
                </a:solidFill>
                <a:latin typeface="Microsoft YaHei"/>
              </a:rPr>
              <a:t>• 合规：敏感会话、金融数据需要可追溯、可审计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整体系统架构：从埋点到前台呈现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73736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="http://schemas.openxmlformats.org/wordprocessingml/2006/main" sz="1100" b="1" ns1:eastAsia="Microsoft YaHei">
                <a:solidFill>
                  <a:srgbClr val="FFFFFF"/>
                </a:solidFill>
                <a:latin typeface="Microsoft YaHei"/>
              </a:rPr>
              <a:t>业务系统
App / 小程序 / H5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554480"/>
            <a:ext cx="173736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2="http://schemas.openxmlformats.org/wordprocessingml/2006/main" sz="1100" b="1" ns2:eastAsia="Microsoft YaHei">
                <a:solidFill>
                  <a:srgbClr val="FFFFFF"/>
                </a:solidFill>
                <a:latin typeface="Microsoft YaHei"/>
              </a:rPr>
              <a:t>数据埋点
（OpenTelemetry）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554480"/>
            <a:ext cx="1737360" cy="777240"/>
          </a:xfrm>
          <a:prstGeom prst="roundRect">
            <a:avLst/>
          </a:prstGeom>
          <a:solidFill>
            <a:srgbClr val="F59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3="http://schemas.openxmlformats.org/wordprocessingml/2006/main" sz="1100" b="1" ns3:eastAsia="Microsoft YaHei">
                <a:solidFill>
                  <a:srgbClr val="FFFFFF"/>
                </a:solidFill>
                <a:latin typeface="Microsoft YaHei"/>
              </a:rPr>
              <a:t>OTel SDK
自动/手动埋点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943100.0"/>
            <a:ext cx="32004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26280" y="1943100.0"/>
            <a:ext cx="32004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2834640"/>
            <a:ext cx="173736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4="http://schemas.openxmlformats.org/wordprocessingml/2006/main" sz="1100" b="1" ns4:eastAsia="Microsoft YaHei">
                <a:solidFill>
                  <a:srgbClr val="FFFFFF"/>
                </a:solidFill>
                <a:latin typeface="Microsoft YaHei"/>
              </a:rPr>
              <a:t>OTel Collector
采集/处理/路由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834640"/>
            <a:ext cx="173736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5="http://schemas.openxmlformats.org/wordprocessingml/2006/main" sz="1100" b="1" ns5:eastAsia="Microsoft YaHei">
                <a:solidFill>
                  <a:srgbClr val="FFFFFF"/>
                </a:solidFill>
                <a:latin typeface="Microsoft YaHei"/>
              </a:rPr>
              <a:t>可观测后端
存储/聚合/查询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3223260.0"/>
            <a:ext cx="548640" cy="0.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320" y="37947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000" b="0" ns6:eastAsia="Microsoft YaHei">
                <a:solidFill>
                  <a:srgbClr val="4B5563"/>
                </a:solidFill>
                <a:latin typeface="Microsoft YaHei"/>
              </a:rPr>
              <a:t>H2 / MySQL / TiDB / ClickHouse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429000.0" y="2331720"/>
            <a:ext cx="2286000.0" cy="5029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5394960"/>
            <a:ext cx="1371600" cy="685800"/>
          </a:xfrm>
          <a:prstGeom prst="roundRect">
            <a:avLst/>
          </a:prstGeom>
          <a:solidFill>
            <a:srgbClr val="F59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7="http://schemas.openxmlformats.org/wordprocessingml/2006/main" sz="1000" b="1" ns7:eastAsia="Microsoft YaHei">
                <a:solidFill>
                  <a:srgbClr val="FFFFFF"/>
                </a:solidFill>
                <a:latin typeface="Microsoft YaHei"/>
              </a:rPr>
              <a:t>指标
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5394960"/>
            <a:ext cx="13716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8="http://schemas.openxmlformats.org/wordprocessingml/2006/main" sz="1000" b="1" ns8:eastAsia="Microsoft YaHei">
                <a:solidFill>
                  <a:srgbClr val="FFFFFF"/>
                </a:solidFill>
                <a:latin typeface="Microsoft YaHei"/>
              </a:rPr>
              <a:t>会话
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5394960"/>
            <a:ext cx="1371600" cy="685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9="http://schemas.openxmlformats.org/wordprocessingml/2006/main" sz="1000" b="1" ns9:eastAsia="Microsoft YaHei">
                <a:solidFill>
                  <a:srgbClr val="FFFFFF"/>
                </a:solidFill>
                <a:latin typeface="Microsoft YaHei"/>
              </a:rPr>
              <a:t>Trace
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5394960"/>
            <a:ext cx="137160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0="http://schemas.openxmlformats.org/wordprocessingml/2006/main" sz="1000" b="1" ns10:eastAsia="Microsoft YaHei">
                <a:solidFill>
                  <a:srgbClr val="FFFFFF"/>
                </a:solidFill>
                <a:latin typeface="Microsoft YaHei"/>
              </a:rPr>
              <a:t>日志
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394960"/>
            <a:ext cx="1371600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xmlns:ns11="http://schemas.openxmlformats.org/wordprocessingml/2006/main" sz="1000" b="1" ns11:eastAsia="Microsoft YaHei">
                <a:solidFill>
                  <a:srgbClr val="FFFFFF"/>
                </a:solidFill>
                <a:latin typeface="Microsoft YaHei"/>
              </a:rPr>
              <a:t>AI 洞察
Insight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5000.0" y="3611880"/>
            <a:ext cx="0.0" cy="160020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503420.0" y="5212080"/>
            <a:ext cx="1211580.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20.0" y="5212080"/>
            <a:ext cx="0.0" cy="1828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80.0" y="5212080"/>
            <a:ext cx="0.0" cy="1828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.0" y="5212080"/>
            <a:ext cx="0.0" cy="1828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.0" y="5212080"/>
            <a:ext cx="0.0" cy="1828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.0" y="5212080"/>
            <a:ext cx="0.0" cy="1828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200" b="0" ns12:eastAsia="Microsoft YaHei">
                <a:solidFill>
                  <a:srgbClr val="4B5563"/>
                </a:solidFill>
                <a:latin typeface="Microsoft YaHei"/>
              </a:rPr>
              <a:t>统一数据采集层 + 可观测中台 + 多维度前台：实现对 AI 智能体全链路、可下钻、可对比的观测。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观测指标体系：覆盖系统、模型、语义、业务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6692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="http://schemas.openxmlformats.org/wordprocessingml/2006/main" sz="1100" b="1" ns1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分类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="http://schemas.openxmlformats.org/wordprocessingml/2006/main" sz="1100" b="1" ns2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核心指标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3="http://schemas.openxmlformats.org/wordprocessingml/2006/main" sz="1100" b="1" ns3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4="http://schemas.openxmlformats.org/wordprocessingml/2006/main" sz="1100" b="0" ns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系统健康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5="http://schemas.openxmlformats.org/wordprocessingml/2006/main" sz="1100" b="0" ns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QPS、耗时、错误率、资源占用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6="http://schemas.openxmlformats.org/wordprocessingml/2006/main" sz="1100" b="0" ns6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识别系统级瓶颈与稳定性风险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7="http://schemas.openxmlformats.org/wordprocessingml/2006/main" sz="1100" b="0" ns7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AI 性能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8="http://schemas.openxmlformats.org/wordprocessingml/2006/main" sz="1100" b="0" ns8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TTFT、Token 量、成本、调用次数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9="http://schemas.openxmlformats.org/wordprocessingml/2006/main" sz="1100" b="0" ns9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评估模型调用效率与成本结构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0="http://schemas.openxmlformats.org/wordprocessingml/2006/main" sz="1100" b="0" ns10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语义质量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1="http://schemas.openxmlformats.org/wordprocessingml/2006/main" sz="1100" b="0" ns11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意图准确率、改写准确率、Reroute 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2="http://schemas.openxmlformats.org/wordprocessingml/2006/main" sz="1100" b="0" ns12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度量 LLM 理解、改写、路由质量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3="http://schemas.openxmlformats.org/wordprocessingml/2006/main" sz="1100" b="0" ns13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业务效果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4="http://schemas.openxmlformats.org/wordprocessingml/2006/main" sz="1100" b="0" ns1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业务完成率、转化率、满意度、ROI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5="http://schemas.openxmlformats.org/wordprocessingml/2006/main" sz="1100" b="0" ns1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把 AI 效果与业务指标挂钩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400" b="1" ns16:eastAsia="Microsoft YaHei">
                <a:solidFill>
                  <a:srgbClr val="1E3A8A"/>
                </a:solidFill>
                <a:latin typeface="Microsoft YaHei"/>
              </a:rPr>
              <a:t>生产系统 UI 总览：指标分类看板</a:t>
            </a:r>
          </a:p>
        </p:txBody>
      </p:sp>
      <p:pic>
        <p:nvPicPr>
          <p:cNvPr id="5" name="Picture 4" descr="v2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029200" cy="314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6080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000" b="0" ns17:eastAsia="Microsoft YaHei">
                <a:solidFill>
                  <a:srgbClr val="4B5563"/>
                </a:solidFill>
                <a:latin typeface="Microsoft YaHei"/>
              </a:rPr>
              <a:t>数据：从埋点 → 聚合 → 多维可视化，支持按时间/渠道/Agent 下钻。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会话回放 + Trace 链路追踪：还原用户真实交互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1" ns1:eastAsia="Microsoft YaHei">
                <a:solidFill>
                  <a:srgbClr val="1E3A8A"/>
                </a:solidFill>
                <a:latin typeface="Microsoft YaHei"/>
              </a:rPr>
              <a:t>会话回放：按 session 查看多轮对话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YaHei">
                <a:solidFill>
                  <a:srgbClr val="1E3A8A"/>
                </a:solidFill>
                <a:latin typeface="Microsoft YaHei"/>
              </a:rPr>
              <a:t>Trace 链路：追踪单次请求 Agent 调用链</a:t>
            </a:r>
          </a:p>
        </p:txBody>
      </p:sp>
      <p:pic>
        <p:nvPicPr>
          <p:cNvPr id="5" name="Picture 4" descr="v20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pic>
        <p:nvPicPr>
          <p:cNvPr id="6" name="Picture 5" descr="v20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3="http://schemas.openxmlformats.org/wordprocessingml/2006/main" sz="1000" b="0" ns3:eastAsia="Microsoft YaHei">
                <a:solidFill>
                  <a:srgbClr val="1F2937"/>
                </a:solidFill>
                <a:latin typeface="Microsoft YaHei"/>
              </a:rPr>
              <a:t>按 Session ID 回放完整对话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4="http://schemas.openxmlformats.org/wordprocessingml/2006/main" sz="1000" b="0" ns4:eastAsia="Microsoft YaHei">
                <a:solidFill>
                  <a:srgbClr val="1F2937"/>
                </a:solidFill>
                <a:latin typeface="Microsoft YaHei"/>
              </a:rPr>
              <a:t>展示用户消息、AI 回复、调用 Agent、耗时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5="http://schemas.openxmlformats.org/wordprocessingml/2006/main" sz="1000" b="0" ns5:eastAsia="Microsoft YaHei">
                <a:solidFill>
                  <a:srgbClr val="1F2937"/>
                </a:solidFill>
                <a:latin typeface="Microsoft YaHei"/>
              </a:rPr>
              <a:t>L0 域路由 → L1 子图 → L2 工具调用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6="http://schemas.openxmlformats.org/wordprocessingml/2006/main" sz="1000" b="0" ns6:eastAsia="Microsoft YaHei">
                <a:solidFill>
                  <a:srgbClr val="1F2937"/>
                </a:solidFill>
                <a:latin typeface="Microsoft YaHei"/>
              </a:rPr>
              <a:t>traceId 与 sessionId 关联，问题快速下钻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AI 洞察 + 智能洞察：从表象指标到根因与行动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1" ns1:eastAsia="Microsoft YaHei">
                <a:solidFill>
                  <a:srgbClr val="1E3A8A"/>
                </a:solidFill>
                <a:latin typeface="Microsoft YaHei"/>
              </a:rPr>
              <a:t>AI 洞察：指标下钻与异常定位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YaHei">
                <a:solidFill>
                  <a:srgbClr val="1E3A8A"/>
                </a:solidFill>
                <a:latin typeface="Microsoft YaHei"/>
              </a:rPr>
              <a:t>智能洞察：自动生成优先行动建议</a:t>
            </a:r>
          </a:p>
        </p:txBody>
      </p:sp>
      <p:pic>
        <p:nvPicPr>
          <p:cNvPr id="5" name="Picture 4" descr="v20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pic>
        <p:nvPicPr>
          <p:cNvPr id="6" name="Picture 5" descr="v20_intel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3="http://schemas.openxmlformats.org/wordprocessingml/2006/main" sz="1000" b="0" ns3:eastAsia="Microsoft YaHei">
                <a:solidFill>
                  <a:srgbClr val="1F2937"/>
                </a:solidFill>
                <a:latin typeface="Microsoft YaHei"/>
              </a:rPr>
              <a:t>意图准确率、改写准确率、失败根因 TOP3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4="http://schemas.openxmlformats.org/wordprocessingml/2006/main" sz="1000" b="0" ns4:eastAsia="Microsoft YaHei">
                <a:solidFill>
                  <a:srgbClr val="1F2937"/>
                </a:solidFill>
                <a:latin typeface="Microsoft YaHei"/>
              </a:rPr>
              <a:t>从聚合指标定位到模型 / Prompt / 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5="http://schemas.openxmlformats.org/wordprocessingml/2006/main" sz="1000" b="0" ns5:eastAsia="Microsoft YaHei">
                <a:solidFill>
                  <a:srgbClr val="1F2937"/>
                </a:solidFill>
                <a:latin typeface="Microsoft YaHei"/>
              </a:rPr>
              <a:t>Top5 优先行动建议，按影响面与风险分级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6="http://schemas.openxmlformats.org/wordprocessingml/2006/main" sz="1000" b="0" ns6:eastAsia="Microsoft YaHei">
                <a:solidFill>
                  <a:srgbClr val="1F2937"/>
                </a:solidFill>
                <a:latin typeface="Microsoft YaHei"/>
              </a:rPr>
              <a:t>瓶颈可视化：P95 延迟 vs 错误率联动分析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日志与告警：全链路可追踪、可闭环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1" ns1:eastAsia="Microsoft YaHei">
                <a:solidFill>
                  <a:srgbClr val="1E3A8A"/>
                </a:solidFill>
                <a:latin typeface="Microsoft YaHei"/>
              </a:rPr>
              <a:t>日志查询：跨会话 / Trace / 调用链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Microsoft YaHei">
                <a:solidFill>
                  <a:srgbClr val="1E3A8A"/>
                </a:solidFill>
                <a:latin typeface="Microsoft YaHei"/>
              </a:rPr>
              <a:t>告警规则：多维阈值与自动通知</a:t>
            </a:r>
          </a:p>
        </p:txBody>
      </p:sp>
      <p:pic>
        <p:nvPicPr>
          <p:cNvPr id="5" name="Picture 4" descr="v20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94960" cy="3371850"/>
          </a:xfrm>
          <a:prstGeom prst="rect">
            <a:avLst/>
          </a:prstGeom>
        </p:spPr>
      </p:pic>
      <p:pic>
        <p:nvPicPr>
          <p:cNvPr id="6" name="Picture 5" descr="v20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94960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3="http://schemas.openxmlformats.org/wordprocessingml/2006/main" sz="1000" b="0" ns3:eastAsia="Microsoft YaHei">
                <a:solidFill>
                  <a:srgbClr val="1F2937"/>
                </a:solidFill>
                <a:latin typeface="Microsoft YaHei"/>
              </a:rPr>
              <a:t>日志支持 session、trace、关键词多维检索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4="http://schemas.openxmlformats.org/wordprocessingml/2006/main" sz="1000" b="0" ns4:eastAsia="Microsoft YaHei">
                <a:solidFill>
                  <a:srgbClr val="1F2937"/>
                </a:solidFill>
                <a:latin typeface="Microsoft YaHei"/>
              </a:rPr>
              <a:t>INFO / WARN / ERROR 级别，关联原始请求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8064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5="http://schemas.openxmlformats.org/wordprocessingml/2006/main" sz="1000" b="0" ns5:eastAsia="Microsoft YaHei">
                <a:solidFill>
                  <a:srgbClr val="1F2937"/>
                </a:solidFill>
                <a:latin typeface="Microsoft YaHei"/>
              </a:rPr>
              <a:t>LLM 错误率、P95 时延、业务完成率等指标告警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xmlns:ns6="http://schemas.openxmlformats.org/wordprocessingml/2006/main" sz="1000" b="0" ns6:eastAsia="Microsoft YaHei">
                <a:solidFill>
                  <a:srgbClr val="1F2937"/>
                </a:solidFill>
                <a:latin typeface="Microsoft YaHei"/>
              </a:rPr>
              <a:t>对接企业 IM / 邮件，实现告警闭环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Microsoft YaHei">
                <a:solidFill>
                  <a:srgbClr val="1E3A8A"/>
                </a:solidFill>
                <a:latin typeface="Microsoft YaHei"/>
              </a:rPr>
              <a:t>POC-DEMO 与 生产方案落地差异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389120"/>
                <a:gridCol w="512064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="http://schemas.openxmlformats.org/wordprocessingml/2006/main" sz="1200" b="1" ns1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="http://schemas.openxmlformats.org/wordprocessingml/2006/main" sz="1200" b="1" ns2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POC-DEMO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3="http://schemas.openxmlformats.org/wordprocessingml/2006/main" sz="1200" b="1" ns3:eastAsi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生产方案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4="http://schemas.openxmlformats.org/wordprocessingml/2006/main" sz="1200" b="0" ns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5="http://schemas.openxmlformats.org/wordprocessingml/2006/main" sz="1200" b="0" ns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功能验证 / 客户演示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6="http://schemas.openxmlformats.org/wordprocessingml/2006/main" sz="1200" b="0" ns6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支撑千万级、亿级用户量的稳定运行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7="http://schemas.openxmlformats.org/wordprocessingml/2006/main" sz="1200" b="0" ns7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部署规模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8="http://schemas.openxmlformats.org/wordprocessingml/2006/main" sz="1200" b="0" ns8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单机 + H2 文件库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9="http://schemas.openxmlformats.org/wordprocessingml/2006/main" sz="1200" b="0" ns9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多实例 + TiDB / ClickHouse 集群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0="http://schemas.openxmlformats.org/wordprocessingml/2006/main" sz="1200" b="0" ns10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采集方式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1="http://schemas.openxmlformats.org/wordprocessingml/2006/main" sz="1200" b="0" ns11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Spring AI 手动埋点 + 自动上报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2="http://schemas.openxmlformats.org/wordprocessingml/2006/main" sz="1200" b="0" ns12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OTel Java Agent / 全量/采样上报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3="http://schemas.openxmlformats.org/wordprocessingml/2006/main" sz="1200" b="0" ns13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存储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4="http://schemas.openxmlformats.org/wordprocessingml/2006/main" sz="1200" b="0" ns1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H2 本地文件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5="http://schemas.openxmlformats.org/wordprocessingml/2006/main" sz="1200" b="0" ns15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冷热分层、分库分表、TTL 清理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6="http://schemas.openxmlformats.org/wordprocessingml/2006/main" sz="1200" b="0" ns16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合规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7="http://schemas.openxmlformats.org/wordprocessingml/2006/main" sz="1200" b="0" ns17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基础审计日志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18="http://schemas.openxmlformats.org/wordprocessingml/2006/main" sz="1200" b="0" ns18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金融级审计、RBAC、数据脱敏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19="http://schemas.openxmlformats.org/wordprocessingml/2006/main" sz="1200" b="0" ns19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隐私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0="http://schemas.openxmlformats.org/wordprocessingml/2006/main" sz="1200" b="0" ns20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本地演示数据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1="http://schemas.openxmlformats.org/wordprocessingml/2006/main" sz="1200" b="0" ns21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敏感字段脱敏、隐私计算、权限隔离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xmlns:ns22="http://schemas.openxmlformats.org/wordprocessingml/2006/main" sz="1200" b="0" ns22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可扩展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3="http://schemas.openxmlformats.org/wordprocessingml/2006/main" sz="1200" b="0" ns23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单服务 + 单 Collector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xmlns:ns24="http://schemas.openxmlformats.org/wordprocessingml/2006/main" sz="1200" b="0" ns24:eastAsia="Microsoft YaHei">
                          <a:solidFill>
                            <a:srgbClr val="1F2937"/>
                          </a:solidFill>
                          <a:latin typeface="Microsoft YaHei"/>
                        </a:rPr>
                        <a:t>多租户、多 region、弹性扩缩容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xmlns:ns25="http://schemas.openxmlformats.org/wordprocessingml/2006/main" sz="1400" b="1" ns25:eastAsia="Microsoft YaHei">
                <a:solidFill>
                  <a:srgbClr val="1E3A8A"/>
                </a:solidFill>
                <a:latin typeface="Microsoft YaHei"/>
              </a:rPr>
              <a:t>关键设计原则：架构可演进、数据可扩展、合规可审计、隐私可保护。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